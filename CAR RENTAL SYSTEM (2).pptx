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7" r:id="rId6"/>
    <p:sldId id="271" r:id="rId7"/>
    <p:sldId id="272" r:id="rId8"/>
    <p:sldId id="273" r:id="rId9"/>
    <p:sldId id="268" r:id="rId10"/>
    <p:sldId id="269" r:id="rId11"/>
    <p:sldId id="274" r:id="rId12"/>
    <p:sldId id="275" r:id="rId13"/>
    <p:sldId id="276" r:id="rId14"/>
    <p:sldId id="270" r:id="rId15"/>
    <p:sldId id="277" r:id="rId16"/>
    <p:sldId id="278" r:id="rId17"/>
    <p:sldId id="279" r:id="rId18"/>
    <p:sldId id="280" r:id="rId19"/>
    <p:sldId id="281" r:id="rId20"/>
    <p:sldId id="282" r:id="rId21"/>
    <p:sldId id="283" r:id="rId22"/>
    <p:sldId id="284" r:id="rId23"/>
    <p:sldId id="285" r:id="rId24"/>
    <p:sldId id="286" r:id="rId25"/>
    <p:sldId id="287" r:id="rId26"/>
    <p:sldId id="289" r:id="rId27"/>
    <p:sldId id="288" r:id="rId28"/>
    <p:sldId id="290" r:id="rId29"/>
    <p:sldId id="291" r:id="rId30"/>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varScale="1">
        <p:scale>
          <a:sx n="54" d="100"/>
          <a:sy n="54" d="100"/>
        </p:scale>
        <p:origin x="782"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8200" b="0" i="0">
                <a:solidFill>
                  <a:schemeClr val="tx1"/>
                </a:solidFill>
                <a:latin typeface="Arial Black"/>
                <a:cs typeface="Arial Black"/>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3600" b="0" i="0">
                <a:solidFill>
                  <a:schemeClr val="tx1"/>
                </a:solidFill>
                <a:latin typeface="Lucida Sans Unicode"/>
                <a:cs typeface="Lucida Sans Unicod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8200" b="0" i="0">
                <a:solidFill>
                  <a:schemeClr val="tx1"/>
                </a:solidFill>
                <a:latin typeface="Arial Black"/>
                <a:cs typeface="Arial Black"/>
              </a:defRPr>
            </a:lvl1pPr>
          </a:lstStyle>
          <a:p>
            <a:endParaRPr/>
          </a:p>
        </p:txBody>
      </p:sp>
      <p:sp>
        <p:nvSpPr>
          <p:cNvPr id="3" name="Holder 3"/>
          <p:cNvSpPr>
            <a:spLocks noGrp="1"/>
          </p:cNvSpPr>
          <p:nvPr>
            <p:ph type="body" idx="1"/>
          </p:nvPr>
        </p:nvSpPr>
        <p:spPr/>
        <p:txBody>
          <a:bodyPr lIns="0" tIns="0" rIns="0" bIns="0"/>
          <a:lstStyle>
            <a:lvl1pPr>
              <a:defRPr sz="3600" b="0" i="0">
                <a:solidFill>
                  <a:schemeClr val="tx1"/>
                </a:solidFill>
                <a:latin typeface="Lucida Sans Unicode"/>
                <a:cs typeface="Lucida Sans Unicod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8200" b="0" i="0">
                <a:solidFill>
                  <a:schemeClr val="tx1"/>
                </a:solidFill>
                <a:latin typeface="Arial Black"/>
                <a:cs typeface="Arial Black"/>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8200" b="0" i="0">
                <a:solidFill>
                  <a:schemeClr val="tx1"/>
                </a:solidFill>
                <a:latin typeface="Arial Black"/>
                <a:cs typeface="Arial Black"/>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093497" y="1834174"/>
            <a:ext cx="8101004" cy="1274445"/>
          </a:xfrm>
          <a:prstGeom prst="rect">
            <a:avLst/>
          </a:prstGeom>
        </p:spPr>
        <p:txBody>
          <a:bodyPr wrap="square" lIns="0" tIns="0" rIns="0" bIns="0">
            <a:spAutoFit/>
          </a:bodyPr>
          <a:lstStyle>
            <a:lvl1pPr>
              <a:defRPr sz="8200" b="0" i="0">
                <a:solidFill>
                  <a:schemeClr val="tx1"/>
                </a:solidFill>
                <a:latin typeface="Arial Black"/>
                <a:cs typeface="Arial Black"/>
              </a:defRPr>
            </a:lvl1pPr>
          </a:lstStyle>
          <a:p>
            <a:endParaRPr/>
          </a:p>
        </p:txBody>
      </p:sp>
      <p:sp>
        <p:nvSpPr>
          <p:cNvPr id="3" name="Holder 3"/>
          <p:cNvSpPr>
            <a:spLocks noGrp="1"/>
          </p:cNvSpPr>
          <p:nvPr>
            <p:ph type="body" idx="1"/>
          </p:nvPr>
        </p:nvSpPr>
        <p:spPr>
          <a:xfrm>
            <a:off x="3333620" y="4053620"/>
            <a:ext cx="11620758" cy="4019550"/>
          </a:xfrm>
          <a:prstGeom prst="rect">
            <a:avLst/>
          </a:prstGeom>
        </p:spPr>
        <p:txBody>
          <a:bodyPr wrap="square" lIns="0" tIns="0" rIns="0" bIns="0">
            <a:spAutoFit/>
          </a:bodyPr>
          <a:lstStyle>
            <a:lvl1pPr>
              <a:defRPr sz="3600" b="0" i="0">
                <a:solidFill>
                  <a:schemeClr val="tx1"/>
                </a:solidFill>
                <a:latin typeface="Lucida Sans Unicode"/>
                <a:cs typeface="Lucida Sans Unicode"/>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9/22/2025</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20095" y="2997466"/>
            <a:ext cx="10848340" cy="1481175"/>
          </a:xfrm>
          <a:prstGeom prst="rect">
            <a:avLst/>
          </a:prstGeom>
        </p:spPr>
        <p:txBody>
          <a:bodyPr vert="horz" wrap="square" lIns="0" tIns="529590" rIns="0" bIns="0" rtlCol="0">
            <a:spAutoFit/>
          </a:bodyPr>
          <a:lstStyle/>
          <a:p>
            <a:pPr algn="ctr">
              <a:lnSpc>
                <a:spcPct val="100000"/>
              </a:lnSpc>
              <a:spcBef>
                <a:spcPts val="4170"/>
              </a:spcBef>
            </a:pPr>
            <a:endParaRPr sz="6150" dirty="0">
              <a:latin typeface="Lucida Sans Unicode"/>
              <a:cs typeface="Lucida Sans Unicode"/>
            </a:endParaRPr>
          </a:p>
        </p:txBody>
      </p:sp>
      <p:sp>
        <p:nvSpPr>
          <p:cNvPr id="3" name="object 3"/>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a:endParaRPr/>
          </a:p>
        </p:txBody>
      </p:sp>
      <p:grpSp>
        <p:nvGrpSpPr>
          <p:cNvPr id="4" name="object 4"/>
          <p:cNvGrpSpPr/>
          <p:nvPr/>
        </p:nvGrpSpPr>
        <p:grpSpPr>
          <a:xfrm>
            <a:off x="0" y="9718118"/>
            <a:ext cx="18288000" cy="568960"/>
            <a:chOff x="0" y="9718118"/>
            <a:chExt cx="18288000" cy="568960"/>
          </a:xfrm>
        </p:grpSpPr>
        <p:sp>
          <p:nvSpPr>
            <p:cNvPr id="5" name="object 5"/>
            <p:cNvSpPr/>
            <p:nvPr/>
          </p:nvSpPr>
          <p:spPr>
            <a:xfrm>
              <a:off x="0" y="9889568"/>
              <a:ext cx="18288000" cy="397510"/>
            </a:xfrm>
            <a:custGeom>
              <a:avLst/>
              <a:gdLst/>
              <a:ahLst/>
              <a:cxnLst/>
              <a:rect l="l" t="t" r="r" b="b"/>
              <a:pathLst>
                <a:path w="18288000" h="397509">
                  <a:moveTo>
                    <a:pt x="0" y="397431"/>
                  </a:moveTo>
                  <a:lnTo>
                    <a:pt x="18288000" y="397431"/>
                  </a:lnTo>
                  <a:lnTo>
                    <a:pt x="18288000" y="0"/>
                  </a:lnTo>
                  <a:lnTo>
                    <a:pt x="0" y="0"/>
                  </a:lnTo>
                  <a:lnTo>
                    <a:pt x="0" y="397431"/>
                  </a:lnTo>
                  <a:close/>
                </a:path>
              </a:pathLst>
            </a:custGeom>
            <a:solidFill>
              <a:srgbClr val="FAE7BC"/>
            </a:solidFill>
          </p:spPr>
          <p:txBody>
            <a:bodyPr wrap="square" lIns="0" tIns="0" rIns="0" bIns="0" rtlCol="0"/>
            <a:lstStyle/>
            <a:p>
              <a:endParaRPr/>
            </a:p>
          </p:txBody>
        </p:sp>
        <p:sp>
          <p:nvSpPr>
            <p:cNvPr id="6" name="object 6"/>
            <p:cNvSpPr/>
            <p:nvPr/>
          </p:nvSpPr>
          <p:spPr>
            <a:xfrm>
              <a:off x="0" y="9718118"/>
              <a:ext cx="18288000" cy="171450"/>
            </a:xfrm>
            <a:custGeom>
              <a:avLst/>
              <a:gdLst/>
              <a:ahLst/>
              <a:cxnLst/>
              <a:rect l="l" t="t" r="r" b="b"/>
              <a:pathLst>
                <a:path w="18288000" h="171450">
                  <a:moveTo>
                    <a:pt x="0" y="0"/>
                  </a:moveTo>
                  <a:lnTo>
                    <a:pt x="18287999" y="0"/>
                  </a:lnTo>
                  <a:lnTo>
                    <a:pt x="18287999" y="171449"/>
                  </a:lnTo>
                  <a:lnTo>
                    <a:pt x="0" y="171449"/>
                  </a:lnTo>
                  <a:lnTo>
                    <a:pt x="0" y="0"/>
                  </a:lnTo>
                  <a:close/>
                </a:path>
              </a:pathLst>
            </a:custGeom>
            <a:solidFill>
              <a:srgbClr val="000000"/>
            </a:solidFill>
          </p:spPr>
          <p:txBody>
            <a:bodyPr wrap="square" lIns="0" tIns="0" rIns="0" bIns="0" rtlCol="0"/>
            <a:lstStyle/>
            <a:p>
              <a:endParaRPr/>
            </a:p>
          </p:txBody>
        </p:sp>
      </p:grpSp>
      <p:sp>
        <p:nvSpPr>
          <p:cNvPr id="7" name="object 7"/>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a:endParaRPr/>
          </a:p>
        </p:txBody>
      </p:sp>
      <p:pic>
        <p:nvPicPr>
          <p:cNvPr id="11" name="Picture 10">
            <a:extLst>
              <a:ext uri="{FF2B5EF4-FFF2-40B4-BE49-F238E27FC236}">
                <a16:creationId xmlns:a16="http://schemas.microsoft.com/office/drawing/2014/main" id="{3AE8BBC7-CFB1-3863-70BC-BC691F7C32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288000" cy="9889568"/>
          </a:xfrm>
          <a:prstGeom prst="rect">
            <a:avLst/>
          </a:prstGeom>
        </p:spPr>
      </p:pic>
      <p:sp>
        <p:nvSpPr>
          <p:cNvPr id="13" name="TextBox 12">
            <a:extLst>
              <a:ext uri="{FF2B5EF4-FFF2-40B4-BE49-F238E27FC236}">
                <a16:creationId xmlns:a16="http://schemas.microsoft.com/office/drawing/2014/main" id="{3C8B38FE-554D-35E6-A167-C5C85FD1FC3E}"/>
              </a:ext>
            </a:extLst>
          </p:cNvPr>
          <p:cNvSpPr txBox="1"/>
          <p:nvPr/>
        </p:nvSpPr>
        <p:spPr>
          <a:xfrm>
            <a:off x="304800" y="6051275"/>
            <a:ext cx="9753600" cy="2800767"/>
          </a:xfrm>
          <a:prstGeom prst="rect">
            <a:avLst/>
          </a:prstGeom>
          <a:noFill/>
        </p:spPr>
        <p:txBody>
          <a:bodyPr wrap="square" rtlCol="0">
            <a:spAutoFit/>
          </a:bodyPr>
          <a:lstStyle/>
          <a:p>
            <a:r>
              <a:rPr lang="en-IN" sz="8800" b="1" dirty="0">
                <a:ln w="6600">
                  <a:solidFill>
                    <a:schemeClr val="accent2"/>
                  </a:solidFill>
                  <a:prstDash val="solid"/>
                </a:ln>
                <a:solidFill>
                  <a:srgbClr val="FFFFFF"/>
                </a:solidFill>
                <a:effectLst>
                  <a:outerShdw dist="38100" dir="2700000" algn="tl" rotWithShape="0">
                    <a:schemeClr val="accent2"/>
                  </a:outerShdw>
                  <a:reflection blurRad="6350" stA="55000" endA="300" endPos="45500" dir="5400000" sy="-100000" algn="bl" rotWithShape="0"/>
                </a:effectLst>
                <a:latin typeface="Times New Roman" panose="02020603050405020304" pitchFamily="18" charset="0"/>
                <a:cs typeface="Times New Roman" panose="02020603050405020304" pitchFamily="18" charset="0"/>
              </a:rPr>
              <a:t>CAR RENTAL SYSTEM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a:endParaRPr/>
          </a:p>
        </p:txBody>
      </p:sp>
      <p:grpSp>
        <p:nvGrpSpPr>
          <p:cNvPr id="3" name="object 3"/>
          <p:cNvGrpSpPr/>
          <p:nvPr/>
        </p:nvGrpSpPr>
        <p:grpSpPr>
          <a:xfrm>
            <a:off x="0" y="9718118"/>
            <a:ext cx="18288000" cy="568960"/>
            <a:chOff x="0" y="9718118"/>
            <a:chExt cx="18288000" cy="568960"/>
          </a:xfrm>
        </p:grpSpPr>
        <p:sp>
          <p:nvSpPr>
            <p:cNvPr id="4" name="object 4"/>
            <p:cNvSpPr/>
            <p:nvPr/>
          </p:nvSpPr>
          <p:spPr>
            <a:xfrm>
              <a:off x="0" y="9889568"/>
              <a:ext cx="18288000" cy="397510"/>
            </a:xfrm>
            <a:custGeom>
              <a:avLst/>
              <a:gdLst/>
              <a:ahLst/>
              <a:cxnLst/>
              <a:rect l="l" t="t" r="r" b="b"/>
              <a:pathLst>
                <a:path w="18288000" h="397509">
                  <a:moveTo>
                    <a:pt x="0" y="397431"/>
                  </a:moveTo>
                  <a:lnTo>
                    <a:pt x="18288000" y="397431"/>
                  </a:lnTo>
                  <a:lnTo>
                    <a:pt x="18288000" y="0"/>
                  </a:lnTo>
                  <a:lnTo>
                    <a:pt x="0" y="0"/>
                  </a:lnTo>
                  <a:lnTo>
                    <a:pt x="0" y="397431"/>
                  </a:lnTo>
                  <a:close/>
                </a:path>
              </a:pathLst>
            </a:custGeom>
            <a:solidFill>
              <a:srgbClr val="FAE7BC"/>
            </a:solidFill>
          </p:spPr>
          <p:txBody>
            <a:bodyPr wrap="square" lIns="0" tIns="0" rIns="0" bIns="0" rtlCol="0"/>
            <a:lstStyle/>
            <a:p>
              <a:endParaRPr/>
            </a:p>
          </p:txBody>
        </p:sp>
        <p:sp>
          <p:nvSpPr>
            <p:cNvPr id="5" name="object 5"/>
            <p:cNvSpPr/>
            <p:nvPr/>
          </p:nvSpPr>
          <p:spPr>
            <a:xfrm>
              <a:off x="0" y="9718118"/>
              <a:ext cx="18288000" cy="171450"/>
            </a:xfrm>
            <a:custGeom>
              <a:avLst/>
              <a:gdLst/>
              <a:ahLst/>
              <a:cxnLst/>
              <a:rect l="l" t="t" r="r" b="b"/>
              <a:pathLst>
                <a:path w="18288000" h="171450">
                  <a:moveTo>
                    <a:pt x="0" y="0"/>
                  </a:moveTo>
                  <a:lnTo>
                    <a:pt x="18287999" y="0"/>
                  </a:lnTo>
                  <a:lnTo>
                    <a:pt x="18287999" y="171449"/>
                  </a:lnTo>
                  <a:lnTo>
                    <a:pt x="0" y="171449"/>
                  </a:lnTo>
                  <a:lnTo>
                    <a:pt x="0" y="0"/>
                  </a:lnTo>
                  <a:close/>
                </a:path>
              </a:pathLst>
            </a:custGeom>
            <a:solidFill>
              <a:srgbClr val="494848"/>
            </a:solidFill>
          </p:spPr>
          <p:txBody>
            <a:bodyPr wrap="square" lIns="0" tIns="0" rIns="0" bIns="0" rtlCol="0"/>
            <a:lstStyle/>
            <a:p>
              <a:endParaRPr/>
            </a:p>
          </p:txBody>
        </p:sp>
      </p:grpSp>
      <p:sp>
        <p:nvSpPr>
          <p:cNvPr id="6" name="object 6"/>
          <p:cNvSpPr txBox="1">
            <a:spLocks noGrp="1"/>
          </p:cNvSpPr>
          <p:nvPr>
            <p:ph type="title"/>
          </p:nvPr>
        </p:nvSpPr>
        <p:spPr>
          <a:xfrm>
            <a:off x="8839200" y="345757"/>
            <a:ext cx="5943600" cy="1274445"/>
          </a:xfrm>
          <a:prstGeom prst="rect">
            <a:avLst/>
          </a:prstGeom>
        </p:spPr>
        <p:txBody>
          <a:bodyPr vert="horz" wrap="square" lIns="0" tIns="11430" rIns="0" bIns="0" rtlCol="0">
            <a:spAutoFit/>
          </a:bodyPr>
          <a:lstStyle/>
          <a:p>
            <a:pPr marL="418465" algn="ctr">
              <a:lnSpc>
                <a:spcPct val="100000"/>
              </a:lnSpc>
              <a:spcBef>
                <a:spcPts val="90"/>
              </a:spcBef>
            </a:pPr>
            <a:r>
              <a:rPr lang="en-IN" b="1" spc="-94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ABSTRACT</a:t>
            </a:r>
            <a:endParaRPr b="1" spc="-94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object 8"/>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a:endParaRPr/>
          </a:p>
        </p:txBody>
      </p:sp>
      <p:pic>
        <p:nvPicPr>
          <p:cNvPr id="10" name="Picture 9">
            <a:extLst>
              <a:ext uri="{FF2B5EF4-FFF2-40B4-BE49-F238E27FC236}">
                <a16:creationId xmlns:a16="http://schemas.microsoft.com/office/drawing/2014/main" id="{D293AFD7-B2B7-2E15-9E2A-2C44676F95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8101004" cy="9718118"/>
          </a:xfrm>
          <a:prstGeom prst="rect">
            <a:avLst/>
          </a:prstGeom>
        </p:spPr>
      </p:pic>
      <p:sp>
        <p:nvSpPr>
          <p:cNvPr id="11" name="TextBox 10">
            <a:extLst>
              <a:ext uri="{FF2B5EF4-FFF2-40B4-BE49-F238E27FC236}">
                <a16:creationId xmlns:a16="http://schemas.microsoft.com/office/drawing/2014/main" id="{AF9D126E-1AB5-5192-1BF5-778E7CD120C5}"/>
              </a:ext>
            </a:extLst>
          </p:cNvPr>
          <p:cNvSpPr txBox="1"/>
          <p:nvPr/>
        </p:nvSpPr>
        <p:spPr>
          <a:xfrm>
            <a:off x="8534400" y="1866900"/>
            <a:ext cx="9448800" cy="6863417"/>
          </a:xfrm>
          <a:prstGeom prst="rect">
            <a:avLst/>
          </a:prstGeom>
          <a:noFill/>
        </p:spPr>
        <p:txBody>
          <a:bodyPr wrap="square" rtlCol="0">
            <a:spAutoFit/>
          </a:bodyPr>
          <a:lstStyle/>
          <a:p>
            <a:r>
              <a:rPr lang="en-US" sz="4000" dirty="0">
                <a:latin typeface="Times New Roman" panose="02020603050405020304" pitchFamily="18" charset="0"/>
                <a:cs typeface="Times New Roman" panose="02020603050405020304" pitchFamily="18" charset="0"/>
              </a:rPr>
              <a:t>The </a:t>
            </a:r>
            <a:r>
              <a:rPr lang="en-US" sz="4000" b="1" dirty="0">
                <a:latin typeface="Times New Roman" panose="02020603050405020304" pitchFamily="18" charset="0"/>
                <a:cs typeface="Times New Roman" panose="02020603050405020304" pitchFamily="18" charset="0"/>
              </a:rPr>
              <a:t>Car Rental System</a:t>
            </a:r>
            <a:r>
              <a:rPr lang="en-US" sz="4000" dirty="0">
                <a:latin typeface="Times New Roman" panose="02020603050405020304" pitchFamily="18" charset="0"/>
                <a:cs typeface="Times New Roman" panose="02020603050405020304" pitchFamily="18" charset="0"/>
              </a:rPr>
              <a:t> is designed to simplify the process of renting cars for customers and managing vehicles for rental companies. It allows customers to register, view available cars, book rentals, and make payments easily. The system also helps administrators keep track of customers, cars, rentals, and payments efficiently. By automating these tasks, the system saves time, reduces errors, and provides a smooth car booking experience.</a:t>
            </a:r>
            <a:endParaRPr lang="en-IN" sz="4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81600" y="190500"/>
            <a:ext cx="6793703" cy="1274445"/>
          </a:xfrm>
          <a:prstGeom prst="rect">
            <a:avLst/>
          </a:prstGeom>
        </p:spPr>
        <p:txBody>
          <a:bodyPr vert="horz" wrap="square" lIns="0" tIns="11430" rIns="0" bIns="0" rtlCol="0">
            <a:spAutoFit/>
          </a:bodyPr>
          <a:lstStyle/>
          <a:p>
            <a:pPr marL="12700" algn="ctr">
              <a:lnSpc>
                <a:spcPct val="100000"/>
              </a:lnSpc>
              <a:spcBef>
                <a:spcPts val="90"/>
              </a:spcBef>
            </a:pPr>
            <a:r>
              <a:rPr lang="en-IN" b="1" spc="-894" dirty="0">
                <a:latin typeface="Times New Roman" panose="02020603050405020304" pitchFamily="18" charset="0"/>
                <a:cs typeface="Times New Roman" panose="02020603050405020304" pitchFamily="18" charset="0"/>
              </a:rPr>
              <a:t>ER  </a:t>
            </a:r>
            <a:r>
              <a:rPr lang="en-IN" b="1" spc="-89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DAIGRAM</a:t>
            </a:r>
            <a:endParaRPr b="1" spc="-89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object 6"/>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a:endParaRPr/>
          </a:p>
        </p:txBody>
      </p:sp>
      <p:grpSp>
        <p:nvGrpSpPr>
          <p:cNvPr id="7" name="object 7"/>
          <p:cNvGrpSpPr/>
          <p:nvPr/>
        </p:nvGrpSpPr>
        <p:grpSpPr>
          <a:xfrm>
            <a:off x="0" y="9718118"/>
            <a:ext cx="18288000" cy="568960"/>
            <a:chOff x="0" y="9718118"/>
            <a:chExt cx="18288000" cy="568960"/>
          </a:xfrm>
        </p:grpSpPr>
        <p:sp>
          <p:nvSpPr>
            <p:cNvPr id="8" name="object 8"/>
            <p:cNvSpPr/>
            <p:nvPr/>
          </p:nvSpPr>
          <p:spPr>
            <a:xfrm>
              <a:off x="0" y="9889568"/>
              <a:ext cx="18288000" cy="397510"/>
            </a:xfrm>
            <a:custGeom>
              <a:avLst/>
              <a:gdLst/>
              <a:ahLst/>
              <a:cxnLst/>
              <a:rect l="l" t="t" r="r" b="b"/>
              <a:pathLst>
                <a:path w="18288000" h="397509">
                  <a:moveTo>
                    <a:pt x="0" y="397431"/>
                  </a:moveTo>
                  <a:lnTo>
                    <a:pt x="18288000" y="397431"/>
                  </a:lnTo>
                  <a:lnTo>
                    <a:pt x="18288000" y="0"/>
                  </a:lnTo>
                  <a:lnTo>
                    <a:pt x="0" y="0"/>
                  </a:lnTo>
                  <a:lnTo>
                    <a:pt x="0" y="397431"/>
                  </a:lnTo>
                  <a:close/>
                </a:path>
              </a:pathLst>
            </a:custGeom>
            <a:solidFill>
              <a:srgbClr val="FAE7BC"/>
            </a:solidFill>
          </p:spPr>
          <p:txBody>
            <a:bodyPr wrap="square" lIns="0" tIns="0" rIns="0" bIns="0" rtlCol="0"/>
            <a:lstStyle/>
            <a:p>
              <a:endParaRPr/>
            </a:p>
          </p:txBody>
        </p:sp>
        <p:sp>
          <p:nvSpPr>
            <p:cNvPr id="9" name="object 9"/>
            <p:cNvSpPr/>
            <p:nvPr/>
          </p:nvSpPr>
          <p:spPr>
            <a:xfrm>
              <a:off x="0" y="9718118"/>
              <a:ext cx="18288000" cy="171450"/>
            </a:xfrm>
            <a:custGeom>
              <a:avLst/>
              <a:gdLst/>
              <a:ahLst/>
              <a:cxnLst/>
              <a:rect l="l" t="t" r="r" b="b"/>
              <a:pathLst>
                <a:path w="18288000" h="171450">
                  <a:moveTo>
                    <a:pt x="0" y="0"/>
                  </a:moveTo>
                  <a:lnTo>
                    <a:pt x="18287999" y="0"/>
                  </a:lnTo>
                  <a:lnTo>
                    <a:pt x="18287999" y="171449"/>
                  </a:lnTo>
                  <a:lnTo>
                    <a:pt x="0" y="171449"/>
                  </a:lnTo>
                  <a:lnTo>
                    <a:pt x="0" y="0"/>
                  </a:lnTo>
                  <a:close/>
                </a:path>
              </a:pathLst>
            </a:custGeom>
            <a:solidFill>
              <a:srgbClr val="494848"/>
            </a:solidFill>
          </p:spPr>
          <p:txBody>
            <a:bodyPr wrap="square" lIns="0" tIns="0" rIns="0" bIns="0" rtlCol="0"/>
            <a:lstStyle/>
            <a:p>
              <a:endParaRPr/>
            </a:p>
          </p:txBody>
        </p:sp>
      </p:grpSp>
      <p:sp>
        <p:nvSpPr>
          <p:cNvPr id="10" name="object 10"/>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a:endParaRPr/>
          </a:p>
        </p:txBody>
      </p:sp>
      <p:pic>
        <p:nvPicPr>
          <p:cNvPr id="11" name="Picture 10">
            <a:extLst>
              <a:ext uri="{FF2B5EF4-FFF2-40B4-BE49-F238E27FC236}">
                <a16:creationId xmlns:a16="http://schemas.microsoft.com/office/drawing/2014/main" id="{342D7397-EB97-7B9F-B1B9-ED40CD5BE3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4600" y="1662508"/>
            <a:ext cx="12954000" cy="76581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00000" y="140442"/>
            <a:ext cx="7488000" cy="842538"/>
          </a:xfrm>
          <a:prstGeom prst="rect">
            <a:avLst/>
          </a:prstGeom>
        </p:spPr>
        <p:txBody>
          <a:bodyPr vert="horz" wrap="square" lIns="0" tIns="11430" rIns="0" bIns="0" rtlCol="0">
            <a:spAutoFit/>
          </a:bodyPr>
          <a:lstStyle/>
          <a:p>
            <a:pPr marL="12700" algn="ctr">
              <a:lnSpc>
                <a:spcPct val="100000"/>
              </a:lnSpc>
              <a:spcBef>
                <a:spcPts val="90"/>
              </a:spcBef>
            </a:pPr>
            <a:r>
              <a:rPr lang="en-IN" sz="5400" spc="-99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STRUCTURE    OF   TABLE</a:t>
            </a:r>
            <a:endParaRPr sz="5400" spc="-99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object 6"/>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a:endParaRPr/>
          </a:p>
        </p:txBody>
      </p:sp>
      <p:grpSp>
        <p:nvGrpSpPr>
          <p:cNvPr id="7" name="object 7"/>
          <p:cNvGrpSpPr/>
          <p:nvPr/>
        </p:nvGrpSpPr>
        <p:grpSpPr>
          <a:xfrm>
            <a:off x="0" y="9718118"/>
            <a:ext cx="18288000" cy="568960"/>
            <a:chOff x="0" y="9718118"/>
            <a:chExt cx="18288000" cy="568960"/>
          </a:xfrm>
        </p:grpSpPr>
        <p:sp>
          <p:nvSpPr>
            <p:cNvPr id="8" name="object 8"/>
            <p:cNvSpPr/>
            <p:nvPr/>
          </p:nvSpPr>
          <p:spPr>
            <a:xfrm>
              <a:off x="0" y="9889568"/>
              <a:ext cx="18288000" cy="397510"/>
            </a:xfrm>
            <a:custGeom>
              <a:avLst/>
              <a:gdLst/>
              <a:ahLst/>
              <a:cxnLst/>
              <a:rect l="l" t="t" r="r" b="b"/>
              <a:pathLst>
                <a:path w="18288000" h="397509">
                  <a:moveTo>
                    <a:pt x="0" y="397431"/>
                  </a:moveTo>
                  <a:lnTo>
                    <a:pt x="18288000" y="397431"/>
                  </a:lnTo>
                  <a:lnTo>
                    <a:pt x="18288000" y="0"/>
                  </a:lnTo>
                  <a:lnTo>
                    <a:pt x="0" y="0"/>
                  </a:lnTo>
                  <a:lnTo>
                    <a:pt x="0" y="397431"/>
                  </a:lnTo>
                  <a:close/>
                </a:path>
              </a:pathLst>
            </a:custGeom>
            <a:solidFill>
              <a:srgbClr val="FAE7BC"/>
            </a:solidFill>
          </p:spPr>
          <p:txBody>
            <a:bodyPr wrap="square" lIns="0" tIns="0" rIns="0" bIns="0" rtlCol="0"/>
            <a:lstStyle/>
            <a:p>
              <a:endParaRPr/>
            </a:p>
          </p:txBody>
        </p:sp>
        <p:sp>
          <p:nvSpPr>
            <p:cNvPr id="9" name="object 9"/>
            <p:cNvSpPr/>
            <p:nvPr/>
          </p:nvSpPr>
          <p:spPr>
            <a:xfrm>
              <a:off x="0" y="9718118"/>
              <a:ext cx="18288000" cy="171450"/>
            </a:xfrm>
            <a:custGeom>
              <a:avLst/>
              <a:gdLst/>
              <a:ahLst/>
              <a:cxnLst/>
              <a:rect l="l" t="t" r="r" b="b"/>
              <a:pathLst>
                <a:path w="18288000" h="171450">
                  <a:moveTo>
                    <a:pt x="0" y="0"/>
                  </a:moveTo>
                  <a:lnTo>
                    <a:pt x="18287999" y="0"/>
                  </a:lnTo>
                  <a:lnTo>
                    <a:pt x="18287999" y="171449"/>
                  </a:lnTo>
                  <a:lnTo>
                    <a:pt x="0" y="171449"/>
                  </a:lnTo>
                  <a:lnTo>
                    <a:pt x="0" y="0"/>
                  </a:lnTo>
                  <a:close/>
                </a:path>
              </a:pathLst>
            </a:custGeom>
            <a:solidFill>
              <a:srgbClr val="494848"/>
            </a:solidFill>
          </p:spPr>
          <p:txBody>
            <a:bodyPr wrap="square" lIns="0" tIns="0" rIns="0" bIns="0" rtlCol="0"/>
            <a:lstStyle/>
            <a:p>
              <a:endParaRPr/>
            </a:p>
          </p:txBody>
        </p:sp>
      </p:grpSp>
      <p:sp>
        <p:nvSpPr>
          <p:cNvPr id="10" name="object 10"/>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a:endParaRPr/>
          </a:p>
        </p:txBody>
      </p:sp>
      <p:sp>
        <p:nvSpPr>
          <p:cNvPr id="13" name="TextBox 12">
            <a:extLst>
              <a:ext uri="{FF2B5EF4-FFF2-40B4-BE49-F238E27FC236}">
                <a16:creationId xmlns:a16="http://schemas.microsoft.com/office/drawing/2014/main" id="{AA9947CC-110A-595C-8375-45BF7F1D2CC2}"/>
              </a:ext>
            </a:extLst>
          </p:cNvPr>
          <p:cNvSpPr txBox="1"/>
          <p:nvPr/>
        </p:nvSpPr>
        <p:spPr>
          <a:xfrm>
            <a:off x="7467600" y="1256715"/>
            <a:ext cx="3810000" cy="646331"/>
          </a:xfrm>
          <a:prstGeom prst="rect">
            <a:avLst/>
          </a:prstGeom>
          <a:noFill/>
        </p:spPr>
        <p:txBody>
          <a:bodyPr wrap="square" rtlCol="0">
            <a:spAutoFit/>
          </a:bodyPr>
          <a:lstStyle/>
          <a:p>
            <a:pPr algn="ctr"/>
            <a:r>
              <a:rPr lang="en-IN" sz="36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Customer</a:t>
            </a:r>
            <a:r>
              <a:rPr lang="en-IN" sz="3600" b="1" u="sng" dirty="0">
                <a:latin typeface="Times New Roman" panose="02020603050405020304" pitchFamily="18" charset="0"/>
                <a:cs typeface="Times New Roman" panose="02020603050405020304" pitchFamily="18" charset="0"/>
              </a:rPr>
              <a:t> Table</a:t>
            </a:r>
          </a:p>
        </p:txBody>
      </p:sp>
      <p:sp>
        <p:nvSpPr>
          <p:cNvPr id="16" name="TextBox 15">
            <a:extLst>
              <a:ext uri="{FF2B5EF4-FFF2-40B4-BE49-F238E27FC236}">
                <a16:creationId xmlns:a16="http://schemas.microsoft.com/office/drawing/2014/main" id="{C256679C-71B8-0D51-0DE0-6354B86C98DF}"/>
              </a:ext>
            </a:extLst>
          </p:cNvPr>
          <p:cNvSpPr txBox="1"/>
          <p:nvPr/>
        </p:nvSpPr>
        <p:spPr>
          <a:xfrm>
            <a:off x="9601200" y="2705100"/>
            <a:ext cx="7488000" cy="1077218"/>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Customer Table</a:t>
            </a:r>
            <a:r>
              <a:rPr lang="en-US" sz="3200" dirty="0">
                <a:latin typeface="Times New Roman" panose="02020603050405020304" pitchFamily="18" charset="0"/>
                <a:cs typeface="Times New Roman" panose="02020603050405020304" pitchFamily="18" charset="0"/>
              </a:rPr>
              <a:t> → Stores customer details who rent cars.</a:t>
            </a:r>
            <a:endParaRPr lang="en-IN" sz="3200"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1E25F60D-77C4-AA9C-C45C-FF6ED0CDD680}"/>
              </a:ext>
            </a:extLst>
          </p:cNvPr>
          <p:cNvSpPr txBox="1"/>
          <p:nvPr/>
        </p:nvSpPr>
        <p:spPr>
          <a:xfrm>
            <a:off x="9771277" y="4114561"/>
            <a:ext cx="7488000" cy="3108543"/>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CREATE TABLE Customers (</a:t>
            </a:r>
          </a:p>
          <a:p>
            <a:pPr lvl="4"/>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customer_id</a:t>
            </a:r>
            <a:r>
              <a:rPr lang="en-US" sz="2800" dirty="0">
                <a:latin typeface="Times New Roman" panose="02020603050405020304" pitchFamily="18" charset="0"/>
                <a:cs typeface="Times New Roman" panose="02020603050405020304" pitchFamily="18" charset="0"/>
              </a:rPr>
              <a:t> INT PRIMARY KEY,</a:t>
            </a:r>
          </a:p>
          <a:p>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first_name</a:t>
            </a:r>
            <a:r>
              <a:rPr lang="en-US" sz="2800" dirty="0">
                <a:latin typeface="Times New Roman" panose="02020603050405020304" pitchFamily="18" charset="0"/>
                <a:cs typeface="Times New Roman" panose="02020603050405020304" pitchFamily="18" charset="0"/>
              </a:rPr>
              <a:t> VARCHAR(50),</a:t>
            </a:r>
          </a:p>
          <a:p>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last_name</a:t>
            </a:r>
            <a:r>
              <a:rPr lang="en-US" sz="2800" dirty="0">
                <a:latin typeface="Times New Roman" panose="02020603050405020304" pitchFamily="18" charset="0"/>
                <a:cs typeface="Times New Roman" panose="02020603050405020304" pitchFamily="18" charset="0"/>
              </a:rPr>
              <a:t> VARCHAR(50),</a:t>
            </a:r>
          </a:p>
          <a:p>
            <a:r>
              <a:rPr lang="en-US" sz="2800" dirty="0">
                <a:latin typeface="Times New Roman" panose="02020603050405020304" pitchFamily="18" charset="0"/>
                <a:cs typeface="Times New Roman" panose="02020603050405020304" pitchFamily="18" charset="0"/>
              </a:rPr>
              <a:t>    email VARCHAR(100) UNIQUE,</a:t>
            </a:r>
          </a:p>
          <a:p>
            <a:r>
              <a:rPr lang="en-US" sz="2800" dirty="0">
                <a:latin typeface="Times New Roman" panose="02020603050405020304" pitchFamily="18" charset="0"/>
                <a:cs typeface="Times New Roman" panose="02020603050405020304" pitchFamily="18" charset="0"/>
              </a:rPr>
              <a:t>    phone VARCHAR(15) UNIQUE,</a:t>
            </a:r>
          </a:p>
          <a:p>
            <a:r>
              <a:rPr lang="en-US" sz="2800" dirty="0">
                <a:latin typeface="Times New Roman" panose="02020603050405020304" pitchFamily="18" charset="0"/>
                <a:cs typeface="Times New Roman" panose="02020603050405020304" pitchFamily="18" charset="0"/>
              </a:rPr>
              <a:t>    address VARCHAR(200));</a:t>
            </a:r>
            <a:endParaRPr lang="en-IN" sz="2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13A7720-DEB2-6809-5ED4-1948D99FC877}"/>
              </a:ext>
            </a:extLst>
          </p:cNvPr>
          <p:cNvPicPr>
            <a:picLocks noChangeAspect="1"/>
          </p:cNvPicPr>
          <p:nvPr/>
        </p:nvPicPr>
        <p:blipFill>
          <a:blip r:embed="rId2">
            <a:duotone>
              <a:prstClr val="black"/>
              <a:schemeClr val="bg2">
                <a:lumMod val="90000"/>
                <a:tint val="45000"/>
                <a:satMod val="400000"/>
              </a:schemeClr>
            </a:duotone>
          </a:blip>
          <a:stretch>
            <a:fillRect/>
          </a:stretch>
        </p:blipFill>
        <p:spPr>
          <a:xfrm>
            <a:off x="1028726" y="2967816"/>
            <a:ext cx="7487999" cy="3623483"/>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AD131-75C8-A947-FE3F-FBA62725899B}"/>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19B679A1-210B-3561-E212-DD85D9E1D0C1}"/>
              </a:ext>
            </a:extLst>
          </p:cNvPr>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a:endParaRPr/>
          </a:p>
        </p:txBody>
      </p:sp>
      <p:grpSp>
        <p:nvGrpSpPr>
          <p:cNvPr id="7" name="object 7">
            <a:extLst>
              <a:ext uri="{FF2B5EF4-FFF2-40B4-BE49-F238E27FC236}">
                <a16:creationId xmlns:a16="http://schemas.microsoft.com/office/drawing/2014/main" id="{20411774-E286-0393-75CD-5111ACD1CA6A}"/>
              </a:ext>
            </a:extLst>
          </p:cNvPr>
          <p:cNvGrpSpPr/>
          <p:nvPr/>
        </p:nvGrpSpPr>
        <p:grpSpPr>
          <a:xfrm>
            <a:off x="0" y="9718118"/>
            <a:ext cx="18288000" cy="568960"/>
            <a:chOff x="0" y="9718118"/>
            <a:chExt cx="18288000" cy="568960"/>
          </a:xfrm>
        </p:grpSpPr>
        <p:sp>
          <p:nvSpPr>
            <p:cNvPr id="8" name="object 8">
              <a:extLst>
                <a:ext uri="{FF2B5EF4-FFF2-40B4-BE49-F238E27FC236}">
                  <a16:creationId xmlns:a16="http://schemas.microsoft.com/office/drawing/2014/main" id="{EC0FE000-6108-3A63-1900-7E8A306FA6B4}"/>
                </a:ext>
              </a:extLst>
            </p:cNvPr>
            <p:cNvSpPr/>
            <p:nvPr/>
          </p:nvSpPr>
          <p:spPr>
            <a:xfrm>
              <a:off x="0" y="9889568"/>
              <a:ext cx="18288000" cy="397510"/>
            </a:xfrm>
            <a:custGeom>
              <a:avLst/>
              <a:gdLst/>
              <a:ahLst/>
              <a:cxnLst/>
              <a:rect l="l" t="t" r="r" b="b"/>
              <a:pathLst>
                <a:path w="18288000" h="397509">
                  <a:moveTo>
                    <a:pt x="0" y="397431"/>
                  </a:moveTo>
                  <a:lnTo>
                    <a:pt x="18288000" y="397431"/>
                  </a:lnTo>
                  <a:lnTo>
                    <a:pt x="18288000" y="0"/>
                  </a:lnTo>
                  <a:lnTo>
                    <a:pt x="0" y="0"/>
                  </a:lnTo>
                  <a:lnTo>
                    <a:pt x="0" y="397431"/>
                  </a:lnTo>
                  <a:close/>
                </a:path>
              </a:pathLst>
            </a:custGeom>
            <a:solidFill>
              <a:srgbClr val="FAE7BC"/>
            </a:solidFill>
          </p:spPr>
          <p:txBody>
            <a:bodyPr wrap="square" lIns="0" tIns="0" rIns="0" bIns="0" rtlCol="0"/>
            <a:lstStyle/>
            <a:p>
              <a:endParaRPr/>
            </a:p>
          </p:txBody>
        </p:sp>
        <p:sp>
          <p:nvSpPr>
            <p:cNvPr id="9" name="object 9">
              <a:extLst>
                <a:ext uri="{FF2B5EF4-FFF2-40B4-BE49-F238E27FC236}">
                  <a16:creationId xmlns:a16="http://schemas.microsoft.com/office/drawing/2014/main" id="{B7E30E85-20A1-80B0-A13B-0A86D2B74BCB}"/>
                </a:ext>
              </a:extLst>
            </p:cNvPr>
            <p:cNvSpPr/>
            <p:nvPr/>
          </p:nvSpPr>
          <p:spPr>
            <a:xfrm>
              <a:off x="0" y="9718118"/>
              <a:ext cx="18288000" cy="171450"/>
            </a:xfrm>
            <a:custGeom>
              <a:avLst/>
              <a:gdLst/>
              <a:ahLst/>
              <a:cxnLst/>
              <a:rect l="l" t="t" r="r" b="b"/>
              <a:pathLst>
                <a:path w="18288000" h="171450">
                  <a:moveTo>
                    <a:pt x="0" y="0"/>
                  </a:moveTo>
                  <a:lnTo>
                    <a:pt x="18287999" y="0"/>
                  </a:lnTo>
                  <a:lnTo>
                    <a:pt x="18287999" y="171449"/>
                  </a:lnTo>
                  <a:lnTo>
                    <a:pt x="0" y="171449"/>
                  </a:lnTo>
                  <a:lnTo>
                    <a:pt x="0" y="0"/>
                  </a:lnTo>
                  <a:close/>
                </a:path>
              </a:pathLst>
            </a:custGeom>
            <a:solidFill>
              <a:srgbClr val="494848"/>
            </a:solidFill>
          </p:spPr>
          <p:txBody>
            <a:bodyPr wrap="square" lIns="0" tIns="0" rIns="0" bIns="0" rtlCol="0"/>
            <a:lstStyle/>
            <a:p>
              <a:endParaRPr/>
            </a:p>
          </p:txBody>
        </p:sp>
      </p:grpSp>
      <p:sp>
        <p:nvSpPr>
          <p:cNvPr id="10" name="object 10">
            <a:extLst>
              <a:ext uri="{FF2B5EF4-FFF2-40B4-BE49-F238E27FC236}">
                <a16:creationId xmlns:a16="http://schemas.microsoft.com/office/drawing/2014/main" id="{F8109C57-068E-32C3-E7F6-25A9F8A98B99}"/>
              </a:ext>
            </a:extLst>
          </p:cNvPr>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a:endParaRPr/>
          </a:p>
        </p:txBody>
      </p:sp>
      <p:sp>
        <p:nvSpPr>
          <p:cNvPr id="13" name="TextBox 12">
            <a:extLst>
              <a:ext uri="{FF2B5EF4-FFF2-40B4-BE49-F238E27FC236}">
                <a16:creationId xmlns:a16="http://schemas.microsoft.com/office/drawing/2014/main" id="{1F3B7507-D574-7B9A-6845-784F7117057F}"/>
              </a:ext>
            </a:extLst>
          </p:cNvPr>
          <p:cNvSpPr txBox="1"/>
          <p:nvPr/>
        </p:nvSpPr>
        <p:spPr>
          <a:xfrm>
            <a:off x="7467600" y="1256715"/>
            <a:ext cx="3810000" cy="646331"/>
          </a:xfrm>
          <a:prstGeom prst="rect">
            <a:avLst/>
          </a:prstGeom>
          <a:noFill/>
        </p:spPr>
        <p:txBody>
          <a:bodyPr wrap="square" rtlCol="0">
            <a:spAutoFit/>
          </a:bodyPr>
          <a:lstStyle/>
          <a:p>
            <a:pPr algn="ctr"/>
            <a:r>
              <a:rPr lang="en-IN" sz="36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Cars</a:t>
            </a:r>
            <a:r>
              <a:rPr lang="en-IN" sz="3600" b="1" u="sng" dirty="0">
                <a:latin typeface="Times New Roman" panose="02020603050405020304" pitchFamily="18" charset="0"/>
                <a:cs typeface="Times New Roman" panose="02020603050405020304" pitchFamily="18" charset="0"/>
              </a:rPr>
              <a:t> Table</a:t>
            </a:r>
          </a:p>
        </p:txBody>
      </p:sp>
      <p:pic>
        <p:nvPicPr>
          <p:cNvPr id="4" name="Picture 3">
            <a:extLst>
              <a:ext uri="{FF2B5EF4-FFF2-40B4-BE49-F238E27FC236}">
                <a16:creationId xmlns:a16="http://schemas.microsoft.com/office/drawing/2014/main" id="{7720CFF4-F7F8-2C5C-139A-257BA154B8AD}"/>
              </a:ext>
            </a:extLst>
          </p:cNvPr>
          <p:cNvPicPr>
            <a:picLocks noChangeAspect="1"/>
          </p:cNvPicPr>
          <p:nvPr/>
        </p:nvPicPr>
        <p:blipFill>
          <a:blip r:embed="rId2">
            <a:duotone>
              <a:prstClr val="black"/>
              <a:schemeClr val="bg2">
                <a:lumMod val="90000"/>
                <a:tint val="45000"/>
                <a:satMod val="400000"/>
              </a:schemeClr>
            </a:duotone>
          </a:blip>
          <a:stretch>
            <a:fillRect/>
          </a:stretch>
        </p:blipFill>
        <p:spPr>
          <a:xfrm>
            <a:off x="609600" y="2814051"/>
            <a:ext cx="7277073" cy="4953000"/>
          </a:xfrm>
          <a:prstGeom prst="rect">
            <a:avLst/>
          </a:prstGeom>
          <a:ln>
            <a:noFill/>
          </a:ln>
          <a:effectLst>
            <a:outerShdw blurRad="190500" algn="tl" rotWithShape="0">
              <a:srgbClr val="000000">
                <a:alpha val="70000"/>
              </a:srgbClr>
            </a:outerShdw>
          </a:effectLst>
        </p:spPr>
      </p:pic>
      <p:sp>
        <p:nvSpPr>
          <p:cNvPr id="12" name="TextBox 11">
            <a:extLst>
              <a:ext uri="{FF2B5EF4-FFF2-40B4-BE49-F238E27FC236}">
                <a16:creationId xmlns:a16="http://schemas.microsoft.com/office/drawing/2014/main" id="{4443ACEF-ED20-50D9-765C-A9517BBF670B}"/>
              </a:ext>
            </a:extLst>
          </p:cNvPr>
          <p:cNvSpPr txBox="1"/>
          <p:nvPr/>
        </p:nvSpPr>
        <p:spPr>
          <a:xfrm>
            <a:off x="8396286" y="2672834"/>
            <a:ext cx="9144000" cy="1200329"/>
          </a:xfrm>
          <a:prstGeom prst="rect">
            <a:avLst/>
          </a:prstGeom>
          <a:noFill/>
        </p:spPr>
        <p:txBody>
          <a:bodyPr wrap="square">
            <a:spAutoFit/>
          </a:bodyPr>
          <a:lstStyle/>
          <a:p>
            <a:r>
              <a:rPr lang="en-US" sz="3600" b="1" dirty="0">
                <a:latin typeface="Times New Roman" panose="02020603050405020304" pitchFamily="18" charset="0"/>
                <a:cs typeface="Times New Roman" panose="02020603050405020304" pitchFamily="18" charset="0"/>
              </a:rPr>
              <a:t>Cars Table</a:t>
            </a:r>
            <a:r>
              <a:rPr lang="en-US" sz="3600" dirty="0">
                <a:latin typeface="Times New Roman" panose="02020603050405020304" pitchFamily="18" charset="0"/>
                <a:cs typeface="Times New Roman" panose="02020603050405020304" pitchFamily="18" charset="0"/>
              </a:rPr>
              <a:t> → Keeps records of all cars and their availability.</a:t>
            </a:r>
            <a:endParaRPr lang="en-IN" sz="36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8517BD07-9465-6D25-EC63-14ABB09711CF}"/>
              </a:ext>
            </a:extLst>
          </p:cNvPr>
          <p:cNvSpPr txBox="1"/>
          <p:nvPr/>
        </p:nvSpPr>
        <p:spPr>
          <a:xfrm>
            <a:off x="8305799" y="4193411"/>
            <a:ext cx="9144000" cy="4401205"/>
          </a:xfrm>
          <a:prstGeom prst="rect">
            <a:avLst/>
          </a:prstGeom>
          <a:noFill/>
        </p:spPr>
        <p:txBody>
          <a:bodyPr wrap="square">
            <a:spAutoFit/>
          </a:bodyPr>
          <a:lstStyle/>
          <a:p>
            <a:r>
              <a:rPr lang="en-US" sz="2800" dirty="0">
                <a:latin typeface="Times New Roman" panose="02020603050405020304" pitchFamily="18" charset="0"/>
                <a:cs typeface="Times New Roman" panose="02020603050405020304" pitchFamily="18" charset="0"/>
              </a:rPr>
              <a:t>CREATE TABLE Cars (    </a:t>
            </a:r>
            <a:r>
              <a:rPr lang="en-US" sz="2800" dirty="0" err="1">
                <a:latin typeface="Times New Roman" panose="02020603050405020304" pitchFamily="18" charset="0"/>
                <a:cs typeface="Times New Roman" panose="02020603050405020304" pitchFamily="18" charset="0"/>
              </a:rPr>
              <a:t>car_id</a:t>
            </a:r>
            <a:r>
              <a:rPr lang="en-US" sz="2800" dirty="0">
                <a:latin typeface="Times New Roman" panose="02020603050405020304" pitchFamily="18" charset="0"/>
                <a:cs typeface="Times New Roman" panose="02020603050405020304" pitchFamily="18" charset="0"/>
              </a:rPr>
              <a:t> INT PRIMARY KEY AUTO_INCREMENT,    </a:t>
            </a:r>
          </a:p>
          <a:p>
            <a:r>
              <a:rPr lang="en-US" sz="2800" dirty="0">
                <a:latin typeface="Times New Roman" panose="02020603050405020304" pitchFamily="18" charset="0"/>
                <a:cs typeface="Times New Roman" panose="02020603050405020304" pitchFamily="18" charset="0"/>
              </a:rPr>
              <a:t>model VARCHAR(50),   </a:t>
            </a:r>
          </a:p>
          <a:p>
            <a:r>
              <a:rPr lang="en-US" sz="2800" dirty="0">
                <a:latin typeface="Times New Roman" panose="02020603050405020304" pitchFamily="18" charset="0"/>
                <a:cs typeface="Times New Roman" panose="02020603050405020304" pitchFamily="18" charset="0"/>
              </a:rPr>
              <a:t>brand VARCHAR(50),    </a:t>
            </a:r>
          </a:p>
          <a:p>
            <a:r>
              <a:rPr lang="en-US" sz="2800" dirty="0">
                <a:latin typeface="Times New Roman" panose="02020603050405020304" pitchFamily="18" charset="0"/>
                <a:cs typeface="Times New Roman" panose="02020603050405020304" pitchFamily="18" charset="0"/>
              </a:rPr>
              <a:t>year INT,    </a:t>
            </a:r>
          </a:p>
          <a:p>
            <a:r>
              <a:rPr lang="en-US" sz="2800" dirty="0" err="1">
                <a:latin typeface="Times New Roman" panose="02020603050405020304" pitchFamily="18" charset="0"/>
                <a:cs typeface="Times New Roman" panose="02020603050405020304" pitchFamily="18" charset="0"/>
              </a:rPr>
              <a:t>daily_rate</a:t>
            </a:r>
            <a:r>
              <a:rPr lang="en-US" sz="2800" dirty="0">
                <a:latin typeface="Times New Roman" panose="02020603050405020304" pitchFamily="18" charset="0"/>
                <a:cs typeface="Times New Roman" panose="02020603050405020304" pitchFamily="18" charset="0"/>
              </a:rPr>
              <a:t> DECIMAL(10,2),    status VARCHAR(20) DEFAULT 'Available',   </a:t>
            </a:r>
          </a:p>
          <a:p>
            <a:r>
              <a:rPr lang="en-US" sz="2800" dirty="0" err="1">
                <a:latin typeface="Times New Roman" panose="02020603050405020304" pitchFamily="18" charset="0"/>
                <a:cs typeface="Times New Roman" panose="02020603050405020304" pitchFamily="18" charset="0"/>
              </a:rPr>
              <a:t>customer_id</a:t>
            </a:r>
            <a:r>
              <a:rPr lang="en-US" sz="2800" dirty="0">
                <a:latin typeface="Times New Roman" panose="02020603050405020304" pitchFamily="18" charset="0"/>
                <a:cs typeface="Times New Roman" panose="02020603050405020304" pitchFamily="18" charset="0"/>
              </a:rPr>
              <a:t> INT,    FOREIGN KEY (</a:t>
            </a:r>
            <a:r>
              <a:rPr lang="en-US" sz="2800" dirty="0" err="1">
                <a:latin typeface="Times New Roman" panose="02020603050405020304" pitchFamily="18" charset="0"/>
                <a:cs typeface="Times New Roman" panose="02020603050405020304" pitchFamily="18" charset="0"/>
              </a:rPr>
              <a:t>customer_id</a:t>
            </a:r>
            <a:r>
              <a:rPr lang="en-US" sz="2800" dirty="0">
                <a:latin typeface="Times New Roman" panose="02020603050405020304" pitchFamily="18" charset="0"/>
                <a:cs typeface="Times New Roman" panose="02020603050405020304" pitchFamily="18" charset="0"/>
              </a:rPr>
              <a:t>) REFERENCES Customers(</a:t>
            </a:r>
            <a:r>
              <a:rPr lang="en-US" sz="2800" dirty="0" err="1">
                <a:latin typeface="Times New Roman" panose="02020603050405020304" pitchFamily="18" charset="0"/>
                <a:cs typeface="Times New Roman" panose="02020603050405020304" pitchFamily="18" charset="0"/>
              </a:rPr>
              <a:t>customer_id</a:t>
            </a:r>
            <a:r>
              <a:rPr lang="en-US" sz="2800" dirty="0">
                <a:latin typeface="Times New Roman" panose="02020603050405020304" pitchFamily="18" charset="0"/>
                <a:cs typeface="Times New Roman" panose="02020603050405020304" pitchFamily="18" charset="0"/>
              </a:rPr>
              <a:t>)  -- link to Customers);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39995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FA504-6046-1C0F-C0FC-357089E86E0A}"/>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51718BF4-682C-053D-4B6E-1EAF8CCF823E}"/>
              </a:ext>
            </a:extLst>
          </p:cNvPr>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a:endParaRPr/>
          </a:p>
        </p:txBody>
      </p:sp>
      <p:grpSp>
        <p:nvGrpSpPr>
          <p:cNvPr id="7" name="object 7">
            <a:extLst>
              <a:ext uri="{FF2B5EF4-FFF2-40B4-BE49-F238E27FC236}">
                <a16:creationId xmlns:a16="http://schemas.microsoft.com/office/drawing/2014/main" id="{FF6E0B68-E52E-04EB-AC9F-F4EFEBEA036D}"/>
              </a:ext>
            </a:extLst>
          </p:cNvPr>
          <p:cNvGrpSpPr/>
          <p:nvPr/>
        </p:nvGrpSpPr>
        <p:grpSpPr>
          <a:xfrm>
            <a:off x="0" y="9718118"/>
            <a:ext cx="18288000" cy="568960"/>
            <a:chOff x="0" y="9718118"/>
            <a:chExt cx="18288000" cy="568960"/>
          </a:xfrm>
        </p:grpSpPr>
        <p:sp>
          <p:nvSpPr>
            <p:cNvPr id="8" name="object 8">
              <a:extLst>
                <a:ext uri="{FF2B5EF4-FFF2-40B4-BE49-F238E27FC236}">
                  <a16:creationId xmlns:a16="http://schemas.microsoft.com/office/drawing/2014/main" id="{025C03E9-D63F-DDC6-6732-201657543231}"/>
                </a:ext>
              </a:extLst>
            </p:cNvPr>
            <p:cNvSpPr/>
            <p:nvPr/>
          </p:nvSpPr>
          <p:spPr>
            <a:xfrm>
              <a:off x="0" y="9889568"/>
              <a:ext cx="18288000" cy="397510"/>
            </a:xfrm>
            <a:custGeom>
              <a:avLst/>
              <a:gdLst/>
              <a:ahLst/>
              <a:cxnLst/>
              <a:rect l="l" t="t" r="r" b="b"/>
              <a:pathLst>
                <a:path w="18288000" h="397509">
                  <a:moveTo>
                    <a:pt x="0" y="397431"/>
                  </a:moveTo>
                  <a:lnTo>
                    <a:pt x="18288000" y="397431"/>
                  </a:lnTo>
                  <a:lnTo>
                    <a:pt x="18288000" y="0"/>
                  </a:lnTo>
                  <a:lnTo>
                    <a:pt x="0" y="0"/>
                  </a:lnTo>
                  <a:lnTo>
                    <a:pt x="0" y="397431"/>
                  </a:lnTo>
                  <a:close/>
                </a:path>
              </a:pathLst>
            </a:custGeom>
            <a:solidFill>
              <a:srgbClr val="FAE7BC"/>
            </a:solidFill>
          </p:spPr>
          <p:txBody>
            <a:bodyPr wrap="square" lIns="0" tIns="0" rIns="0" bIns="0" rtlCol="0"/>
            <a:lstStyle/>
            <a:p>
              <a:endParaRPr/>
            </a:p>
          </p:txBody>
        </p:sp>
        <p:sp>
          <p:nvSpPr>
            <p:cNvPr id="9" name="object 9">
              <a:extLst>
                <a:ext uri="{FF2B5EF4-FFF2-40B4-BE49-F238E27FC236}">
                  <a16:creationId xmlns:a16="http://schemas.microsoft.com/office/drawing/2014/main" id="{51BCD6E8-5BF3-9A97-E108-4F3F24493EA9}"/>
                </a:ext>
              </a:extLst>
            </p:cNvPr>
            <p:cNvSpPr/>
            <p:nvPr/>
          </p:nvSpPr>
          <p:spPr>
            <a:xfrm>
              <a:off x="0" y="9718118"/>
              <a:ext cx="18288000" cy="171450"/>
            </a:xfrm>
            <a:custGeom>
              <a:avLst/>
              <a:gdLst/>
              <a:ahLst/>
              <a:cxnLst/>
              <a:rect l="l" t="t" r="r" b="b"/>
              <a:pathLst>
                <a:path w="18288000" h="171450">
                  <a:moveTo>
                    <a:pt x="0" y="0"/>
                  </a:moveTo>
                  <a:lnTo>
                    <a:pt x="18287999" y="0"/>
                  </a:lnTo>
                  <a:lnTo>
                    <a:pt x="18287999" y="171449"/>
                  </a:lnTo>
                  <a:lnTo>
                    <a:pt x="0" y="171449"/>
                  </a:lnTo>
                  <a:lnTo>
                    <a:pt x="0" y="0"/>
                  </a:lnTo>
                  <a:close/>
                </a:path>
              </a:pathLst>
            </a:custGeom>
            <a:solidFill>
              <a:srgbClr val="494848"/>
            </a:solidFill>
          </p:spPr>
          <p:txBody>
            <a:bodyPr wrap="square" lIns="0" tIns="0" rIns="0" bIns="0" rtlCol="0"/>
            <a:lstStyle/>
            <a:p>
              <a:endParaRPr/>
            </a:p>
          </p:txBody>
        </p:sp>
      </p:grpSp>
      <p:sp>
        <p:nvSpPr>
          <p:cNvPr id="10" name="object 10">
            <a:extLst>
              <a:ext uri="{FF2B5EF4-FFF2-40B4-BE49-F238E27FC236}">
                <a16:creationId xmlns:a16="http://schemas.microsoft.com/office/drawing/2014/main" id="{38AFACDB-D057-343B-8492-7706437CB896}"/>
              </a:ext>
            </a:extLst>
          </p:cNvPr>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a:endParaRPr/>
          </a:p>
        </p:txBody>
      </p:sp>
      <p:sp>
        <p:nvSpPr>
          <p:cNvPr id="13" name="TextBox 12">
            <a:extLst>
              <a:ext uri="{FF2B5EF4-FFF2-40B4-BE49-F238E27FC236}">
                <a16:creationId xmlns:a16="http://schemas.microsoft.com/office/drawing/2014/main" id="{3C84F3C7-DA0E-4CDD-4311-276E30AEE31D}"/>
              </a:ext>
            </a:extLst>
          </p:cNvPr>
          <p:cNvSpPr txBox="1"/>
          <p:nvPr/>
        </p:nvSpPr>
        <p:spPr>
          <a:xfrm>
            <a:off x="7467600" y="1256715"/>
            <a:ext cx="3810000" cy="646331"/>
          </a:xfrm>
          <a:prstGeom prst="rect">
            <a:avLst/>
          </a:prstGeom>
          <a:noFill/>
        </p:spPr>
        <p:txBody>
          <a:bodyPr wrap="square" rtlCol="0">
            <a:spAutoFit/>
          </a:bodyPr>
          <a:lstStyle/>
          <a:p>
            <a:pPr algn="ctr"/>
            <a:r>
              <a:rPr lang="en-IN" sz="36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Rentals</a:t>
            </a:r>
            <a:r>
              <a:rPr lang="en-IN" sz="3600" b="1" u="sng" dirty="0">
                <a:latin typeface="Times New Roman" panose="02020603050405020304" pitchFamily="18" charset="0"/>
                <a:cs typeface="Times New Roman" panose="02020603050405020304" pitchFamily="18" charset="0"/>
              </a:rPr>
              <a:t> Table</a:t>
            </a:r>
          </a:p>
        </p:txBody>
      </p:sp>
      <p:sp>
        <p:nvSpPr>
          <p:cNvPr id="12" name="TextBox 11">
            <a:extLst>
              <a:ext uri="{FF2B5EF4-FFF2-40B4-BE49-F238E27FC236}">
                <a16:creationId xmlns:a16="http://schemas.microsoft.com/office/drawing/2014/main" id="{72ACE018-529D-6630-2BF4-B68E41F84516}"/>
              </a:ext>
            </a:extLst>
          </p:cNvPr>
          <p:cNvSpPr txBox="1"/>
          <p:nvPr/>
        </p:nvSpPr>
        <p:spPr>
          <a:xfrm>
            <a:off x="8396286" y="2672834"/>
            <a:ext cx="9144000" cy="1200329"/>
          </a:xfrm>
          <a:prstGeom prst="rect">
            <a:avLst/>
          </a:prstGeom>
          <a:noFill/>
        </p:spPr>
        <p:txBody>
          <a:bodyPr wrap="square">
            <a:spAutoFit/>
          </a:bodyPr>
          <a:lstStyle/>
          <a:p>
            <a:r>
              <a:rPr lang="en-US" sz="3600" b="1" dirty="0">
                <a:latin typeface="Times New Roman" panose="02020603050405020304" pitchFamily="18" charset="0"/>
                <a:cs typeface="Times New Roman" panose="02020603050405020304" pitchFamily="18" charset="0"/>
              </a:rPr>
              <a:t>Rentals Table</a:t>
            </a:r>
            <a:r>
              <a:rPr lang="en-US" sz="3600" dirty="0">
                <a:latin typeface="Times New Roman" panose="02020603050405020304" pitchFamily="18" charset="0"/>
                <a:cs typeface="Times New Roman" panose="02020603050405020304" pitchFamily="18" charset="0"/>
              </a:rPr>
              <a:t> → Tracks which customer rented which car and for how long.</a:t>
            </a:r>
            <a:endParaRPr lang="en-IN" sz="36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FDC9C6C4-B722-219D-A8AC-F65C0D51C10B}"/>
              </a:ext>
            </a:extLst>
          </p:cNvPr>
          <p:cNvSpPr txBox="1"/>
          <p:nvPr/>
        </p:nvSpPr>
        <p:spPr>
          <a:xfrm>
            <a:off x="8305799" y="4193411"/>
            <a:ext cx="9144000" cy="3970318"/>
          </a:xfrm>
          <a:prstGeom prst="rect">
            <a:avLst/>
          </a:prstGeom>
          <a:noFill/>
        </p:spPr>
        <p:txBody>
          <a:bodyPr wrap="square">
            <a:spAutoFit/>
          </a:bodyPr>
          <a:lstStyle/>
          <a:p>
            <a:r>
              <a:rPr lang="en-US" sz="2800" dirty="0">
                <a:latin typeface="Times New Roman" panose="02020603050405020304" pitchFamily="18" charset="0"/>
                <a:cs typeface="Times New Roman" panose="02020603050405020304" pitchFamily="18" charset="0"/>
              </a:rPr>
              <a:t>CREATE TABLE Rentals (    </a:t>
            </a:r>
            <a:r>
              <a:rPr lang="en-US" sz="2800" dirty="0" err="1">
                <a:latin typeface="Times New Roman" panose="02020603050405020304" pitchFamily="18" charset="0"/>
                <a:cs typeface="Times New Roman" panose="02020603050405020304" pitchFamily="18" charset="0"/>
              </a:rPr>
              <a:t>rental_id</a:t>
            </a:r>
            <a:r>
              <a:rPr lang="en-US" sz="2800" dirty="0">
                <a:latin typeface="Times New Roman" panose="02020603050405020304" pitchFamily="18" charset="0"/>
                <a:cs typeface="Times New Roman" panose="02020603050405020304" pitchFamily="18" charset="0"/>
              </a:rPr>
              <a:t> INT PRIMARY KEY AUTO_INCREMENT,    </a:t>
            </a:r>
          </a:p>
          <a:p>
            <a:r>
              <a:rPr lang="en-US" sz="2800" dirty="0" err="1">
                <a:latin typeface="Times New Roman" panose="02020603050405020304" pitchFamily="18" charset="0"/>
                <a:cs typeface="Times New Roman" panose="02020603050405020304" pitchFamily="18" charset="0"/>
              </a:rPr>
              <a:t>customer_id</a:t>
            </a:r>
            <a:r>
              <a:rPr lang="en-US" sz="2800" dirty="0">
                <a:latin typeface="Times New Roman" panose="02020603050405020304" pitchFamily="18" charset="0"/>
                <a:cs typeface="Times New Roman" panose="02020603050405020304" pitchFamily="18" charset="0"/>
              </a:rPr>
              <a:t> INT,    </a:t>
            </a:r>
          </a:p>
          <a:p>
            <a:r>
              <a:rPr lang="en-US" sz="2800" dirty="0" err="1">
                <a:latin typeface="Times New Roman" panose="02020603050405020304" pitchFamily="18" charset="0"/>
                <a:cs typeface="Times New Roman" panose="02020603050405020304" pitchFamily="18" charset="0"/>
              </a:rPr>
              <a:t>car_id</a:t>
            </a:r>
            <a:r>
              <a:rPr lang="en-US" sz="2800" dirty="0">
                <a:latin typeface="Times New Roman" panose="02020603050405020304" pitchFamily="18" charset="0"/>
                <a:cs typeface="Times New Roman" panose="02020603050405020304" pitchFamily="18" charset="0"/>
              </a:rPr>
              <a:t> INT,    </a:t>
            </a:r>
          </a:p>
          <a:p>
            <a:r>
              <a:rPr lang="en-US" sz="2800" dirty="0" err="1">
                <a:latin typeface="Times New Roman" panose="02020603050405020304" pitchFamily="18" charset="0"/>
                <a:cs typeface="Times New Roman" panose="02020603050405020304" pitchFamily="18" charset="0"/>
              </a:rPr>
              <a:t>rental_date</a:t>
            </a:r>
            <a:r>
              <a:rPr lang="en-US" sz="2800" dirty="0">
                <a:latin typeface="Times New Roman" panose="02020603050405020304" pitchFamily="18" charset="0"/>
                <a:cs typeface="Times New Roman" panose="02020603050405020304" pitchFamily="18" charset="0"/>
              </a:rPr>
              <a:t> DATE,    </a:t>
            </a:r>
          </a:p>
          <a:p>
            <a:r>
              <a:rPr lang="en-US" sz="2800" dirty="0" err="1">
                <a:latin typeface="Times New Roman" panose="02020603050405020304" pitchFamily="18" charset="0"/>
                <a:cs typeface="Times New Roman" panose="02020603050405020304" pitchFamily="18" charset="0"/>
              </a:rPr>
              <a:t>return_date</a:t>
            </a:r>
            <a:r>
              <a:rPr lang="en-US" sz="2800" dirty="0">
                <a:latin typeface="Times New Roman" panose="02020603050405020304" pitchFamily="18" charset="0"/>
                <a:cs typeface="Times New Roman" panose="02020603050405020304" pitchFamily="18" charset="0"/>
              </a:rPr>
              <a:t> DATE,    </a:t>
            </a:r>
          </a:p>
          <a:p>
            <a:r>
              <a:rPr lang="en-US" sz="2800" dirty="0" err="1">
                <a:latin typeface="Times New Roman" panose="02020603050405020304" pitchFamily="18" charset="0"/>
                <a:cs typeface="Times New Roman" panose="02020603050405020304" pitchFamily="18" charset="0"/>
              </a:rPr>
              <a:t>total_amount</a:t>
            </a:r>
            <a:r>
              <a:rPr lang="en-US" sz="2800" dirty="0">
                <a:latin typeface="Times New Roman" panose="02020603050405020304" pitchFamily="18" charset="0"/>
                <a:cs typeface="Times New Roman" panose="02020603050405020304" pitchFamily="18" charset="0"/>
              </a:rPr>
              <a:t> DECIMAL(10,2),    FOREIGN KEY (</a:t>
            </a:r>
            <a:r>
              <a:rPr lang="en-US" sz="2800" dirty="0" err="1">
                <a:latin typeface="Times New Roman" panose="02020603050405020304" pitchFamily="18" charset="0"/>
                <a:cs typeface="Times New Roman" panose="02020603050405020304" pitchFamily="18" charset="0"/>
              </a:rPr>
              <a:t>customer_id</a:t>
            </a:r>
            <a:r>
              <a:rPr lang="en-US" sz="2800" dirty="0">
                <a:latin typeface="Times New Roman" panose="02020603050405020304" pitchFamily="18" charset="0"/>
                <a:cs typeface="Times New Roman" panose="02020603050405020304" pitchFamily="18" charset="0"/>
              </a:rPr>
              <a:t>) REFERENCES Customers(</a:t>
            </a:r>
            <a:r>
              <a:rPr lang="en-US" sz="2800" dirty="0" err="1">
                <a:latin typeface="Times New Roman" panose="02020603050405020304" pitchFamily="18" charset="0"/>
                <a:cs typeface="Times New Roman" panose="02020603050405020304" pitchFamily="18" charset="0"/>
              </a:rPr>
              <a:t>customer_id</a:t>
            </a:r>
            <a:r>
              <a:rPr lang="en-US" sz="2800" dirty="0">
                <a:latin typeface="Times New Roman" panose="02020603050405020304" pitchFamily="18" charset="0"/>
                <a:cs typeface="Times New Roman" panose="02020603050405020304" pitchFamily="18" charset="0"/>
              </a:rPr>
              <a:t>),    FOREIGN KEY (</a:t>
            </a:r>
            <a:r>
              <a:rPr lang="en-US" sz="2800" dirty="0" err="1">
                <a:latin typeface="Times New Roman" panose="02020603050405020304" pitchFamily="18" charset="0"/>
                <a:cs typeface="Times New Roman" panose="02020603050405020304" pitchFamily="18" charset="0"/>
              </a:rPr>
              <a:t>car_id</a:t>
            </a:r>
            <a:r>
              <a:rPr lang="en-US" sz="2800" dirty="0">
                <a:latin typeface="Times New Roman" panose="02020603050405020304" pitchFamily="18" charset="0"/>
                <a:cs typeface="Times New Roman" panose="02020603050405020304" pitchFamily="18" charset="0"/>
              </a:rPr>
              <a:t>) REFERENCES Cars(</a:t>
            </a:r>
            <a:r>
              <a:rPr lang="en-US" sz="2800" dirty="0" err="1">
                <a:latin typeface="Times New Roman" panose="02020603050405020304" pitchFamily="18" charset="0"/>
                <a:cs typeface="Times New Roman" panose="02020603050405020304" pitchFamily="18" charset="0"/>
              </a:rPr>
              <a:t>car_id</a:t>
            </a:r>
            <a:r>
              <a:rPr lang="en-US" sz="2800" dirty="0">
                <a:latin typeface="Times New Roman" panose="02020603050405020304" pitchFamily="18" charset="0"/>
                <a:cs typeface="Times New Roman" panose="02020603050405020304" pitchFamily="18" charset="0"/>
              </a:rPr>
              <a:t>));</a:t>
            </a:r>
            <a:endParaRPr lang="en-IN" sz="2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B71C33F-4214-B086-FA30-63DF044977F2}"/>
              </a:ext>
            </a:extLst>
          </p:cNvPr>
          <p:cNvPicPr>
            <a:picLocks noChangeAspect="1"/>
          </p:cNvPicPr>
          <p:nvPr/>
        </p:nvPicPr>
        <p:blipFill>
          <a:blip r:embed="rId2">
            <a:duotone>
              <a:prstClr val="black"/>
              <a:schemeClr val="bg2">
                <a:lumMod val="90000"/>
                <a:tint val="45000"/>
                <a:satMod val="400000"/>
              </a:schemeClr>
            </a:duotone>
          </a:blip>
          <a:stretch>
            <a:fillRect/>
          </a:stretch>
        </p:blipFill>
        <p:spPr>
          <a:xfrm>
            <a:off x="866101" y="2721649"/>
            <a:ext cx="7277072" cy="525780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535822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52478-E9F5-C7EA-F779-60F33C01D6E6}"/>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E734ABE2-CE2D-B03F-EA96-2810B5082760}"/>
              </a:ext>
            </a:extLst>
          </p:cNvPr>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a:endParaRPr/>
          </a:p>
        </p:txBody>
      </p:sp>
      <p:grpSp>
        <p:nvGrpSpPr>
          <p:cNvPr id="7" name="object 7">
            <a:extLst>
              <a:ext uri="{FF2B5EF4-FFF2-40B4-BE49-F238E27FC236}">
                <a16:creationId xmlns:a16="http://schemas.microsoft.com/office/drawing/2014/main" id="{BC2BFC1D-F207-BBB7-7FB6-8FD44BE55CF8}"/>
              </a:ext>
            </a:extLst>
          </p:cNvPr>
          <p:cNvGrpSpPr/>
          <p:nvPr/>
        </p:nvGrpSpPr>
        <p:grpSpPr>
          <a:xfrm>
            <a:off x="0" y="9718118"/>
            <a:ext cx="18288000" cy="568960"/>
            <a:chOff x="0" y="9718118"/>
            <a:chExt cx="18288000" cy="568960"/>
          </a:xfrm>
        </p:grpSpPr>
        <p:sp>
          <p:nvSpPr>
            <p:cNvPr id="8" name="object 8">
              <a:extLst>
                <a:ext uri="{FF2B5EF4-FFF2-40B4-BE49-F238E27FC236}">
                  <a16:creationId xmlns:a16="http://schemas.microsoft.com/office/drawing/2014/main" id="{DE1D91AB-B1BA-0FC8-3506-3679AF5D223C}"/>
                </a:ext>
              </a:extLst>
            </p:cNvPr>
            <p:cNvSpPr/>
            <p:nvPr/>
          </p:nvSpPr>
          <p:spPr>
            <a:xfrm>
              <a:off x="0" y="9889568"/>
              <a:ext cx="18288000" cy="397510"/>
            </a:xfrm>
            <a:custGeom>
              <a:avLst/>
              <a:gdLst/>
              <a:ahLst/>
              <a:cxnLst/>
              <a:rect l="l" t="t" r="r" b="b"/>
              <a:pathLst>
                <a:path w="18288000" h="397509">
                  <a:moveTo>
                    <a:pt x="0" y="397431"/>
                  </a:moveTo>
                  <a:lnTo>
                    <a:pt x="18288000" y="397431"/>
                  </a:lnTo>
                  <a:lnTo>
                    <a:pt x="18288000" y="0"/>
                  </a:lnTo>
                  <a:lnTo>
                    <a:pt x="0" y="0"/>
                  </a:lnTo>
                  <a:lnTo>
                    <a:pt x="0" y="397431"/>
                  </a:lnTo>
                  <a:close/>
                </a:path>
              </a:pathLst>
            </a:custGeom>
            <a:solidFill>
              <a:srgbClr val="FAE7BC"/>
            </a:solidFill>
          </p:spPr>
          <p:txBody>
            <a:bodyPr wrap="square" lIns="0" tIns="0" rIns="0" bIns="0" rtlCol="0"/>
            <a:lstStyle/>
            <a:p>
              <a:endParaRPr/>
            </a:p>
          </p:txBody>
        </p:sp>
        <p:sp>
          <p:nvSpPr>
            <p:cNvPr id="9" name="object 9">
              <a:extLst>
                <a:ext uri="{FF2B5EF4-FFF2-40B4-BE49-F238E27FC236}">
                  <a16:creationId xmlns:a16="http://schemas.microsoft.com/office/drawing/2014/main" id="{078E58E9-3C2C-441C-60B3-A26FF411BF42}"/>
                </a:ext>
              </a:extLst>
            </p:cNvPr>
            <p:cNvSpPr/>
            <p:nvPr/>
          </p:nvSpPr>
          <p:spPr>
            <a:xfrm>
              <a:off x="0" y="9718118"/>
              <a:ext cx="18288000" cy="171450"/>
            </a:xfrm>
            <a:custGeom>
              <a:avLst/>
              <a:gdLst/>
              <a:ahLst/>
              <a:cxnLst/>
              <a:rect l="l" t="t" r="r" b="b"/>
              <a:pathLst>
                <a:path w="18288000" h="171450">
                  <a:moveTo>
                    <a:pt x="0" y="0"/>
                  </a:moveTo>
                  <a:lnTo>
                    <a:pt x="18287999" y="0"/>
                  </a:lnTo>
                  <a:lnTo>
                    <a:pt x="18287999" y="171449"/>
                  </a:lnTo>
                  <a:lnTo>
                    <a:pt x="0" y="171449"/>
                  </a:lnTo>
                  <a:lnTo>
                    <a:pt x="0" y="0"/>
                  </a:lnTo>
                  <a:close/>
                </a:path>
              </a:pathLst>
            </a:custGeom>
            <a:solidFill>
              <a:srgbClr val="494848"/>
            </a:solidFill>
          </p:spPr>
          <p:txBody>
            <a:bodyPr wrap="square" lIns="0" tIns="0" rIns="0" bIns="0" rtlCol="0"/>
            <a:lstStyle/>
            <a:p>
              <a:endParaRPr/>
            </a:p>
          </p:txBody>
        </p:sp>
      </p:grpSp>
      <p:sp>
        <p:nvSpPr>
          <p:cNvPr id="10" name="object 10">
            <a:extLst>
              <a:ext uri="{FF2B5EF4-FFF2-40B4-BE49-F238E27FC236}">
                <a16:creationId xmlns:a16="http://schemas.microsoft.com/office/drawing/2014/main" id="{DC3E653F-0599-1F46-9007-294325EF1C76}"/>
              </a:ext>
            </a:extLst>
          </p:cNvPr>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a:endParaRPr/>
          </a:p>
        </p:txBody>
      </p:sp>
      <p:sp>
        <p:nvSpPr>
          <p:cNvPr id="13" name="TextBox 12">
            <a:extLst>
              <a:ext uri="{FF2B5EF4-FFF2-40B4-BE49-F238E27FC236}">
                <a16:creationId xmlns:a16="http://schemas.microsoft.com/office/drawing/2014/main" id="{733390EF-CBBF-8A34-A312-C8E6A6C7F0AE}"/>
              </a:ext>
            </a:extLst>
          </p:cNvPr>
          <p:cNvSpPr txBox="1"/>
          <p:nvPr/>
        </p:nvSpPr>
        <p:spPr>
          <a:xfrm>
            <a:off x="7467600" y="1256715"/>
            <a:ext cx="3810000" cy="646331"/>
          </a:xfrm>
          <a:prstGeom prst="rect">
            <a:avLst/>
          </a:prstGeom>
          <a:noFill/>
        </p:spPr>
        <p:txBody>
          <a:bodyPr wrap="square" rtlCol="0">
            <a:spAutoFit/>
          </a:bodyPr>
          <a:lstStyle/>
          <a:p>
            <a:pPr algn="ctr"/>
            <a:r>
              <a:rPr lang="en-IN" sz="36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Payment</a:t>
            </a:r>
            <a:r>
              <a:rPr lang="en-IN" sz="3600" b="1" u="sng" dirty="0">
                <a:latin typeface="Times New Roman" panose="02020603050405020304" pitchFamily="18" charset="0"/>
                <a:cs typeface="Times New Roman" panose="02020603050405020304" pitchFamily="18" charset="0"/>
              </a:rPr>
              <a:t> Table</a:t>
            </a:r>
          </a:p>
        </p:txBody>
      </p:sp>
      <p:sp>
        <p:nvSpPr>
          <p:cNvPr id="12" name="TextBox 11">
            <a:extLst>
              <a:ext uri="{FF2B5EF4-FFF2-40B4-BE49-F238E27FC236}">
                <a16:creationId xmlns:a16="http://schemas.microsoft.com/office/drawing/2014/main" id="{89C50A12-48E8-A864-6014-BCC01481588E}"/>
              </a:ext>
            </a:extLst>
          </p:cNvPr>
          <p:cNvSpPr txBox="1"/>
          <p:nvPr/>
        </p:nvSpPr>
        <p:spPr>
          <a:xfrm>
            <a:off x="8396286" y="2672834"/>
            <a:ext cx="9144000" cy="1200329"/>
          </a:xfrm>
          <a:prstGeom prst="rect">
            <a:avLst/>
          </a:prstGeom>
          <a:noFill/>
        </p:spPr>
        <p:txBody>
          <a:bodyPr wrap="square">
            <a:spAutoFit/>
          </a:bodyPr>
          <a:lstStyle/>
          <a:p>
            <a:r>
              <a:rPr lang="en-US" sz="3600" b="1" dirty="0">
                <a:latin typeface="Times New Roman" panose="02020603050405020304" pitchFamily="18" charset="0"/>
                <a:cs typeface="Times New Roman" panose="02020603050405020304" pitchFamily="18" charset="0"/>
              </a:rPr>
              <a:t>Payments Table</a:t>
            </a:r>
            <a:r>
              <a:rPr lang="en-US" sz="3600" dirty="0">
                <a:latin typeface="Times New Roman" panose="02020603050405020304" pitchFamily="18" charset="0"/>
                <a:cs typeface="Times New Roman" panose="02020603050405020304" pitchFamily="18" charset="0"/>
              </a:rPr>
              <a:t> → Manages payment details for each rental.</a:t>
            </a:r>
            <a:endParaRPr lang="en-IN" sz="36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58B4AEC7-65E2-9323-FFE8-3D4DF143C155}"/>
              </a:ext>
            </a:extLst>
          </p:cNvPr>
          <p:cNvSpPr txBox="1"/>
          <p:nvPr/>
        </p:nvSpPr>
        <p:spPr>
          <a:xfrm>
            <a:off x="8386761" y="3839825"/>
            <a:ext cx="9144000" cy="4524315"/>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CREATE TABLE Payments (    </a:t>
            </a:r>
            <a:r>
              <a:rPr lang="en-US" sz="2400" dirty="0" err="1">
                <a:latin typeface="Times New Roman" panose="02020603050405020304" pitchFamily="18" charset="0"/>
                <a:cs typeface="Times New Roman" panose="02020603050405020304" pitchFamily="18" charset="0"/>
              </a:rPr>
              <a:t>payment_id</a:t>
            </a:r>
            <a:r>
              <a:rPr lang="en-US" sz="2400" dirty="0">
                <a:latin typeface="Times New Roman" panose="02020603050405020304" pitchFamily="18" charset="0"/>
                <a:cs typeface="Times New Roman" panose="02020603050405020304" pitchFamily="18" charset="0"/>
              </a:rPr>
              <a:t> INT PRIMARY KEY AUTO_INCREMENT,    </a:t>
            </a:r>
          </a:p>
          <a:p>
            <a:r>
              <a:rPr lang="en-US" sz="2400" dirty="0" err="1">
                <a:latin typeface="Times New Roman" panose="02020603050405020304" pitchFamily="18" charset="0"/>
                <a:cs typeface="Times New Roman" panose="02020603050405020304" pitchFamily="18" charset="0"/>
              </a:rPr>
              <a:t>rental_id</a:t>
            </a:r>
            <a:r>
              <a:rPr lang="en-US" sz="2400" dirty="0">
                <a:latin typeface="Times New Roman" panose="02020603050405020304" pitchFamily="18" charset="0"/>
                <a:cs typeface="Times New Roman" panose="02020603050405020304" pitchFamily="18" charset="0"/>
              </a:rPr>
              <a:t> INT,    </a:t>
            </a:r>
          </a:p>
          <a:p>
            <a:r>
              <a:rPr lang="en-US" sz="2400" dirty="0" err="1">
                <a:latin typeface="Times New Roman" panose="02020603050405020304" pitchFamily="18" charset="0"/>
                <a:cs typeface="Times New Roman" panose="02020603050405020304" pitchFamily="18" charset="0"/>
              </a:rPr>
              <a:t>customer_id</a:t>
            </a:r>
            <a:r>
              <a:rPr lang="en-US" sz="2400" dirty="0">
                <a:latin typeface="Times New Roman" panose="02020603050405020304" pitchFamily="18" charset="0"/>
                <a:cs typeface="Times New Roman" panose="02020603050405020304" pitchFamily="18" charset="0"/>
              </a:rPr>
              <a:t> INT,    </a:t>
            </a:r>
          </a:p>
          <a:p>
            <a:r>
              <a:rPr lang="en-US" sz="2400" dirty="0" err="1">
                <a:latin typeface="Times New Roman" panose="02020603050405020304" pitchFamily="18" charset="0"/>
                <a:cs typeface="Times New Roman" panose="02020603050405020304" pitchFamily="18" charset="0"/>
              </a:rPr>
              <a:t>car_id</a:t>
            </a:r>
            <a:r>
              <a:rPr lang="en-US" sz="2400" dirty="0">
                <a:latin typeface="Times New Roman" panose="02020603050405020304" pitchFamily="18" charset="0"/>
                <a:cs typeface="Times New Roman" panose="02020603050405020304" pitchFamily="18" charset="0"/>
              </a:rPr>
              <a:t> INT,    </a:t>
            </a:r>
          </a:p>
          <a:p>
            <a:r>
              <a:rPr lang="en-US" sz="2400" dirty="0" err="1">
                <a:latin typeface="Times New Roman" panose="02020603050405020304" pitchFamily="18" charset="0"/>
                <a:cs typeface="Times New Roman" panose="02020603050405020304" pitchFamily="18" charset="0"/>
              </a:rPr>
              <a:t>payment_date</a:t>
            </a:r>
            <a:r>
              <a:rPr lang="en-US" sz="2400" dirty="0">
                <a:latin typeface="Times New Roman" panose="02020603050405020304" pitchFamily="18" charset="0"/>
                <a:cs typeface="Times New Roman" panose="02020603050405020304" pitchFamily="18" charset="0"/>
              </a:rPr>
              <a:t> DATE,    </a:t>
            </a:r>
          </a:p>
          <a:p>
            <a:r>
              <a:rPr lang="en-US" sz="2400" dirty="0">
                <a:latin typeface="Times New Roman" panose="02020603050405020304" pitchFamily="18" charset="0"/>
                <a:cs typeface="Times New Roman" panose="02020603050405020304" pitchFamily="18" charset="0"/>
              </a:rPr>
              <a:t>amount DECIMAL(10,2),    </a:t>
            </a:r>
          </a:p>
          <a:p>
            <a:r>
              <a:rPr lang="en-US" sz="2400" dirty="0" err="1">
                <a:latin typeface="Times New Roman" panose="02020603050405020304" pitchFamily="18" charset="0"/>
                <a:cs typeface="Times New Roman" panose="02020603050405020304" pitchFamily="18" charset="0"/>
              </a:rPr>
              <a:t>payment_method</a:t>
            </a:r>
            <a:r>
              <a:rPr lang="en-US" sz="2400" dirty="0">
                <a:latin typeface="Times New Roman" panose="02020603050405020304" pitchFamily="18" charset="0"/>
                <a:cs typeface="Times New Roman" panose="02020603050405020304" pitchFamily="18" charset="0"/>
              </a:rPr>
              <a:t> VARCHAR(20),    </a:t>
            </a:r>
          </a:p>
          <a:p>
            <a:r>
              <a:rPr lang="en-US" sz="2400" dirty="0">
                <a:latin typeface="Times New Roman" panose="02020603050405020304" pitchFamily="18" charset="0"/>
                <a:cs typeface="Times New Roman" panose="02020603050405020304" pitchFamily="18" charset="0"/>
              </a:rPr>
              <a:t>FOREIGN KEY (</a:t>
            </a:r>
            <a:r>
              <a:rPr lang="en-US" sz="2400" dirty="0" err="1">
                <a:latin typeface="Times New Roman" panose="02020603050405020304" pitchFamily="18" charset="0"/>
                <a:cs typeface="Times New Roman" panose="02020603050405020304" pitchFamily="18" charset="0"/>
              </a:rPr>
              <a:t>rental_id</a:t>
            </a:r>
            <a:r>
              <a:rPr lang="en-US" sz="2400" dirty="0">
                <a:latin typeface="Times New Roman" panose="02020603050405020304" pitchFamily="18" charset="0"/>
                <a:cs typeface="Times New Roman" panose="02020603050405020304" pitchFamily="18" charset="0"/>
              </a:rPr>
              <a:t>) REFERENCES Rentals(</a:t>
            </a:r>
            <a:r>
              <a:rPr lang="en-US" sz="2400" dirty="0" err="1">
                <a:latin typeface="Times New Roman" panose="02020603050405020304" pitchFamily="18" charset="0"/>
                <a:cs typeface="Times New Roman" panose="02020603050405020304" pitchFamily="18" charset="0"/>
              </a:rPr>
              <a:t>rental_id</a:t>
            </a:r>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FOREIGN KEY (</a:t>
            </a:r>
            <a:r>
              <a:rPr lang="en-US" sz="2400" dirty="0" err="1">
                <a:latin typeface="Times New Roman" panose="02020603050405020304" pitchFamily="18" charset="0"/>
                <a:cs typeface="Times New Roman" panose="02020603050405020304" pitchFamily="18" charset="0"/>
              </a:rPr>
              <a:t>customer_id</a:t>
            </a:r>
            <a:r>
              <a:rPr lang="en-US" sz="2400" dirty="0">
                <a:latin typeface="Times New Roman" panose="02020603050405020304" pitchFamily="18" charset="0"/>
                <a:cs typeface="Times New Roman" panose="02020603050405020304" pitchFamily="18" charset="0"/>
              </a:rPr>
              <a:t>) REFERENCES Customers(</a:t>
            </a:r>
            <a:r>
              <a:rPr lang="en-US" sz="2400" dirty="0" err="1">
                <a:latin typeface="Times New Roman" panose="02020603050405020304" pitchFamily="18" charset="0"/>
                <a:cs typeface="Times New Roman" panose="02020603050405020304" pitchFamily="18" charset="0"/>
              </a:rPr>
              <a:t>customer_id</a:t>
            </a:r>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FOREIGN KEY (</a:t>
            </a:r>
            <a:r>
              <a:rPr lang="en-US" sz="2400" dirty="0" err="1">
                <a:latin typeface="Times New Roman" panose="02020603050405020304" pitchFamily="18" charset="0"/>
                <a:cs typeface="Times New Roman" panose="02020603050405020304" pitchFamily="18" charset="0"/>
              </a:rPr>
              <a:t>car_id</a:t>
            </a:r>
            <a:r>
              <a:rPr lang="en-US" sz="2400" dirty="0">
                <a:latin typeface="Times New Roman" panose="02020603050405020304" pitchFamily="18" charset="0"/>
                <a:cs typeface="Times New Roman" panose="02020603050405020304" pitchFamily="18" charset="0"/>
              </a:rPr>
              <a:t>) REFERENCES Cars(</a:t>
            </a:r>
            <a:r>
              <a:rPr lang="en-US" sz="2400" dirty="0" err="1">
                <a:latin typeface="Times New Roman" panose="02020603050405020304" pitchFamily="18" charset="0"/>
                <a:cs typeface="Times New Roman" panose="02020603050405020304" pitchFamily="18" charset="0"/>
              </a:rPr>
              <a:t>car_id</a:t>
            </a:r>
            <a:r>
              <a:rPr lang="en-US"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07A038E-B0F6-F57F-C5BF-7FB0C548D97E}"/>
              </a:ext>
            </a:extLst>
          </p:cNvPr>
          <p:cNvPicPr>
            <a:picLocks noChangeAspect="1"/>
          </p:cNvPicPr>
          <p:nvPr/>
        </p:nvPicPr>
        <p:blipFill>
          <a:blip r:embed="rId2">
            <a:duotone>
              <a:prstClr val="black"/>
              <a:schemeClr val="bg2">
                <a:lumMod val="90000"/>
                <a:tint val="45000"/>
                <a:satMod val="400000"/>
              </a:schemeClr>
            </a:duotone>
          </a:blip>
          <a:stretch>
            <a:fillRect/>
          </a:stretch>
        </p:blipFill>
        <p:spPr>
          <a:xfrm>
            <a:off x="1028727" y="2672834"/>
            <a:ext cx="6591273" cy="4985266"/>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591415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65203-92E0-E483-AC2E-EBCBEB10EF32}"/>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DAFF0CF4-31E8-E007-7157-B078EE3386E0}"/>
              </a:ext>
            </a:extLst>
          </p:cNvPr>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a:endParaRPr/>
          </a:p>
        </p:txBody>
      </p:sp>
      <p:grpSp>
        <p:nvGrpSpPr>
          <p:cNvPr id="7" name="object 7">
            <a:extLst>
              <a:ext uri="{FF2B5EF4-FFF2-40B4-BE49-F238E27FC236}">
                <a16:creationId xmlns:a16="http://schemas.microsoft.com/office/drawing/2014/main" id="{A5865B19-0112-B4C6-8C76-1CDBCCF4A79B}"/>
              </a:ext>
            </a:extLst>
          </p:cNvPr>
          <p:cNvGrpSpPr/>
          <p:nvPr/>
        </p:nvGrpSpPr>
        <p:grpSpPr>
          <a:xfrm>
            <a:off x="0" y="9718118"/>
            <a:ext cx="18288000" cy="568960"/>
            <a:chOff x="0" y="9718118"/>
            <a:chExt cx="18288000" cy="568960"/>
          </a:xfrm>
        </p:grpSpPr>
        <p:sp>
          <p:nvSpPr>
            <p:cNvPr id="8" name="object 8">
              <a:extLst>
                <a:ext uri="{FF2B5EF4-FFF2-40B4-BE49-F238E27FC236}">
                  <a16:creationId xmlns:a16="http://schemas.microsoft.com/office/drawing/2014/main" id="{7436C9C9-8715-57E0-EE0B-5CCD497234BD}"/>
                </a:ext>
              </a:extLst>
            </p:cNvPr>
            <p:cNvSpPr/>
            <p:nvPr/>
          </p:nvSpPr>
          <p:spPr>
            <a:xfrm>
              <a:off x="0" y="9889568"/>
              <a:ext cx="18288000" cy="397510"/>
            </a:xfrm>
            <a:custGeom>
              <a:avLst/>
              <a:gdLst/>
              <a:ahLst/>
              <a:cxnLst/>
              <a:rect l="l" t="t" r="r" b="b"/>
              <a:pathLst>
                <a:path w="18288000" h="397509">
                  <a:moveTo>
                    <a:pt x="0" y="397431"/>
                  </a:moveTo>
                  <a:lnTo>
                    <a:pt x="18288000" y="397431"/>
                  </a:lnTo>
                  <a:lnTo>
                    <a:pt x="18288000" y="0"/>
                  </a:lnTo>
                  <a:lnTo>
                    <a:pt x="0" y="0"/>
                  </a:lnTo>
                  <a:lnTo>
                    <a:pt x="0" y="397431"/>
                  </a:lnTo>
                  <a:close/>
                </a:path>
              </a:pathLst>
            </a:custGeom>
            <a:solidFill>
              <a:srgbClr val="FAE7BC"/>
            </a:solidFill>
          </p:spPr>
          <p:txBody>
            <a:bodyPr wrap="square" lIns="0" tIns="0" rIns="0" bIns="0" rtlCol="0"/>
            <a:lstStyle/>
            <a:p>
              <a:endParaRPr/>
            </a:p>
          </p:txBody>
        </p:sp>
        <p:sp>
          <p:nvSpPr>
            <p:cNvPr id="9" name="object 9">
              <a:extLst>
                <a:ext uri="{FF2B5EF4-FFF2-40B4-BE49-F238E27FC236}">
                  <a16:creationId xmlns:a16="http://schemas.microsoft.com/office/drawing/2014/main" id="{D2890986-B84C-32F0-45D7-D0145B99ECE1}"/>
                </a:ext>
              </a:extLst>
            </p:cNvPr>
            <p:cNvSpPr/>
            <p:nvPr/>
          </p:nvSpPr>
          <p:spPr>
            <a:xfrm>
              <a:off x="0" y="9718118"/>
              <a:ext cx="18288000" cy="171450"/>
            </a:xfrm>
            <a:custGeom>
              <a:avLst/>
              <a:gdLst/>
              <a:ahLst/>
              <a:cxnLst/>
              <a:rect l="l" t="t" r="r" b="b"/>
              <a:pathLst>
                <a:path w="18288000" h="171450">
                  <a:moveTo>
                    <a:pt x="0" y="0"/>
                  </a:moveTo>
                  <a:lnTo>
                    <a:pt x="18287999" y="0"/>
                  </a:lnTo>
                  <a:lnTo>
                    <a:pt x="18287999" y="171449"/>
                  </a:lnTo>
                  <a:lnTo>
                    <a:pt x="0" y="171449"/>
                  </a:lnTo>
                  <a:lnTo>
                    <a:pt x="0" y="0"/>
                  </a:lnTo>
                  <a:close/>
                </a:path>
              </a:pathLst>
            </a:custGeom>
            <a:solidFill>
              <a:srgbClr val="494848"/>
            </a:solidFill>
          </p:spPr>
          <p:txBody>
            <a:bodyPr wrap="square" lIns="0" tIns="0" rIns="0" bIns="0" rtlCol="0"/>
            <a:lstStyle/>
            <a:p>
              <a:endParaRPr/>
            </a:p>
          </p:txBody>
        </p:sp>
      </p:grpSp>
      <p:sp>
        <p:nvSpPr>
          <p:cNvPr id="10" name="object 10">
            <a:extLst>
              <a:ext uri="{FF2B5EF4-FFF2-40B4-BE49-F238E27FC236}">
                <a16:creationId xmlns:a16="http://schemas.microsoft.com/office/drawing/2014/main" id="{97A72C42-C04D-F89B-D11D-3FF287A46552}"/>
              </a:ext>
            </a:extLst>
          </p:cNvPr>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a:endParaRPr/>
          </a:p>
        </p:txBody>
      </p:sp>
      <p:sp>
        <p:nvSpPr>
          <p:cNvPr id="13" name="TextBox 12">
            <a:extLst>
              <a:ext uri="{FF2B5EF4-FFF2-40B4-BE49-F238E27FC236}">
                <a16:creationId xmlns:a16="http://schemas.microsoft.com/office/drawing/2014/main" id="{BC37CBFD-6C23-37B3-1868-B73E3E4686B3}"/>
              </a:ext>
            </a:extLst>
          </p:cNvPr>
          <p:cNvSpPr txBox="1"/>
          <p:nvPr/>
        </p:nvSpPr>
        <p:spPr>
          <a:xfrm>
            <a:off x="7467600" y="1256715"/>
            <a:ext cx="3810000" cy="646331"/>
          </a:xfrm>
          <a:prstGeom prst="rect">
            <a:avLst/>
          </a:prstGeom>
          <a:noFill/>
        </p:spPr>
        <p:txBody>
          <a:bodyPr wrap="square" rtlCol="0">
            <a:spAutoFit/>
          </a:bodyPr>
          <a:lstStyle/>
          <a:p>
            <a:pPr algn="ctr"/>
            <a:r>
              <a:rPr lang="en-IN" sz="36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Insurance</a:t>
            </a:r>
            <a:r>
              <a:rPr lang="en-IN" sz="3600" b="1" u="sng" dirty="0">
                <a:latin typeface="Times New Roman" panose="02020603050405020304" pitchFamily="18" charset="0"/>
                <a:cs typeface="Times New Roman" panose="02020603050405020304" pitchFamily="18" charset="0"/>
              </a:rPr>
              <a:t> Table</a:t>
            </a:r>
          </a:p>
        </p:txBody>
      </p:sp>
      <p:sp>
        <p:nvSpPr>
          <p:cNvPr id="12" name="TextBox 11">
            <a:extLst>
              <a:ext uri="{FF2B5EF4-FFF2-40B4-BE49-F238E27FC236}">
                <a16:creationId xmlns:a16="http://schemas.microsoft.com/office/drawing/2014/main" id="{772CC8D9-4F8C-D324-E756-602A0CB6E48D}"/>
              </a:ext>
            </a:extLst>
          </p:cNvPr>
          <p:cNvSpPr txBox="1"/>
          <p:nvPr/>
        </p:nvSpPr>
        <p:spPr>
          <a:xfrm>
            <a:off x="8386761" y="2391916"/>
            <a:ext cx="9144000" cy="954107"/>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Insurance Table</a:t>
            </a:r>
            <a:r>
              <a:rPr lang="en-US" sz="2800" dirty="0">
                <a:latin typeface="Times New Roman" panose="02020603050405020304" pitchFamily="18" charset="0"/>
                <a:cs typeface="Times New Roman" panose="02020603050405020304" pitchFamily="18" charset="0"/>
              </a:rPr>
              <a:t> → Stores insurance details linking cars, customers, and rentals.</a:t>
            </a:r>
            <a:endParaRPr lang="en-IN" sz="28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8151B279-AF6E-4320-DF2E-B0939B0D6D49}"/>
              </a:ext>
            </a:extLst>
          </p:cNvPr>
          <p:cNvSpPr txBox="1"/>
          <p:nvPr/>
        </p:nvSpPr>
        <p:spPr>
          <a:xfrm>
            <a:off x="8386761" y="3839825"/>
            <a:ext cx="9144000" cy="4524315"/>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CREATE TABLE Payments (    </a:t>
            </a:r>
            <a:r>
              <a:rPr lang="en-US" sz="2400" dirty="0" err="1">
                <a:latin typeface="Times New Roman" panose="02020603050405020304" pitchFamily="18" charset="0"/>
                <a:cs typeface="Times New Roman" panose="02020603050405020304" pitchFamily="18" charset="0"/>
              </a:rPr>
              <a:t>payment_id</a:t>
            </a:r>
            <a:r>
              <a:rPr lang="en-US" sz="2400" dirty="0">
                <a:latin typeface="Times New Roman" panose="02020603050405020304" pitchFamily="18" charset="0"/>
                <a:cs typeface="Times New Roman" panose="02020603050405020304" pitchFamily="18" charset="0"/>
              </a:rPr>
              <a:t> INT PRIMARY KEY AUTO_INCREMENT,    </a:t>
            </a:r>
          </a:p>
          <a:p>
            <a:r>
              <a:rPr lang="en-US" sz="2400" dirty="0" err="1">
                <a:latin typeface="Times New Roman" panose="02020603050405020304" pitchFamily="18" charset="0"/>
                <a:cs typeface="Times New Roman" panose="02020603050405020304" pitchFamily="18" charset="0"/>
              </a:rPr>
              <a:t>rental_id</a:t>
            </a:r>
            <a:r>
              <a:rPr lang="en-US" sz="2400" dirty="0">
                <a:latin typeface="Times New Roman" panose="02020603050405020304" pitchFamily="18" charset="0"/>
                <a:cs typeface="Times New Roman" panose="02020603050405020304" pitchFamily="18" charset="0"/>
              </a:rPr>
              <a:t> INT,    </a:t>
            </a:r>
          </a:p>
          <a:p>
            <a:r>
              <a:rPr lang="en-US" sz="2400" dirty="0" err="1">
                <a:latin typeface="Times New Roman" panose="02020603050405020304" pitchFamily="18" charset="0"/>
                <a:cs typeface="Times New Roman" panose="02020603050405020304" pitchFamily="18" charset="0"/>
              </a:rPr>
              <a:t>customer_id</a:t>
            </a:r>
            <a:r>
              <a:rPr lang="en-US" sz="2400" dirty="0">
                <a:latin typeface="Times New Roman" panose="02020603050405020304" pitchFamily="18" charset="0"/>
                <a:cs typeface="Times New Roman" panose="02020603050405020304" pitchFamily="18" charset="0"/>
              </a:rPr>
              <a:t> INT,    </a:t>
            </a:r>
          </a:p>
          <a:p>
            <a:r>
              <a:rPr lang="en-US" sz="2400" dirty="0" err="1">
                <a:latin typeface="Times New Roman" panose="02020603050405020304" pitchFamily="18" charset="0"/>
                <a:cs typeface="Times New Roman" panose="02020603050405020304" pitchFamily="18" charset="0"/>
              </a:rPr>
              <a:t>car_id</a:t>
            </a:r>
            <a:r>
              <a:rPr lang="en-US" sz="2400" dirty="0">
                <a:latin typeface="Times New Roman" panose="02020603050405020304" pitchFamily="18" charset="0"/>
                <a:cs typeface="Times New Roman" panose="02020603050405020304" pitchFamily="18" charset="0"/>
              </a:rPr>
              <a:t> INT,    </a:t>
            </a:r>
          </a:p>
          <a:p>
            <a:r>
              <a:rPr lang="en-US" sz="2400" dirty="0" err="1">
                <a:latin typeface="Times New Roman" panose="02020603050405020304" pitchFamily="18" charset="0"/>
                <a:cs typeface="Times New Roman" panose="02020603050405020304" pitchFamily="18" charset="0"/>
              </a:rPr>
              <a:t>payment_date</a:t>
            </a:r>
            <a:r>
              <a:rPr lang="en-US" sz="2400" dirty="0">
                <a:latin typeface="Times New Roman" panose="02020603050405020304" pitchFamily="18" charset="0"/>
                <a:cs typeface="Times New Roman" panose="02020603050405020304" pitchFamily="18" charset="0"/>
              </a:rPr>
              <a:t> DATE,    </a:t>
            </a:r>
          </a:p>
          <a:p>
            <a:r>
              <a:rPr lang="en-US" sz="2400" dirty="0">
                <a:latin typeface="Times New Roman" panose="02020603050405020304" pitchFamily="18" charset="0"/>
                <a:cs typeface="Times New Roman" panose="02020603050405020304" pitchFamily="18" charset="0"/>
              </a:rPr>
              <a:t>amount DECIMAL(10,2),    </a:t>
            </a:r>
          </a:p>
          <a:p>
            <a:r>
              <a:rPr lang="en-US" sz="2400" dirty="0" err="1">
                <a:latin typeface="Times New Roman" panose="02020603050405020304" pitchFamily="18" charset="0"/>
                <a:cs typeface="Times New Roman" panose="02020603050405020304" pitchFamily="18" charset="0"/>
              </a:rPr>
              <a:t>payment_method</a:t>
            </a:r>
            <a:r>
              <a:rPr lang="en-US" sz="2400" dirty="0">
                <a:latin typeface="Times New Roman" panose="02020603050405020304" pitchFamily="18" charset="0"/>
                <a:cs typeface="Times New Roman" panose="02020603050405020304" pitchFamily="18" charset="0"/>
              </a:rPr>
              <a:t> VARCHAR(20),    </a:t>
            </a:r>
          </a:p>
          <a:p>
            <a:r>
              <a:rPr lang="en-US" sz="2400" dirty="0">
                <a:latin typeface="Times New Roman" panose="02020603050405020304" pitchFamily="18" charset="0"/>
                <a:cs typeface="Times New Roman" panose="02020603050405020304" pitchFamily="18" charset="0"/>
              </a:rPr>
              <a:t>FOREIGN KEY (</a:t>
            </a:r>
            <a:r>
              <a:rPr lang="en-US" sz="2400" dirty="0" err="1">
                <a:latin typeface="Times New Roman" panose="02020603050405020304" pitchFamily="18" charset="0"/>
                <a:cs typeface="Times New Roman" panose="02020603050405020304" pitchFamily="18" charset="0"/>
              </a:rPr>
              <a:t>rental_id</a:t>
            </a:r>
            <a:r>
              <a:rPr lang="en-US" sz="2400" dirty="0">
                <a:latin typeface="Times New Roman" panose="02020603050405020304" pitchFamily="18" charset="0"/>
                <a:cs typeface="Times New Roman" panose="02020603050405020304" pitchFamily="18" charset="0"/>
              </a:rPr>
              <a:t>) REFERENCES Rentals(</a:t>
            </a:r>
            <a:r>
              <a:rPr lang="en-US" sz="2400" dirty="0" err="1">
                <a:latin typeface="Times New Roman" panose="02020603050405020304" pitchFamily="18" charset="0"/>
                <a:cs typeface="Times New Roman" panose="02020603050405020304" pitchFamily="18" charset="0"/>
              </a:rPr>
              <a:t>rental_id</a:t>
            </a:r>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FOREIGN KEY (</a:t>
            </a:r>
            <a:r>
              <a:rPr lang="en-US" sz="2400" dirty="0" err="1">
                <a:latin typeface="Times New Roman" panose="02020603050405020304" pitchFamily="18" charset="0"/>
                <a:cs typeface="Times New Roman" panose="02020603050405020304" pitchFamily="18" charset="0"/>
              </a:rPr>
              <a:t>customer_id</a:t>
            </a:r>
            <a:r>
              <a:rPr lang="en-US" sz="2400" dirty="0">
                <a:latin typeface="Times New Roman" panose="02020603050405020304" pitchFamily="18" charset="0"/>
                <a:cs typeface="Times New Roman" panose="02020603050405020304" pitchFamily="18" charset="0"/>
              </a:rPr>
              <a:t>) REFERENCES Customers(</a:t>
            </a:r>
            <a:r>
              <a:rPr lang="en-US" sz="2400" dirty="0" err="1">
                <a:latin typeface="Times New Roman" panose="02020603050405020304" pitchFamily="18" charset="0"/>
                <a:cs typeface="Times New Roman" panose="02020603050405020304" pitchFamily="18" charset="0"/>
              </a:rPr>
              <a:t>customer_id</a:t>
            </a:r>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FOREIGN KEY (</a:t>
            </a:r>
            <a:r>
              <a:rPr lang="en-US" sz="2400" dirty="0" err="1">
                <a:latin typeface="Times New Roman" panose="02020603050405020304" pitchFamily="18" charset="0"/>
                <a:cs typeface="Times New Roman" panose="02020603050405020304" pitchFamily="18" charset="0"/>
              </a:rPr>
              <a:t>car_id</a:t>
            </a:r>
            <a:r>
              <a:rPr lang="en-US" sz="2400" dirty="0">
                <a:latin typeface="Times New Roman" panose="02020603050405020304" pitchFamily="18" charset="0"/>
                <a:cs typeface="Times New Roman" panose="02020603050405020304" pitchFamily="18" charset="0"/>
              </a:rPr>
              <a:t>) REFERENCES Cars(</a:t>
            </a:r>
            <a:r>
              <a:rPr lang="en-US" sz="2400" dirty="0" err="1">
                <a:latin typeface="Times New Roman" panose="02020603050405020304" pitchFamily="18" charset="0"/>
                <a:cs typeface="Times New Roman" panose="02020603050405020304" pitchFamily="18" charset="0"/>
              </a:rPr>
              <a:t>car_id</a:t>
            </a:r>
            <a:r>
              <a:rPr lang="en-US"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6711B9E-1D29-D2B0-6A3F-B9376D9B80D3}"/>
              </a:ext>
            </a:extLst>
          </p:cNvPr>
          <p:cNvPicPr>
            <a:picLocks noChangeAspect="1"/>
          </p:cNvPicPr>
          <p:nvPr/>
        </p:nvPicPr>
        <p:blipFill>
          <a:blip r:embed="rId2">
            <a:duotone>
              <a:prstClr val="black"/>
              <a:schemeClr val="bg2">
                <a:lumMod val="90000"/>
                <a:tint val="45000"/>
                <a:satMod val="400000"/>
              </a:schemeClr>
            </a:duotone>
          </a:blip>
          <a:stretch>
            <a:fillRect/>
          </a:stretch>
        </p:blipFill>
        <p:spPr>
          <a:xfrm>
            <a:off x="684451" y="2474089"/>
            <a:ext cx="7488000" cy="513808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90791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0F6CE-C978-ADBD-FF46-432AE60C259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7095989-92D6-34C5-E6F7-10638CA95590}"/>
              </a:ext>
            </a:extLst>
          </p:cNvPr>
          <p:cNvSpPr txBox="1">
            <a:spLocks noGrp="1"/>
          </p:cNvSpPr>
          <p:nvPr>
            <p:ph type="title"/>
          </p:nvPr>
        </p:nvSpPr>
        <p:spPr>
          <a:xfrm>
            <a:off x="5400000" y="140442"/>
            <a:ext cx="7488000" cy="842538"/>
          </a:xfrm>
          <a:prstGeom prst="rect">
            <a:avLst/>
          </a:prstGeom>
        </p:spPr>
        <p:txBody>
          <a:bodyPr vert="horz" wrap="square" lIns="0" tIns="11430" rIns="0" bIns="0" rtlCol="0">
            <a:spAutoFit/>
          </a:bodyPr>
          <a:lstStyle/>
          <a:p>
            <a:pPr marL="12700" algn="ctr">
              <a:lnSpc>
                <a:spcPct val="100000"/>
              </a:lnSpc>
              <a:spcBef>
                <a:spcPts val="90"/>
              </a:spcBef>
            </a:pPr>
            <a:r>
              <a:rPr lang="en-IN" sz="5400" spc="-99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CONTENTS   OF   TABLE</a:t>
            </a:r>
            <a:endParaRPr sz="5400" spc="-99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object 6">
            <a:extLst>
              <a:ext uri="{FF2B5EF4-FFF2-40B4-BE49-F238E27FC236}">
                <a16:creationId xmlns:a16="http://schemas.microsoft.com/office/drawing/2014/main" id="{AE922A58-1270-1D8D-6486-E720DF67A628}"/>
              </a:ext>
            </a:extLst>
          </p:cNvPr>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a:endParaRPr/>
          </a:p>
        </p:txBody>
      </p:sp>
      <p:grpSp>
        <p:nvGrpSpPr>
          <p:cNvPr id="7" name="object 7">
            <a:extLst>
              <a:ext uri="{FF2B5EF4-FFF2-40B4-BE49-F238E27FC236}">
                <a16:creationId xmlns:a16="http://schemas.microsoft.com/office/drawing/2014/main" id="{3582BDE3-B3DE-A68F-F6A7-0146F8D1C738}"/>
              </a:ext>
            </a:extLst>
          </p:cNvPr>
          <p:cNvGrpSpPr/>
          <p:nvPr/>
        </p:nvGrpSpPr>
        <p:grpSpPr>
          <a:xfrm>
            <a:off x="0" y="9718118"/>
            <a:ext cx="18288000" cy="568960"/>
            <a:chOff x="0" y="9718118"/>
            <a:chExt cx="18288000" cy="568960"/>
          </a:xfrm>
        </p:grpSpPr>
        <p:sp>
          <p:nvSpPr>
            <p:cNvPr id="8" name="object 8">
              <a:extLst>
                <a:ext uri="{FF2B5EF4-FFF2-40B4-BE49-F238E27FC236}">
                  <a16:creationId xmlns:a16="http://schemas.microsoft.com/office/drawing/2014/main" id="{D7DC7667-8F3B-1782-EACC-A46A14651FD8}"/>
                </a:ext>
              </a:extLst>
            </p:cNvPr>
            <p:cNvSpPr/>
            <p:nvPr/>
          </p:nvSpPr>
          <p:spPr>
            <a:xfrm>
              <a:off x="0" y="9889568"/>
              <a:ext cx="18288000" cy="397510"/>
            </a:xfrm>
            <a:custGeom>
              <a:avLst/>
              <a:gdLst/>
              <a:ahLst/>
              <a:cxnLst/>
              <a:rect l="l" t="t" r="r" b="b"/>
              <a:pathLst>
                <a:path w="18288000" h="397509">
                  <a:moveTo>
                    <a:pt x="0" y="397431"/>
                  </a:moveTo>
                  <a:lnTo>
                    <a:pt x="18288000" y="397431"/>
                  </a:lnTo>
                  <a:lnTo>
                    <a:pt x="18288000" y="0"/>
                  </a:lnTo>
                  <a:lnTo>
                    <a:pt x="0" y="0"/>
                  </a:lnTo>
                  <a:lnTo>
                    <a:pt x="0" y="397431"/>
                  </a:lnTo>
                  <a:close/>
                </a:path>
              </a:pathLst>
            </a:custGeom>
            <a:solidFill>
              <a:srgbClr val="FAE7BC"/>
            </a:solidFill>
          </p:spPr>
          <p:txBody>
            <a:bodyPr wrap="square" lIns="0" tIns="0" rIns="0" bIns="0" rtlCol="0"/>
            <a:lstStyle/>
            <a:p>
              <a:endParaRPr/>
            </a:p>
          </p:txBody>
        </p:sp>
        <p:sp>
          <p:nvSpPr>
            <p:cNvPr id="9" name="object 9">
              <a:extLst>
                <a:ext uri="{FF2B5EF4-FFF2-40B4-BE49-F238E27FC236}">
                  <a16:creationId xmlns:a16="http://schemas.microsoft.com/office/drawing/2014/main" id="{2E736122-519B-35F3-F08E-D39B0E578550}"/>
                </a:ext>
              </a:extLst>
            </p:cNvPr>
            <p:cNvSpPr/>
            <p:nvPr/>
          </p:nvSpPr>
          <p:spPr>
            <a:xfrm>
              <a:off x="0" y="9718118"/>
              <a:ext cx="18288000" cy="171450"/>
            </a:xfrm>
            <a:custGeom>
              <a:avLst/>
              <a:gdLst/>
              <a:ahLst/>
              <a:cxnLst/>
              <a:rect l="l" t="t" r="r" b="b"/>
              <a:pathLst>
                <a:path w="18288000" h="171450">
                  <a:moveTo>
                    <a:pt x="0" y="0"/>
                  </a:moveTo>
                  <a:lnTo>
                    <a:pt x="18287999" y="0"/>
                  </a:lnTo>
                  <a:lnTo>
                    <a:pt x="18287999" y="171449"/>
                  </a:lnTo>
                  <a:lnTo>
                    <a:pt x="0" y="171449"/>
                  </a:lnTo>
                  <a:lnTo>
                    <a:pt x="0" y="0"/>
                  </a:lnTo>
                  <a:close/>
                </a:path>
              </a:pathLst>
            </a:custGeom>
            <a:solidFill>
              <a:srgbClr val="494848"/>
            </a:solidFill>
          </p:spPr>
          <p:txBody>
            <a:bodyPr wrap="square" lIns="0" tIns="0" rIns="0" bIns="0" rtlCol="0"/>
            <a:lstStyle/>
            <a:p>
              <a:endParaRPr/>
            </a:p>
          </p:txBody>
        </p:sp>
      </p:grpSp>
      <p:sp>
        <p:nvSpPr>
          <p:cNvPr id="10" name="object 10">
            <a:extLst>
              <a:ext uri="{FF2B5EF4-FFF2-40B4-BE49-F238E27FC236}">
                <a16:creationId xmlns:a16="http://schemas.microsoft.com/office/drawing/2014/main" id="{FE6D3096-BE20-B4C9-3279-77652495F7D6}"/>
              </a:ext>
            </a:extLst>
          </p:cNvPr>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a:endParaRPr/>
          </a:p>
        </p:txBody>
      </p:sp>
      <p:pic>
        <p:nvPicPr>
          <p:cNvPr id="4" name="Picture 3">
            <a:extLst>
              <a:ext uri="{FF2B5EF4-FFF2-40B4-BE49-F238E27FC236}">
                <a16:creationId xmlns:a16="http://schemas.microsoft.com/office/drawing/2014/main" id="{F0DF8FF7-221E-169E-4468-EC590DA56BF0}"/>
              </a:ext>
            </a:extLst>
          </p:cNvPr>
          <p:cNvPicPr>
            <a:picLocks noChangeAspect="1"/>
          </p:cNvPicPr>
          <p:nvPr/>
        </p:nvPicPr>
        <p:blipFill>
          <a:blip r:embed="rId2">
            <a:duotone>
              <a:prstClr val="black"/>
              <a:schemeClr val="bg2">
                <a:lumMod val="90000"/>
                <a:tint val="45000"/>
                <a:satMod val="400000"/>
              </a:schemeClr>
            </a:duotone>
            <a:extLst>
              <a:ext uri="{BEBA8EAE-BF5A-486C-A8C5-ECC9F3942E4B}">
                <a14:imgProps xmlns:a14="http://schemas.microsoft.com/office/drawing/2010/main">
                  <a14:imgLayer r:embed="rId3">
                    <a14:imgEffect>
                      <a14:colorTemperature colorTemp="4700"/>
                    </a14:imgEffect>
                    <a14:imgEffect>
                      <a14:saturation sat="0"/>
                    </a14:imgEffect>
                  </a14:imgLayer>
                </a14:imgProps>
              </a:ext>
            </a:extLst>
          </a:blip>
          <a:stretch>
            <a:fillRect/>
          </a:stretch>
        </p:blipFill>
        <p:spPr>
          <a:xfrm>
            <a:off x="1828800" y="2171700"/>
            <a:ext cx="14890140" cy="7086599"/>
          </a:xfrm>
          <a:prstGeom prst="rect">
            <a:avLst/>
          </a:prstGeom>
          <a:ln>
            <a:noFill/>
          </a:ln>
          <a:effectLst>
            <a:outerShdw blurRad="190500" algn="tl" rotWithShape="0">
              <a:srgbClr val="000000">
                <a:alpha val="70000"/>
              </a:srgbClr>
            </a:outerShdw>
          </a:effectLst>
        </p:spPr>
      </p:pic>
      <p:sp>
        <p:nvSpPr>
          <p:cNvPr id="13" name="TextBox 12">
            <a:extLst>
              <a:ext uri="{FF2B5EF4-FFF2-40B4-BE49-F238E27FC236}">
                <a16:creationId xmlns:a16="http://schemas.microsoft.com/office/drawing/2014/main" id="{BC281513-7B73-E82A-F57F-C17D36C71272}"/>
              </a:ext>
            </a:extLst>
          </p:cNvPr>
          <p:cNvSpPr txBox="1"/>
          <p:nvPr/>
        </p:nvSpPr>
        <p:spPr>
          <a:xfrm>
            <a:off x="4572026" y="1262539"/>
            <a:ext cx="9144000" cy="523220"/>
          </a:xfrm>
          <a:prstGeom prst="rect">
            <a:avLst/>
          </a:prstGeom>
          <a:noFill/>
        </p:spPr>
        <p:txBody>
          <a:bodyPr wrap="square">
            <a:spAutoFit/>
          </a:bodyPr>
          <a:lstStyle/>
          <a:p>
            <a:pPr algn="ctr"/>
            <a:r>
              <a:rPr lang="en-IN" sz="28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Customer</a:t>
            </a:r>
            <a:r>
              <a:rPr lang="en-IN" sz="2800" b="1" u="sng" dirty="0">
                <a:latin typeface="Times New Roman" panose="02020603050405020304" pitchFamily="18" charset="0"/>
                <a:cs typeface="Times New Roman" panose="02020603050405020304" pitchFamily="18" charset="0"/>
              </a:rPr>
              <a:t> Table</a:t>
            </a:r>
          </a:p>
        </p:txBody>
      </p:sp>
    </p:spTree>
    <p:extLst>
      <p:ext uri="{BB962C8B-B14F-4D97-AF65-F5344CB8AC3E}">
        <p14:creationId xmlns:p14="http://schemas.microsoft.com/office/powerpoint/2010/main" val="576688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6C1E3-F3AA-D9F8-CFDD-0A068FBFC5C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778D4A4-D446-E349-F6DC-01A040F7C784}"/>
              </a:ext>
            </a:extLst>
          </p:cNvPr>
          <p:cNvSpPr txBox="1">
            <a:spLocks noGrp="1"/>
          </p:cNvSpPr>
          <p:nvPr>
            <p:ph type="title"/>
          </p:nvPr>
        </p:nvSpPr>
        <p:spPr>
          <a:xfrm>
            <a:off x="5400000" y="140442"/>
            <a:ext cx="7488000" cy="842538"/>
          </a:xfrm>
          <a:prstGeom prst="rect">
            <a:avLst/>
          </a:prstGeom>
        </p:spPr>
        <p:txBody>
          <a:bodyPr vert="horz" wrap="square" lIns="0" tIns="11430" rIns="0" bIns="0" rtlCol="0">
            <a:spAutoFit/>
          </a:bodyPr>
          <a:lstStyle/>
          <a:p>
            <a:pPr marL="12700" algn="ctr">
              <a:lnSpc>
                <a:spcPct val="100000"/>
              </a:lnSpc>
              <a:spcBef>
                <a:spcPts val="90"/>
              </a:spcBef>
            </a:pPr>
            <a:r>
              <a:rPr lang="en-IN" sz="5400" spc="-99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CONTENTS   OF   TABLE</a:t>
            </a:r>
            <a:endParaRPr sz="5400" spc="-99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object 6">
            <a:extLst>
              <a:ext uri="{FF2B5EF4-FFF2-40B4-BE49-F238E27FC236}">
                <a16:creationId xmlns:a16="http://schemas.microsoft.com/office/drawing/2014/main" id="{8AF21FBB-0165-8B87-3524-6104954C5915}"/>
              </a:ext>
            </a:extLst>
          </p:cNvPr>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a:endParaRPr/>
          </a:p>
        </p:txBody>
      </p:sp>
      <p:grpSp>
        <p:nvGrpSpPr>
          <p:cNvPr id="7" name="object 7">
            <a:extLst>
              <a:ext uri="{FF2B5EF4-FFF2-40B4-BE49-F238E27FC236}">
                <a16:creationId xmlns:a16="http://schemas.microsoft.com/office/drawing/2014/main" id="{4AD28A89-F36D-667A-4998-AFBAE3A9DD9C}"/>
              </a:ext>
            </a:extLst>
          </p:cNvPr>
          <p:cNvGrpSpPr/>
          <p:nvPr/>
        </p:nvGrpSpPr>
        <p:grpSpPr>
          <a:xfrm>
            <a:off x="0" y="9718118"/>
            <a:ext cx="18288000" cy="568960"/>
            <a:chOff x="0" y="9718118"/>
            <a:chExt cx="18288000" cy="568960"/>
          </a:xfrm>
        </p:grpSpPr>
        <p:sp>
          <p:nvSpPr>
            <p:cNvPr id="8" name="object 8">
              <a:extLst>
                <a:ext uri="{FF2B5EF4-FFF2-40B4-BE49-F238E27FC236}">
                  <a16:creationId xmlns:a16="http://schemas.microsoft.com/office/drawing/2014/main" id="{65DCDFF1-1060-CE2C-4515-132F2F2C9DCA}"/>
                </a:ext>
              </a:extLst>
            </p:cNvPr>
            <p:cNvSpPr/>
            <p:nvPr/>
          </p:nvSpPr>
          <p:spPr>
            <a:xfrm>
              <a:off x="0" y="9889568"/>
              <a:ext cx="18288000" cy="397510"/>
            </a:xfrm>
            <a:custGeom>
              <a:avLst/>
              <a:gdLst/>
              <a:ahLst/>
              <a:cxnLst/>
              <a:rect l="l" t="t" r="r" b="b"/>
              <a:pathLst>
                <a:path w="18288000" h="397509">
                  <a:moveTo>
                    <a:pt x="0" y="397431"/>
                  </a:moveTo>
                  <a:lnTo>
                    <a:pt x="18288000" y="397431"/>
                  </a:lnTo>
                  <a:lnTo>
                    <a:pt x="18288000" y="0"/>
                  </a:lnTo>
                  <a:lnTo>
                    <a:pt x="0" y="0"/>
                  </a:lnTo>
                  <a:lnTo>
                    <a:pt x="0" y="397431"/>
                  </a:lnTo>
                  <a:close/>
                </a:path>
              </a:pathLst>
            </a:custGeom>
            <a:solidFill>
              <a:srgbClr val="FAE7BC"/>
            </a:solidFill>
          </p:spPr>
          <p:txBody>
            <a:bodyPr wrap="square" lIns="0" tIns="0" rIns="0" bIns="0" rtlCol="0"/>
            <a:lstStyle/>
            <a:p>
              <a:endParaRPr/>
            </a:p>
          </p:txBody>
        </p:sp>
        <p:sp>
          <p:nvSpPr>
            <p:cNvPr id="9" name="object 9">
              <a:extLst>
                <a:ext uri="{FF2B5EF4-FFF2-40B4-BE49-F238E27FC236}">
                  <a16:creationId xmlns:a16="http://schemas.microsoft.com/office/drawing/2014/main" id="{9F121984-C006-F84F-16BE-CF1647D64824}"/>
                </a:ext>
              </a:extLst>
            </p:cNvPr>
            <p:cNvSpPr/>
            <p:nvPr/>
          </p:nvSpPr>
          <p:spPr>
            <a:xfrm>
              <a:off x="0" y="9718118"/>
              <a:ext cx="18288000" cy="171450"/>
            </a:xfrm>
            <a:custGeom>
              <a:avLst/>
              <a:gdLst/>
              <a:ahLst/>
              <a:cxnLst/>
              <a:rect l="l" t="t" r="r" b="b"/>
              <a:pathLst>
                <a:path w="18288000" h="171450">
                  <a:moveTo>
                    <a:pt x="0" y="0"/>
                  </a:moveTo>
                  <a:lnTo>
                    <a:pt x="18287999" y="0"/>
                  </a:lnTo>
                  <a:lnTo>
                    <a:pt x="18287999" y="171449"/>
                  </a:lnTo>
                  <a:lnTo>
                    <a:pt x="0" y="171449"/>
                  </a:lnTo>
                  <a:lnTo>
                    <a:pt x="0" y="0"/>
                  </a:lnTo>
                  <a:close/>
                </a:path>
              </a:pathLst>
            </a:custGeom>
            <a:solidFill>
              <a:srgbClr val="494848"/>
            </a:solidFill>
          </p:spPr>
          <p:txBody>
            <a:bodyPr wrap="square" lIns="0" tIns="0" rIns="0" bIns="0" rtlCol="0"/>
            <a:lstStyle/>
            <a:p>
              <a:endParaRPr/>
            </a:p>
          </p:txBody>
        </p:sp>
      </p:grpSp>
      <p:sp>
        <p:nvSpPr>
          <p:cNvPr id="10" name="object 10">
            <a:extLst>
              <a:ext uri="{FF2B5EF4-FFF2-40B4-BE49-F238E27FC236}">
                <a16:creationId xmlns:a16="http://schemas.microsoft.com/office/drawing/2014/main" id="{E3E2D410-B527-37A2-FF99-55AE37F26C7A}"/>
              </a:ext>
            </a:extLst>
          </p:cNvPr>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a:endParaRPr/>
          </a:p>
        </p:txBody>
      </p:sp>
      <p:pic>
        <p:nvPicPr>
          <p:cNvPr id="4" name="Picture 3">
            <a:extLst>
              <a:ext uri="{FF2B5EF4-FFF2-40B4-BE49-F238E27FC236}">
                <a16:creationId xmlns:a16="http://schemas.microsoft.com/office/drawing/2014/main" id="{346D9894-4088-E3B8-4562-0CE7CCC2C908}"/>
              </a:ext>
            </a:extLst>
          </p:cNvPr>
          <p:cNvPicPr>
            <a:picLocks noChangeAspect="1"/>
          </p:cNvPicPr>
          <p:nvPr/>
        </p:nvPicPr>
        <p:blipFill>
          <a:blip r:embed="rId2">
            <a:duotone>
              <a:prstClr val="black"/>
              <a:schemeClr val="bg2">
                <a:lumMod val="90000"/>
                <a:tint val="45000"/>
                <a:satMod val="400000"/>
              </a:schemeClr>
            </a:duotone>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569112" y="2266393"/>
            <a:ext cx="14859000" cy="7044690"/>
          </a:xfrm>
          <a:prstGeom prst="rect">
            <a:avLst/>
          </a:prstGeom>
          <a:ln>
            <a:noFill/>
          </a:ln>
          <a:effectLst>
            <a:outerShdw blurRad="190500" algn="tl" rotWithShape="0">
              <a:srgbClr val="000000">
                <a:alpha val="70000"/>
              </a:srgbClr>
            </a:outerShdw>
          </a:effectLst>
        </p:spPr>
      </p:pic>
      <p:sp>
        <p:nvSpPr>
          <p:cNvPr id="11" name="TextBox 10">
            <a:extLst>
              <a:ext uri="{FF2B5EF4-FFF2-40B4-BE49-F238E27FC236}">
                <a16:creationId xmlns:a16="http://schemas.microsoft.com/office/drawing/2014/main" id="{2E1BBA3F-CAB1-F753-1E9C-0871294E000D}"/>
              </a:ext>
            </a:extLst>
          </p:cNvPr>
          <p:cNvSpPr txBox="1"/>
          <p:nvPr/>
        </p:nvSpPr>
        <p:spPr>
          <a:xfrm>
            <a:off x="4572026" y="1390015"/>
            <a:ext cx="9144000" cy="584775"/>
          </a:xfrm>
          <a:prstGeom prst="rect">
            <a:avLst/>
          </a:prstGeom>
          <a:noFill/>
        </p:spPr>
        <p:txBody>
          <a:bodyPr wrap="square">
            <a:spAutoFit/>
          </a:bodyPr>
          <a:lstStyle/>
          <a:p>
            <a:pPr algn="ctr"/>
            <a:r>
              <a:rPr lang="en-IN" sz="32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Cars</a:t>
            </a:r>
            <a:r>
              <a:rPr lang="en-IN" sz="3200" b="1" u="sng" dirty="0">
                <a:latin typeface="Times New Roman" panose="02020603050405020304" pitchFamily="18" charset="0"/>
                <a:cs typeface="Times New Roman" panose="02020603050405020304" pitchFamily="18" charset="0"/>
              </a:rPr>
              <a:t> Table</a:t>
            </a:r>
          </a:p>
        </p:txBody>
      </p:sp>
    </p:spTree>
    <p:extLst>
      <p:ext uri="{BB962C8B-B14F-4D97-AF65-F5344CB8AC3E}">
        <p14:creationId xmlns:p14="http://schemas.microsoft.com/office/powerpoint/2010/main" val="33303203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5DE7D-0FC5-A573-02D5-DAD887A4844D}"/>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2D75CC9C-BA6C-2512-2FCE-1B9EE533006B}"/>
              </a:ext>
            </a:extLst>
          </p:cNvPr>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a:endParaRPr/>
          </a:p>
        </p:txBody>
      </p:sp>
      <p:grpSp>
        <p:nvGrpSpPr>
          <p:cNvPr id="7" name="object 7">
            <a:extLst>
              <a:ext uri="{FF2B5EF4-FFF2-40B4-BE49-F238E27FC236}">
                <a16:creationId xmlns:a16="http://schemas.microsoft.com/office/drawing/2014/main" id="{DE53B6B8-73EA-D497-9006-F7EF568FD57A}"/>
              </a:ext>
            </a:extLst>
          </p:cNvPr>
          <p:cNvGrpSpPr/>
          <p:nvPr/>
        </p:nvGrpSpPr>
        <p:grpSpPr>
          <a:xfrm>
            <a:off x="0" y="9718118"/>
            <a:ext cx="18288000" cy="568960"/>
            <a:chOff x="0" y="9718118"/>
            <a:chExt cx="18288000" cy="568960"/>
          </a:xfrm>
        </p:grpSpPr>
        <p:sp>
          <p:nvSpPr>
            <p:cNvPr id="8" name="object 8">
              <a:extLst>
                <a:ext uri="{FF2B5EF4-FFF2-40B4-BE49-F238E27FC236}">
                  <a16:creationId xmlns:a16="http://schemas.microsoft.com/office/drawing/2014/main" id="{93C62501-5B06-E7ED-841C-2B7A887C00F7}"/>
                </a:ext>
              </a:extLst>
            </p:cNvPr>
            <p:cNvSpPr/>
            <p:nvPr/>
          </p:nvSpPr>
          <p:spPr>
            <a:xfrm>
              <a:off x="0" y="9889568"/>
              <a:ext cx="18288000" cy="397510"/>
            </a:xfrm>
            <a:custGeom>
              <a:avLst/>
              <a:gdLst/>
              <a:ahLst/>
              <a:cxnLst/>
              <a:rect l="l" t="t" r="r" b="b"/>
              <a:pathLst>
                <a:path w="18288000" h="397509">
                  <a:moveTo>
                    <a:pt x="0" y="397431"/>
                  </a:moveTo>
                  <a:lnTo>
                    <a:pt x="18288000" y="397431"/>
                  </a:lnTo>
                  <a:lnTo>
                    <a:pt x="18288000" y="0"/>
                  </a:lnTo>
                  <a:lnTo>
                    <a:pt x="0" y="0"/>
                  </a:lnTo>
                  <a:lnTo>
                    <a:pt x="0" y="397431"/>
                  </a:lnTo>
                  <a:close/>
                </a:path>
              </a:pathLst>
            </a:custGeom>
            <a:solidFill>
              <a:srgbClr val="FAE7BC"/>
            </a:solidFill>
          </p:spPr>
          <p:txBody>
            <a:bodyPr wrap="square" lIns="0" tIns="0" rIns="0" bIns="0" rtlCol="0"/>
            <a:lstStyle/>
            <a:p>
              <a:endParaRPr/>
            </a:p>
          </p:txBody>
        </p:sp>
        <p:sp>
          <p:nvSpPr>
            <p:cNvPr id="9" name="object 9">
              <a:extLst>
                <a:ext uri="{FF2B5EF4-FFF2-40B4-BE49-F238E27FC236}">
                  <a16:creationId xmlns:a16="http://schemas.microsoft.com/office/drawing/2014/main" id="{7EED3D58-5817-05B7-3EAE-3023258649A5}"/>
                </a:ext>
              </a:extLst>
            </p:cNvPr>
            <p:cNvSpPr/>
            <p:nvPr/>
          </p:nvSpPr>
          <p:spPr>
            <a:xfrm>
              <a:off x="0" y="9718118"/>
              <a:ext cx="18288000" cy="171450"/>
            </a:xfrm>
            <a:custGeom>
              <a:avLst/>
              <a:gdLst/>
              <a:ahLst/>
              <a:cxnLst/>
              <a:rect l="l" t="t" r="r" b="b"/>
              <a:pathLst>
                <a:path w="18288000" h="171450">
                  <a:moveTo>
                    <a:pt x="0" y="0"/>
                  </a:moveTo>
                  <a:lnTo>
                    <a:pt x="18287999" y="0"/>
                  </a:lnTo>
                  <a:lnTo>
                    <a:pt x="18287999" y="171449"/>
                  </a:lnTo>
                  <a:lnTo>
                    <a:pt x="0" y="171449"/>
                  </a:lnTo>
                  <a:lnTo>
                    <a:pt x="0" y="0"/>
                  </a:lnTo>
                  <a:close/>
                </a:path>
              </a:pathLst>
            </a:custGeom>
            <a:solidFill>
              <a:srgbClr val="494848"/>
            </a:solidFill>
          </p:spPr>
          <p:txBody>
            <a:bodyPr wrap="square" lIns="0" tIns="0" rIns="0" bIns="0" rtlCol="0"/>
            <a:lstStyle/>
            <a:p>
              <a:endParaRPr/>
            </a:p>
          </p:txBody>
        </p:sp>
      </p:grpSp>
      <p:sp>
        <p:nvSpPr>
          <p:cNvPr id="10" name="object 10">
            <a:extLst>
              <a:ext uri="{FF2B5EF4-FFF2-40B4-BE49-F238E27FC236}">
                <a16:creationId xmlns:a16="http://schemas.microsoft.com/office/drawing/2014/main" id="{8C55BFC1-A8C5-B3C6-93CB-F77076544670}"/>
              </a:ext>
            </a:extLst>
          </p:cNvPr>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a:endParaRPr/>
          </a:p>
        </p:txBody>
      </p:sp>
      <p:sp>
        <p:nvSpPr>
          <p:cNvPr id="11" name="TextBox 10">
            <a:extLst>
              <a:ext uri="{FF2B5EF4-FFF2-40B4-BE49-F238E27FC236}">
                <a16:creationId xmlns:a16="http://schemas.microsoft.com/office/drawing/2014/main" id="{C2DE016E-AAF4-87FD-91BE-22C53A8B5FCC}"/>
              </a:ext>
            </a:extLst>
          </p:cNvPr>
          <p:cNvSpPr txBox="1"/>
          <p:nvPr/>
        </p:nvSpPr>
        <p:spPr>
          <a:xfrm>
            <a:off x="4572026" y="1390015"/>
            <a:ext cx="9144000" cy="584775"/>
          </a:xfrm>
          <a:prstGeom prst="rect">
            <a:avLst/>
          </a:prstGeom>
          <a:noFill/>
        </p:spPr>
        <p:txBody>
          <a:bodyPr wrap="square">
            <a:spAutoFit/>
          </a:bodyPr>
          <a:lstStyle/>
          <a:p>
            <a:pPr algn="ctr"/>
            <a:r>
              <a:rPr lang="en-IN" sz="32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Rentals Table</a:t>
            </a:r>
            <a:endParaRPr lang="en-IN" sz="3200" b="1" u="sng"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85F4198-17A0-299E-B337-4BF406884B37}"/>
              </a:ext>
            </a:extLst>
          </p:cNvPr>
          <p:cNvPicPr>
            <a:picLocks noChangeAspect="1"/>
          </p:cNvPicPr>
          <p:nvPr/>
        </p:nvPicPr>
        <p:blipFill>
          <a:blip r:embed="rId2">
            <a:duotone>
              <a:prstClr val="black"/>
              <a:schemeClr val="bg2">
                <a:lumMod val="90000"/>
                <a:tint val="45000"/>
                <a:satMod val="400000"/>
              </a:schemeClr>
            </a:duotone>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371600" y="2381825"/>
            <a:ext cx="15697200" cy="664787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190553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3C6CD-9E24-2E1E-4B02-7CC1D02A0098}"/>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688876DE-13A2-21DD-8D12-8A2D9088C13D}"/>
              </a:ext>
            </a:extLst>
          </p:cNvPr>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a:endParaRPr/>
          </a:p>
        </p:txBody>
      </p:sp>
      <p:grpSp>
        <p:nvGrpSpPr>
          <p:cNvPr id="7" name="object 7">
            <a:extLst>
              <a:ext uri="{FF2B5EF4-FFF2-40B4-BE49-F238E27FC236}">
                <a16:creationId xmlns:a16="http://schemas.microsoft.com/office/drawing/2014/main" id="{1027201B-3958-AE72-F41D-C269766F7BF8}"/>
              </a:ext>
            </a:extLst>
          </p:cNvPr>
          <p:cNvGrpSpPr/>
          <p:nvPr/>
        </p:nvGrpSpPr>
        <p:grpSpPr>
          <a:xfrm>
            <a:off x="0" y="9718118"/>
            <a:ext cx="18288000" cy="568960"/>
            <a:chOff x="0" y="9718118"/>
            <a:chExt cx="18288000" cy="568960"/>
          </a:xfrm>
        </p:grpSpPr>
        <p:sp>
          <p:nvSpPr>
            <p:cNvPr id="8" name="object 8">
              <a:extLst>
                <a:ext uri="{FF2B5EF4-FFF2-40B4-BE49-F238E27FC236}">
                  <a16:creationId xmlns:a16="http://schemas.microsoft.com/office/drawing/2014/main" id="{FA4F5C94-DDF2-2A53-D32F-8978A75EEDFA}"/>
                </a:ext>
              </a:extLst>
            </p:cNvPr>
            <p:cNvSpPr/>
            <p:nvPr/>
          </p:nvSpPr>
          <p:spPr>
            <a:xfrm>
              <a:off x="0" y="9889568"/>
              <a:ext cx="18288000" cy="397510"/>
            </a:xfrm>
            <a:custGeom>
              <a:avLst/>
              <a:gdLst/>
              <a:ahLst/>
              <a:cxnLst/>
              <a:rect l="l" t="t" r="r" b="b"/>
              <a:pathLst>
                <a:path w="18288000" h="397509">
                  <a:moveTo>
                    <a:pt x="0" y="397431"/>
                  </a:moveTo>
                  <a:lnTo>
                    <a:pt x="18288000" y="397431"/>
                  </a:lnTo>
                  <a:lnTo>
                    <a:pt x="18288000" y="0"/>
                  </a:lnTo>
                  <a:lnTo>
                    <a:pt x="0" y="0"/>
                  </a:lnTo>
                  <a:lnTo>
                    <a:pt x="0" y="397431"/>
                  </a:lnTo>
                  <a:close/>
                </a:path>
              </a:pathLst>
            </a:custGeom>
            <a:solidFill>
              <a:srgbClr val="FAE7BC"/>
            </a:solidFill>
          </p:spPr>
          <p:txBody>
            <a:bodyPr wrap="square" lIns="0" tIns="0" rIns="0" bIns="0" rtlCol="0"/>
            <a:lstStyle/>
            <a:p>
              <a:endParaRPr/>
            </a:p>
          </p:txBody>
        </p:sp>
        <p:sp>
          <p:nvSpPr>
            <p:cNvPr id="9" name="object 9">
              <a:extLst>
                <a:ext uri="{FF2B5EF4-FFF2-40B4-BE49-F238E27FC236}">
                  <a16:creationId xmlns:a16="http://schemas.microsoft.com/office/drawing/2014/main" id="{21DEA7D6-E396-5731-6341-1708DBF6D050}"/>
                </a:ext>
              </a:extLst>
            </p:cNvPr>
            <p:cNvSpPr/>
            <p:nvPr/>
          </p:nvSpPr>
          <p:spPr>
            <a:xfrm>
              <a:off x="0" y="9718118"/>
              <a:ext cx="18288000" cy="171450"/>
            </a:xfrm>
            <a:custGeom>
              <a:avLst/>
              <a:gdLst/>
              <a:ahLst/>
              <a:cxnLst/>
              <a:rect l="l" t="t" r="r" b="b"/>
              <a:pathLst>
                <a:path w="18288000" h="171450">
                  <a:moveTo>
                    <a:pt x="0" y="0"/>
                  </a:moveTo>
                  <a:lnTo>
                    <a:pt x="18287999" y="0"/>
                  </a:lnTo>
                  <a:lnTo>
                    <a:pt x="18287999" y="171449"/>
                  </a:lnTo>
                  <a:lnTo>
                    <a:pt x="0" y="171449"/>
                  </a:lnTo>
                  <a:lnTo>
                    <a:pt x="0" y="0"/>
                  </a:lnTo>
                  <a:close/>
                </a:path>
              </a:pathLst>
            </a:custGeom>
            <a:solidFill>
              <a:srgbClr val="494848"/>
            </a:solidFill>
          </p:spPr>
          <p:txBody>
            <a:bodyPr wrap="square" lIns="0" tIns="0" rIns="0" bIns="0" rtlCol="0"/>
            <a:lstStyle/>
            <a:p>
              <a:endParaRPr/>
            </a:p>
          </p:txBody>
        </p:sp>
      </p:grpSp>
      <p:sp>
        <p:nvSpPr>
          <p:cNvPr id="10" name="object 10">
            <a:extLst>
              <a:ext uri="{FF2B5EF4-FFF2-40B4-BE49-F238E27FC236}">
                <a16:creationId xmlns:a16="http://schemas.microsoft.com/office/drawing/2014/main" id="{7266734F-8D6F-A5D1-A3C2-0D0AA7941E75}"/>
              </a:ext>
            </a:extLst>
          </p:cNvPr>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a:endParaRPr/>
          </a:p>
        </p:txBody>
      </p:sp>
      <p:sp>
        <p:nvSpPr>
          <p:cNvPr id="11" name="TextBox 10">
            <a:extLst>
              <a:ext uri="{FF2B5EF4-FFF2-40B4-BE49-F238E27FC236}">
                <a16:creationId xmlns:a16="http://schemas.microsoft.com/office/drawing/2014/main" id="{623B338B-2146-A31A-DA28-8B2827EB4D22}"/>
              </a:ext>
            </a:extLst>
          </p:cNvPr>
          <p:cNvSpPr txBox="1"/>
          <p:nvPr/>
        </p:nvSpPr>
        <p:spPr>
          <a:xfrm>
            <a:off x="4572000" y="1296731"/>
            <a:ext cx="9144000" cy="584775"/>
          </a:xfrm>
          <a:prstGeom prst="rect">
            <a:avLst/>
          </a:prstGeom>
          <a:noFill/>
        </p:spPr>
        <p:txBody>
          <a:bodyPr wrap="square">
            <a:spAutoFit/>
          </a:bodyPr>
          <a:lstStyle/>
          <a:p>
            <a:pPr algn="ctr"/>
            <a:r>
              <a:rPr lang="en-IN" sz="32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Payments</a:t>
            </a:r>
            <a:r>
              <a:rPr lang="en-IN" sz="3200" b="1" u="sng" dirty="0">
                <a:latin typeface="Times New Roman" panose="02020603050405020304" pitchFamily="18" charset="0"/>
                <a:cs typeface="Times New Roman" panose="02020603050405020304" pitchFamily="18" charset="0"/>
              </a:rPr>
              <a:t> Table</a:t>
            </a:r>
          </a:p>
        </p:txBody>
      </p:sp>
      <p:pic>
        <p:nvPicPr>
          <p:cNvPr id="13" name="Picture 12">
            <a:extLst>
              <a:ext uri="{FF2B5EF4-FFF2-40B4-BE49-F238E27FC236}">
                <a16:creationId xmlns:a16="http://schemas.microsoft.com/office/drawing/2014/main" id="{0645CEFE-6FA0-E846-4B0C-69334B5D31D9}"/>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8800"/>
                    </a14:imgEffect>
                  </a14:imgLayer>
                </a14:imgProps>
              </a:ext>
            </a:extLst>
          </a:blip>
          <a:stretch>
            <a:fillRect/>
          </a:stretch>
        </p:blipFill>
        <p:spPr>
          <a:xfrm>
            <a:off x="1981200" y="2476500"/>
            <a:ext cx="14737740" cy="6672658"/>
          </a:xfrm>
          <a:prstGeom prst="rect">
            <a:avLst/>
          </a:prstGeom>
        </p:spPr>
      </p:pic>
    </p:spTree>
    <p:extLst>
      <p:ext uri="{BB962C8B-B14F-4D97-AF65-F5344CB8AC3E}">
        <p14:creationId xmlns:p14="http://schemas.microsoft.com/office/powerpoint/2010/main" val="13015828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B05A6-DAA7-0998-2BDC-9B94A090D35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6964F679-7333-64DF-2C0A-48832123E385}"/>
              </a:ext>
            </a:extLst>
          </p:cNvPr>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a:endParaRPr/>
          </a:p>
        </p:txBody>
      </p:sp>
      <p:grpSp>
        <p:nvGrpSpPr>
          <p:cNvPr id="7" name="object 7">
            <a:extLst>
              <a:ext uri="{FF2B5EF4-FFF2-40B4-BE49-F238E27FC236}">
                <a16:creationId xmlns:a16="http://schemas.microsoft.com/office/drawing/2014/main" id="{FB9F57E1-8C7E-BCA7-DEA9-A48C6C68EDD8}"/>
              </a:ext>
            </a:extLst>
          </p:cNvPr>
          <p:cNvGrpSpPr/>
          <p:nvPr/>
        </p:nvGrpSpPr>
        <p:grpSpPr>
          <a:xfrm>
            <a:off x="0" y="9718118"/>
            <a:ext cx="18288000" cy="568960"/>
            <a:chOff x="0" y="9718118"/>
            <a:chExt cx="18288000" cy="568960"/>
          </a:xfrm>
        </p:grpSpPr>
        <p:sp>
          <p:nvSpPr>
            <p:cNvPr id="8" name="object 8">
              <a:extLst>
                <a:ext uri="{FF2B5EF4-FFF2-40B4-BE49-F238E27FC236}">
                  <a16:creationId xmlns:a16="http://schemas.microsoft.com/office/drawing/2014/main" id="{77CB69DB-DE9C-F682-51C1-4BFDA914DB30}"/>
                </a:ext>
              </a:extLst>
            </p:cNvPr>
            <p:cNvSpPr/>
            <p:nvPr/>
          </p:nvSpPr>
          <p:spPr>
            <a:xfrm>
              <a:off x="0" y="9889568"/>
              <a:ext cx="18288000" cy="397510"/>
            </a:xfrm>
            <a:custGeom>
              <a:avLst/>
              <a:gdLst/>
              <a:ahLst/>
              <a:cxnLst/>
              <a:rect l="l" t="t" r="r" b="b"/>
              <a:pathLst>
                <a:path w="18288000" h="397509">
                  <a:moveTo>
                    <a:pt x="0" y="397431"/>
                  </a:moveTo>
                  <a:lnTo>
                    <a:pt x="18288000" y="397431"/>
                  </a:lnTo>
                  <a:lnTo>
                    <a:pt x="18288000" y="0"/>
                  </a:lnTo>
                  <a:lnTo>
                    <a:pt x="0" y="0"/>
                  </a:lnTo>
                  <a:lnTo>
                    <a:pt x="0" y="397431"/>
                  </a:lnTo>
                  <a:close/>
                </a:path>
              </a:pathLst>
            </a:custGeom>
            <a:solidFill>
              <a:srgbClr val="FAE7BC"/>
            </a:solidFill>
          </p:spPr>
          <p:txBody>
            <a:bodyPr wrap="square" lIns="0" tIns="0" rIns="0" bIns="0" rtlCol="0"/>
            <a:lstStyle/>
            <a:p>
              <a:endParaRPr/>
            </a:p>
          </p:txBody>
        </p:sp>
        <p:sp>
          <p:nvSpPr>
            <p:cNvPr id="9" name="object 9">
              <a:extLst>
                <a:ext uri="{FF2B5EF4-FFF2-40B4-BE49-F238E27FC236}">
                  <a16:creationId xmlns:a16="http://schemas.microsoft.com/office/drawing/2014/main" id="{A1650354-E044-B2B1-1469-539BAB6BC529}"/>
                </a:ext>
              </a:extLst>
            </p:cNvPr>
            <p:cNvSpPr/>
            <p:nvPr/>
          </p:nvSpPr>
          <p:spPr>
            <a:xfrm>
              <a:off x="0" y="9718118"/>
              <a:ext cx="18288000" cy="171450"/>
            </a:xfrm>
            <a:custGeom>
              <a:avLst/>
              <a:gdLst/>
              <a:ahLst/>
              <a:cxnLst/>
              <a:rect l="l" t="t" r="r" b="b"/>
              <a:pathLst>
                <a:path w="18288000" h="171450">
                  <a:moveTo>
                    <a:pt x="0" y="0"/>
                  </a:moveTo>
                  <a:lnTo>
                    <a:pt x="18287999" y="0"/>
                  </a:lnTo>
                  <a:lnTo>
                    <a:pt x="18287999" y="171449"/>
                  </a:lnTo>
                  <a:lnTo>
                    <a:pt x="0" y="171449"/>
                  </a:lnTo>
                  <a:lnTo>
                    <a:pt x="0" y="0"/>
                  </a:lnTo>
                  <a:close/>
                </a:path>
              </a:pathLst>
            </a:custGeom>
            <a:solidFill>
              <a:srgbClr val="494848"/>
            </a:solidFill>
          </p:spPr>
          <p:txBody>
            <a:bodyPr wrap="square" lIns="0" tIns="0" rIns="0" bIns="0" rtlCol="0"/>
            <a:lstStyle/>
            <a:p>
              <a:endParaRPr/>
            </a:p>
          </p:txBody>
        </p:sp>
      </p:grpSp>
      <p:sp>
        <p:nvSpPr>
          <p:cNvPr id="10" name="object 10">
            <a:extLst>
              <a:ext uri="{FF2B5EF4-FFF2-40B4-BE49-F238E27FC236}">
                <a16:creationId xmlns:a16="http://schemas.microsoft.com/office/drawing/2014/main" id="{BC2DDFC8-D8D8-5024-44DC-F18229FE8B6B}"/>
              </a:ext>
            </a:extLst>
          </p:cNvPr>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a:endParaRPr/>
          </a:p>
        </p:txBody>
      </p:sp>
      <p:sp>
        <p:nvSpPr>
          <p:cNvPr id="11" name="TextBox 10">
            <a:extLst>
              <a:ext uri="{FF2B5EF4-FFF2-40B4-BE49-F238E27FC236}">
                <a16:creationId xmlns:a16="http://schemas.microsoft.com/office/drawing/2014/main" id="{5B365EAA-B136-2FCF-3B47-316CDB5EC9AE}"/>
              </a:ext>
            </a:extLst>
          </p:cNvPr>
          <p:cNvSpPr txBox="1"/>
          <p:nvPr/>
        </p:nvSpPr>
        <p:spPr>
          <a:xfrm>
            <a:off x="4572026" y="1390015"/>
            <a:ext cx="9144000" cy="584775"/>
          </a:xfrm>
          <a:prstGeom prst="rect">
            <a:avLst/>
          </a:prstGeom>
          <a:noFill/>
        </p:spPr>
        <p:txBody>
          <a:bodyPr wrap="square">
            <a:spAutoFit/>
          </a:bodyPr>
          <a:lstStyle/>
          <a:p>
            <a:pPr algn="ctr"/>
            <a:r>
              <a:rPr lang="en-IN" sz="3200" b="1" u="sng" dirty="0" err="1">
                <a:latin typeface="Times New Roman" panose="02020603050405020304" pitchFamily="18" charset="0"/>
                <a:cs typeface="Times New Roman" panose="02020603050405020304" pitchFamily="18" charset="0"/>
              </a:rPr>
              <a:t>InsuranceTable</a:t>
            </a:r>
            <a:endParaRPr lang="en-IN" sz="3200" b="1" u="sng"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E61FE60-FF64-7EA2-2BD5-69FB0A309EA6}"/>
              </a:ext>
            </a:extLst>
          </p:cNvPr>
          <p:cNvPicPr>
            <a:picLocks noChangeAspect="1"/>
          </p:cNvPicPr>
          <p:nvPr/>
        </p:nvPicPr>
        <p:blipFill>
          <a:blip r:embed="rId2">
            <a:duotone>
              <a:prstClr val="black"/>
              <a:schemeClr val="bg2">
                <a:lumMod val="90000"/>
                <a:tint val="45000"/>
                <a:satMod val="400000"/>
              </a:schemeClr>
            </a:duotone>
          </a:blip>
          <a:stretch>
            <a:fillRect/>
          </a:stretch>
        </p:blipFill>
        <p:spPr>
          <a:xfrm>
            <a:off x="1752600" y="2372995"/>
            <a:ext cx="14966340" cy="680910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6009594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9012A-09EF-BEC4-3622-C81AADCFD2A6}"/>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4DD3380E-2EAE-F29B-1DF4-700DF13DA3B8}"/>
              </a:ext>
            </a:extLst>
          </p:cNvPr>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a:endParaRPr/>
          </a:p>
        </p:txBody>
      </p:sp>
      <p:grpSp>
        <p:nvGrpSpPr>
          <p:cNvPr id="7" name="object 7">
            <a:extLst>
              <a:ext uri="{FF2B5EF4-FFF2-40B4-BE49-F238E27FC236}">
                <a16:creationId xmlns:a16="http://schemas.microsoft.com/office/drawing/2014/main" id="{A7CEFF62-5B58-9901-4781-2B95F1C0CA98}"/>
              </a:ext>
            </a:extLst>
          </p:cNvPr>
          <p:cNvGrpSpPr/>
          <p:nvPr/>
        </p:nvGrpSpPr>
        <p:grpSpPr>
          <a:xfrm>
            <a:off x="0" y="9718118"/>
            <a:ext cx="18288000" cy="568960"/>
            <a:chOff x="0" y="9718118"/>
            <a:chExt cx="18288000" cy="568960"/>
          </a:xfrm>
        </p:grpSpPr>
        <p:sp>
          <p:nvSpPr>
            <p:cNvPr id="8" name="object 8">
              <a:extLst>
                <a:ext uri="{FF2B5EF4-FFF2-40B4-BE49-F238E27FC236}">
                  <a16:creationId xmlns:a16="http://schemas.microsoft.com/office/drawing/2014/main" id="{74372DBE-2BE6-CD8D-4D40-7358993DA77B}"/>
                </a:ext>
              </a:extLst>
            </p:cNvPr>
            <p:cNvSpPr/>
            <p:nvPr/>
          </p:nvSpPr>
          <p:spPr>
            <a:xfrm>
              <a:off x="0" y="9889568"/>
              <a:ext cx="18288000" cy="397510"/>
            </a:xfrm>
            <a:custGeom>
              <a:avLst/>
              <a:gdLst/>
              <a:ahLst/>
              <a:cxnLst/>
              <a:rect l="l" t="t" r="r" b="b"/>
              <a:pathLst>
                <a:path w="18288000" h="397509">
                  <a:moveTo>
                    <a:pt x="0" y="397431"/>
                  </a:moveTo>
                  <a:lnTo>
                    <a:pt x="18288000" y="397431"/>
                  </a:lnTo>
                  <a:lnTo>
                    <a:pt x="18288000" y="0"/>
                  </a:lnTo>
                  <a:lnTo>
                    <a:pt x="0" y="0"/>
                  </a:lnTo>
                  <a:lnTo>
                    <a:pt x="0" y="397431"/>
                  </a:lnTo>
                  <a:close/>
                </a:path>
              </a:pathLst>
            </a:custGeom>
            <a:solidFill>
              <a:srgbClr val="FAE7BC"/>
            </a:solidFill>
          </p:spPr>
          <p:txBody>
            <a:bodyPr wrap="square" lIns="0" tIns="0" rIns="0" bIns="0" rtlCol="0"/>
            <a:lstStyle/>
            <a:p>
              <a:endParaRPr/>
            </a:p>
          </p:txBody>
        </p:sp>
        <p:sp>
          <p:nvSpPr>
            <p:cNvPr id="9" name="object 9">
              <a:extLst>
                <a:ext uri="{FF2B5EF4-FFF2-40B4-BE49-F238E27FC236}">
                  <a16:creationId xmlns:a16="http://schemas.microsoft.com/office/drawing/2014/main" id="{10A30A83-591A-D9C5-BAD0-A470CFD613D1}"/>
                </a:ext>
              </a:extLst>
            </p:cNvPr>
            <p:cNvSpPr/>
            <p:nvPr/>
          </p:nvSpPr>
          <p:spPr>
            <a:xfrm>
              <a:off x="0" y="9718118"/>
              <a:ext cx="18288000" cy="171450"/>
            </a:xfrm>
            <a:custGeom>
              <a:avLst/>
              <a:gdLst/>
              <a:ahLst/>
              <a:cxnLst/>
              <a:rect l="l" t="t" r="r" b="b"/>
              <a:pathLst>
                <a:path w="18288000" h="171450">
                  <a:moveTo>
                    <a:pt x="0" y="0"/>
                  </a:moveTo>
                  <a:lnTo>
                    <a:pt x="18287999" y="0"/>
                  </a:lnTo>
                  <a:lnTo>
                    <a:pt x="18287999" y="171449"/>
                  </a:lnTo>
                  <a:lnTo>
                    <a:pt x="0" y="171449"/>
                  </a:lnTo>
                  <a:lnTo>
                    <a:pt x="0" y="0"/>
                  </a:lnTo>
                  <a:close/>
                </a:path>
              </a:pathLst>
            </a:custGeom>
            <a:solidFill>
              <a:srgbClr val="494848"/>
            </a:solidFill>
          </p:spPr>
          <p:txBody>
            <a:bodyPr wrap="square" lIns="0" tIns="0" rIns="0" bIns="0" rtlCol="0"/>
            <a:lstStyle/>
            <a:p>
              <a:endParaRPr/>
            </a:p>
          </p:txBody>
        </p:sp>
      </p:grpSp>
      <p:sp>
        <p:nvSpPr>
          <p:cNvPr id="10" name="object 10">
            <a:extLst>
              <a:ext uri="{FF2B5EF4-FFF2-40B4-BE49-F238E27FC236}">
                <a16:creationId xmlns:a16="http://schemas.microsoft.com/office/drawing/2014/main" id="{F3930131-E527-CE86-CC4A-E83E8E1A1C8B}"/>
              </a:ext>
            </a:extLst>
          </p:cNvPr>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a:endParaRPr/>
          </a:p>
        </p:txBody>
      </p:sp>
      <p:pic>
        <p:nvPicPr>
          <p:cNvPr id="4" name="Picture 3">
            <a:extLst>
              <a:ext uri="{FF2B5EF4-FFF2-40B4-BE49-F238E27FC236}">
                <a16:creationId xmlns:a16="http://schemas.microsoft.com/office/drawing/2014/main" id="{2F89F43C-C020-3A1D-F4C1-6064F91505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363200" cy="9718118"/>
          </a:xfrm>
          <a:prstGeom prst="rect">
            <a:avLst/>
          </a:prstGeom>
        </p:spPr>
      </p:pic>
      <p:sp>
        <p:nvSpPr>
          <p:cNvPr id="5" name="TextBox 4">
            <a:extLst>
              <a:ext uri="{FF2B5EF4-FFF2-40B4-BE49-F238E27FC236}">
                <a16:creationId xmlns:a16="http://schemas.microsoft.com/office/drawing/2014/main" id="{7AE76DE1-2B40-3F6F-D468-D3FD9D016682}"/>
              </a:ext>
            </a:extLst>
          </p:cNvPr>
          <p:cNvSpPr txBox="1"/>
          <p:nvPr/>
        </p:nvSpPr>
        <p:spPr>
          <a:xfrm>
            <a:off x="10744200" y="3771900"/>
            <a:ext cx="7239000" cy="1323439"/>
          </a:xfrm>
          <a:prstGeom prst="rect">
            <a:avLst/>
          </a:prstGeom>
          <a:noFill/>
        </p:spPr>
        <p:txBody>
          <a:bodyPr wrap="square" rtlCol="0">
            <a:spAutoFit/>
          </a:bodyPr>
          <a:lstStyle/>
          <a:p>
            <a:r>
              <a:rPr lang="en-IN" sz="8000" b="1" dirty="0">
                <a:effectLst>
                  <a:outerShdw blurRad="38100" dist="38100" dir="2700000" algn="tl">
                    <a:srgbClr val="000000">
                      <a:alpha val="43137"/>
                    </a:srgbClr>
                  </a:outerShdw>
                  <a:reflection blurRad="6350" stA="50000" endA="300" endPos="50000" dist="29997" dir="5400000" sy="-100000" algn="bl" rotWithShape="0"/>
                </a:effectLst>
                <a:latin typeface="Times New Roman" panose="02020603050405020304" pitchFamily="18" charset="0"/>
                <a:cs typeface="Times New Roman" panose="02020603050405020304" pitchFamily="18" charset="0"/>
              </a:rPr>
              <a:t>SUB QUERIES</a:t>
            </a:r>
          </a:p>
        </p:txBody>
      </p:sp>
    </p:spTree>
    <p:extLst>
      <p:ext uri="{BB962C8B-B14F-4D97-AF65-F5344CB8AC3E}">
        <p14:creationId xmlns:p14="http://schemas.microsoft.com/office/powerpoint/2010/main" val="8695032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9A5B5-F8AB-3B03-01E2-127E4B56ABB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5D7DFDB-BD9A-D6CC-C330-58F30009031A}"/>
              </a:ext>
            </a:extLst>
          </p:cNvPr>
          <p:cNvSpPr txBox="1">
            <a:spLocks noGrp="1"/>
          </p:cNvSpPr>
          <p:nvPr>
            <p:ph type="title"/>
          </p:nvPr>
        </p:nvSpPr>
        <p:spPr>
          <a:xfrm>
            <a:off x="5400000" y="140442"/>
            <a:ext cx="7488000" cy="842538"/>
          </a:xfrm>
          <a:prstGeom prst="rect">
            <a:avLst/>
          </a:prstGeom>
        </p:spPr>
        <p:txBody>
          <a:bodyPr vert="horz" wrap="square" lIns="0" tIns="11430" rIns="0" bIns="0" rtlCol="0">
            <a:spAutoFit/>
          </a:bodyPr>
          <a:lstStyle/>
          <a:p>
            <a:pPr marL="12700" algn="ctr">
              <a:lnSpc>
                <a:spcPct val="100000"/>
              </a:lnSpc>
              <a:spcBef>
                <a:spcPts val="90"/>
              </a:spcBef>
            </a:pPr>
            <a:r>
              <a:rPr lang="en-IN" sz="5400" spc="-99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SUB QUERIES</a:t>
            </a:r>
            <a:endParaRPr sz="5400" spc="-99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object 6">
            <a:extLst>
              <a:ext uri="{FF2B5EF4-FFF2-40B4-BE49-F238E27FC236}">
                <a16:creationId xmlns:a16="http://schemas.microsoft.com/office/drawing/2014/main" id="{F7D374F7-E4D3-C3D9-1619-A1AC3C8EC56F}"/>
              </a:ext>
            </a:extLst>
          </p:cNvPr>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a:endParaRPr/>
          </a:p>
        </p:txBody>
      </p:sp>
      <p:grpSp>
        <p:nvGrpSpPr>
          <p:cNvPr id="7" name="object 7">
            <a:extLst>
              <a:ext uri="{FF2B5EF4-FFF2-40B4-BE49-F238E27FC236}">
                <a16:creationId xmlns:a16="http://schemas.microsoft.com/office/drawing/2014/main" id="{46E3D6E1-7919-F66D-F399-2B5CFDED35BA}"/>
              </a:ext>
            </a:extLst>
          </p:cNvPr>
          <p:cNvGrpSpPr/>
          <p:nvPr/>
        </p:nvGrpSpPr>
        <p:grpSpPr>
          <a:xfrm>
            <a:off x="0" y="9718118"/>
            <a:ext cx="18288000" cy="568960"/>
            <a:chOff x="0" y="9718118"/>
            <a:chExt cx="18288000" cy="568960"/>
          </a:xfrm>
        </p:grpSpPr>
        <p:sp>
          <p:nvSpPr>
            <p:cNvPr id="8" name="object 8">
              <a:extLst>
                <a:ext uri="{FF2B5EF4-FFF2-40B4-BE49-F238E27FC236}">
                  <a16:creationId xmlns:a16="http://schemas.microsoft.com/office/drawing/2014/main" id="{E7B53B73-8C94-D007-9E62-5347FF077119}"/>
                </a:ext>
              </a:extLst>
            </p:cNvPr>
            <p:cNvSpPr/>
            <p:nvPr/>
          </p:nvSpPr>
          <p:spPr>
            <a:xfrm>
              <a:off x="0" y="9889568"/>
              <a:ext cx="18288000" cy="397510"/>
            </a:xfrm>
            <a:custGeom>
              <a:avLst/>
              <a:gdLst/>
              <a:ahLst/>
              <a:cxnLst/>
              <a:rect l="l" t="t" r="r" b="b"/>
              <a:pathLst>
                <a:path w="18288000" h="397509">
                  <a:moveTo>
                    <a:pt x="0" y="397431"/>
                  </a:moveTo>
                  <a:lnTo>
                    <a:pt x="18288000" y="397431"/>
                  </a:lnTo>
                  <a:lnTo>
                    <a:pt x="18288000" y="0"/>
                  </a:lnTo>
                  <a:lnTo>
                    <a:pt x="0" y="0"/>
                  </a:lnTo>
                  <a:lnTo>
                    <a:pt x="0" y="397431"/>
                  </a:lnTo>
                  <a:close/>
                </a:path>
              </a:pathLst>
            </a:custGeom>
            <a:solidFill>
              <a:srgbClr val="FAE7BC"/>
            </a:solidFill>
          </p:spPr>
          <p:txBody>
            <a:bodyPr wrap="square" lIns="0" tIns="0" rIns="0" bIns="0" rtlCol="0"/>
            <a:lstStyle/>
            <a:p>
              <a:endParaRPr/>
            </a:p>
          </p:txBody>
        </p:sp>
        <p:sp>
          <p:nvSpPr>
            <p:cNvPr id="9" name="object 9">
              <a:extLst>
                <a:ext uri="{FF2B5EF4-FFF2-40B4-BE49-F238E27FC236}">
                  <a16:creationId xmlns:a16="http://schemas.microsoft.com/office/drawing/2014/main" id="{6E67AB41-1884-6DE9-A068-6611FAA2ACC3}"/>
                </a:ext>
              </a:extLst>
            </p:cNvPr>
            <p:cNvSpPr/>
            <p:nvPr/>
          </p:nvSpPr>
          <p:spPr>
            <a:xfrm>
              <a:off x="0" y="9718118"/>
              <a:ext cx="18288000" cy="171450"/>
            </a:xfrm>
            <a:custGeom>
              <a:avLst/>
              <a:gdLst/>
              <a:ahLst/>
              <a:cxnLst/>
              <a:rect l="l" t="t" r="r" b="b"/>
              <a:pathLst>
                <a:path w="18288000" h="171450">
                  <a:moveTo>
                    <a:pt x="0" y="0"/>
                  </a:moveTo>
                  <a:lnTo>
                    <a:pt x="18287999" y="0"/>
                  </a:lnTo>
                  <a:lnTo>
                    <a:pt x="18287999" y="171449"/>
                  </a:lnTo>
                  <a:lnTo>
                    <a:pt x="0" y="171449"/>
                  </a:lnTo>
                  <a:lnTo>
                    <a:pt x="0" y="0"/>
                  </a:lnTo>
                  <a:close/>
                </a:path>
              </a:pathLst>
            </a:custGeom>
            <a:solidFill>
              <a:srgbClr val="494848"/>
            </a:solidFill>
          </p:spPr>
          <p:txBody>
            <a:bodyPr wrap="square" lIns="0" tIns="0" rIns="0" bIns="0" rtlCol="0"/>
            <a:lstStyle/>
            <a:p>
              <a:endParaRPr/>
            </a:p>
          </p:txBody>
        </p:sp>
      </p:grpSp>
      <p:sp>
        <p:nvSpPr>
          <p:cNvPr id="10" name="object 10">
            <a:extLst>
              <a:ext uri="{FF2B5EF4-FFF2-40B4-BE49-F238E27FC236}">
                <a16:creationId xmlns:a16="http://schemas.microsoft.com/office/drawing/2014/main" id="{6C61B0E9-7FBF-2E79-FB27-6A742974EFB5}"/>
              </a:ext>
            </a:extLst>
          </p:cNvPr>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a:endParaRPr/>
          </a:p>
        </p:txBody>
      </p:sp>
      <p:sp>
        <p:nvSpPr>
          <p:cNvPr id="16" name="TextBox 15">
            <a:extLst>
              <a:ext uri="{FF2B5EF4-FFF2-40B4-BE49-F238E27FC236}">
                <a16:creationId xmlns:a16="http://schemas.microsoft.com/office/drawing/2014/main" id="{39C24C7E-6FDA-2F11-555A-12F30A35B673}"/>
              </a:ext>
            </a:extLst>
          </p:cNvPr>
          <p:cNvSpPr txBox="1"/>
          <p:nvPr/>
        </p:nvSpPr>
        <p:spPr>
          <a:xfrm>
            <a:off x="9601200" y="2705100"/>
            <a:ext cx="7488000" cy="1077218"/>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Write a  Query to Find </a:t>
            </a:r>
            <a:r>
              <a:rPr lang="en-US" sz="3200" b="1" dirty="0" err="1">
                <a:latin typeface="Times New Roman" panose="02020603050405020304" pitchFamily="18" charset="0"/>
                <a:cs typeface="Times New Roman" panose="02020603050405020304" pitchFamily="18" charset="0"/>
              </a:rPr>
              <a:t>daily_rate</a:t>
            </a:r>
            <a:r>
              <a:rPr lang="en-US" sz="3200" b="1" dirty="0">
                <a:latin typeface="Times New Roman" panose="02020603050405020304" pitchFamily="18" charset="0"/>
                <a:cs typeface="Times New Roman" panose="02020603050405020304" pitchFamily="18" charset="0"/>
              </a:rPr>
              <a:t> of cars higher than the </a:t>
            </a:r>
            <a:r>
              <a:rPr lang="en-US" sz="3200" b="1" dirty="0" err="1">
                <a:latin typeface="Times New Roman" panose="02020603050405020304" pitchFamily="18" charset="0"/>
                <a:cs typeface="Times New Roman" panose="02020603050405020304" pitchFamily="18" charset="0"/>
              </a:rPr>
              <a:t>daily_rate</a:t>
            </a:r>
            <a:r>
              <a:rPr lang="en-US" sz="3200" b="1" dirty="0">
                <a:latin typeface="Times New Roman" panose="02020603050405020304" pitchFamily="18" charset="0"/>
                <a:cs typeface="Times New Roman" panose="02020603050405020304" pitchFamily="18" charset="0"/>
              </a:rPr>
              <a:t> of </a:t>
            </a:r>
            <a:r>
              <a:rPr lang="en-US" sz="3200" b="1" dirty="0" err="1">
                <a:latin typeface="Times New Roman" panose="02020603050405020304" pitchFamily="18" charset="0"/>
                <a:cs typeface="Times New Roman" panose="02020603050405020304" pitchFamily="18" charset="0"/>
              </a:rPr>
              <a:t>car_id</a:t>
            </a:r>
            <a:r>
              <a:rPr lang="en-US" sz="3200" b="1" dirty="0">
                <a:latin typeface="Times New Roman" panose="02020603050405020304" pitchFamily="18" charset="0"/>
                <a:cs typeface="Times New Roman" panose="02020603050405020304" pitchFamily="18" charset="0"/>
              </a:rPr>
              <a:t> = 2</a:t>
            </a:r>
            <a:endParaRPr lang="en-IN" sz="3200" b="1"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8A694518-D055-2491-9185-482B15D27C66}"/>
              </a:ext>
            </a:extLst>
          </p:cNvPr>
          <p:cNvSpPr txBox="1"/>
          <p:nvPr/>
        </p:nvSpPr>
        <p:spPr>
          <a:xfrm>
            <a:off x="9771277" y="4114561"/>
            <a:ext cx="7488000" cy="1815882"/>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SELECT model, brand, </a:t>
            </a:r>
            <a:r>
              <a:rPr lang="en-US" sz="2800" dirty="0" err="1">
                <a:latin typeface="Times New Roman" panose="02020603050405020304" pitchFamily="18" charset="0"/>
                <a:cs typeface="Times New Roman" panose="02020603050405020304" pitchFamily="18" charset="0"/>
              </a:rPr>
              <a:t>daily_rate</a:t>
            </a:r>
            <a:r>
              <a:rPr lang="en-US" sz="2800" dirty="0">
                <a:latin typeface="Times New Roman" panose="02020603050405020304" pitchFamily="18" charset="0"/>
                <a:cs typeface="Times New Roman" panose="02020603050405020304" pitchFamily="18" charset="0"/>
              </a:rPr>
              <a:t> </a:t>
            </a:r>
          </a:p>
          <a:p>
            <a:r>
              <a:rPr lang="en-US" sz="2800" dirty="0">
                <a:latin typeface="Times New Roman" panose="02020603050405020304" pitchFamily="18" charset="0"/>
                <a:cs typeface="Times New Roman" panose="02020603050405020304" pitchFamily="18" charset="0"/>
              </a:rPr>
              <a:t>FROM </a:t>
            </a:r>
            <a:r>
              <a:rPr lang="en-US" sz="2800" dirty="0" err="1">
                <a:latin typeface="Times New Roman" panose="02020603050405020304" pitchFamily="18" charset="0"/>
                <a:cs typeface="Times New Roman" panose="02020603050405020304" pitchFamily="18" charset="0"/>
              </a:rPr>
              <a:t>CarsWHERE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daily_rate</a:t>
            </a:r>
            <a:r>
              <a:rPr lang="en-US" sz="2800" dirty="0">
                <a:latin typeface="Times New Roman" panose="02020603050405020304" pitchFamily="18" charset="0"/>
                <a:cs typeface="Times New Roman" panose="02020603050405020304" pitchFamily="18" charset="0"/>
              </a:rPr>
              <a:t> &gt; </a:t>
            </a:r>
          </a:p>
          <a:p>
            <a:r>
              <a:rPr lang="en-US" sz="2800" dirty="0">
                <a:latin typeface="Times New Roman" panose="02020603050405020304" pitchFamily="18" charset="0"/>
                <a:cs typeface="Times New Roman" panose="02020603050405020304" pitchFamily="18" charset="0"/>
              </a:rPr>
              <a:t>(SELECT </a:t>
            </a:r>
            <a:r>
              <a:rPr lang="en-US" sz="2800" dirty="0" err="1">
                <a:latin typeface="Times New Roman" panose="02020603050405020304" pitchFamily="18" charset="0"/>
                <a:cs typeface="Times New Roman" panose="02020603050405020304" pitchFamily="18" charset="0"/>
              </a:rPr>
              <a:t>daily_rate</a:t>
            </a:r>
            <a:r>
              <a:rPr lang="en-US" sz="2800" dirty="0">
                <a:latin typeface="Times New Roman" panose="02020603050405020304" pitchFamily="18" charset="0"/>
                <a:cs typeface="Times New Roman" panose="02020603050405020304" pitchFamily="18" charset="0"/>
              </a:rPr>
              <a:t> FROM Cars WHERE </a:t>
            </a:r>
            <a:r>
              <a:rPr lang="en-US" sz="2800" dirty="0" err="1">
                <a:latin typeface="Times New Roman" panose="02020603050405020304" pitchFamily="18" charset="0"/>
                <a:cs typeface="Times New Roman" panose="02020603050405020304" pitchFamily="18" charset="0"/>
              </a:rPr>
              <a:t>car_id</a:t>
            </a:r>
            <a:r>
              <a:rPr lang="en-US" sz="2800" dirty="0">
                <a:latin typeface="Times New Roman" panose="02020603050405020304" pitchFamily="18" charset="0"/>
                <a:cs typeface="Times New Roman" panose="02020603050405020304" pitchFamily="18" charset="0"/>
              </a:rPr>
              <a:t> = 2);</a:t>
            </a:r>
            <a:endParaRPr lang="en-IN" sz="2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2A4DC89-4578-6697-8B66-FCBF1A8C7BD6}"/>
              </a:ext>
            </a:extLst>
          </p:cNvPr>
          <p:cNvPicPr>
            <a:picLocks noChangeAspect="1"/>
          </p:cNvPicPr>
          <p:nvPr/>
        </p:nvPicPr>
        <p:blipFill>
          <a:blip r:embed="rId2">
            <a:duotone>
              <a:prstClr val="black"/>
              <a:schemeClr val="bg2">
                <a:lumMod val="90000"/>
                <a:tint val="45000"/>
                <a:satMod val="400000"/>
              </a:schemeClr>
            </a:duotone>
          </a:blip>
          <a:stretch>
            <a:fillRect/>
          </a:stretch>
        </p:blipFill>
        <p:spPr>
          <a:xfrm>
            <a:off x="1184512" y="2705100"/>
            <a:ext cx="7200876" cy="4442279"/>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9407514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CF4B8-0A2C-C036-21AB-4E74A6CC005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DC04F3C-C79A-EFE3-B015-BCE5493B729C}"/>
              </a:ext>
            </a:extLst>
          </p:cNvPr>
          <p:cNvSpPr txBox="1">
            <a:spLocks noGrp="1"/>
          </p:cNvSpPr>
          <p:nvPr>
            <p:ph type="title"/>
          </p:nvPr>
        </p:nvSpPr>
        <p:spPr>
          <a:xfrm>
            <a:off x="5400000" y="140442"/>
            <a:ext cx="7488000" cy="842538"/>
          </a:xfrm>
          <a:prstGeom prst="rect">
            <a:avLst/>
          </a:prstGeom>
        </p:spPr>
        <p:txBody>
          <a:bodyPr vert="horz" wrap="square" lIns="0" tIns="11430" rIns="0" bIns="0" rtlCol="0">
            <a:spAutoFit/>
          </a:bodyPr>
          <a:lstStyle/>
          <a:p>
            <a:pPr marL="12700" algn="ctr">
              <a:lnSpc>
                <a:spcPct val="100000"/>
              </a:lnSpc>
              <a:spcBef>
                <a:spcPts val="90"/>
              </a:spcBef>
            </a:pPr>
            <a:r>
              <a:rPr lang="en-IN" sz="5400" spc="-99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SUB QUERIES</a:t>
            </a:r>
            <a:endParaRPr sz="5400" spc="-99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object 6">
            <a:extLst>
              <a:ext uri="{FF2B5EF4-FFF2-40B4-BE49-F238E27FC236}">
                <a16:creationId xmlns:a16="http://schemas.microsoft.com/office/drawing/2014/main" id="{EA20632F-2388-8B81-B3BC-CACE08ED5B2F}"/>
              </a:ext>
            </a:extLst>
          </p:cNvPr>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a:endParaRPr/>
          </a:p>
        </p:txBody>
      </p:sp>
      <p:grpSp>
        <p:nvGrpSpPr>
          <p:cNvPr id="7" name="object 7">
            <a:extLst>
              <a:ext uri="{FF2B5EF4-FFF2-40B4-BE49-F238E27FC236}">
                <a16:creationId xmlns:a16="http://schemas.microsoft.com/office/drawing/2014/main" id="{F2B6D142-ED78-7883-B016-5F91B33C2112}"/>
              </a:ext>
            </a:extLst>
          </p:cNvPr>
          <p:cNvGrpSpPr/>
          <p:nvPr/>
        </p:nvGrpSpPr>
        <p:grpSpPr>
          <a:xfrm>
            <a:off x="0" y="9718118"/>
            <a:ext cx="18288000" cy="568960"/>
            <a:chOff x="0" y="9718118"/>
            <a:chExt cx="18288000" cy="568960"/>
          </a:xfrm>
        </p:grpSpPr>
        <p:sp>
          <p:nvSpPr>
            <p:cNvPr id="8" name="object 8">
              <a:extLst>
                <a:ext uri="{FF2B5EF4-FFF2-40B4-BE49-F238E27FC236}">
                  <a16:creationId xmlns:a16="http://schemas.microsoft.com/office/drawing/2014/main" id="{5E7A74A6-E2DB-97FA-4134-794AE393A5AD}"/>
                </a:ext>
              </a:extLst>
            </p:cNvPr>
            <p:cNvSpPr/>
            <p:nvPr/>
          </p:nvSpPr>
          <p:spPr>
            <a:xfrm>
              <a:off x="0" y="9889568"/>
              <a:ext cx="18288000" cy="397510"/>
            </a:xfrm>
            <a:custGeom>
              <a:avLst/>
              <a:gdLst/>
              <a:ahLst/>
              <a:cxnLst/>
              <a:rect l="l" t="t" r="r" b="b"/>
              <a:pathLst>
                <a:path w="18288000" h="397509">
                  <a:moveTo>
                    <a:pt x="0" y="397431"/>
                  </a:moveTo>
                  <a:lnTo>
                    <a:pt x="18288000" y="397431"/>
                  </a:lnTo>
                  <a:lnTo>
                    <a:pt x="18288000" y="0"/>
                  </a:lnTo>
                  <a:lnTo>
                    <a:pt x="0" y="0"/>
                  </a:lnTo>
                  <a:lnTo>
                    <a:pt x="0" y="397431"/>
                  </a:lnTo>
                  <a:close/>
                </a:path>
              </a:pathLst>
            </a:custGeom>
            <a:solidFill>
              <a:srgbClr val="FAE7BC"/>
            </a:solidFill>
          </p:spPr>
          <p:txBody>
            <a:bodyPr wrap="square" lIns="0" tIns="0" rIns="0" bIns="0" rtlCol="0"/>
            <a:lstStyle/>
            <a:p>
              <a:endParaRPr/>
            </a:p>
          </p:txBody>
        </p:sp>
        <p:sp>
          <p:nvSpPr>
            <p:cNvPr id="9" name="object 9">
              <a:extLst>
                <a:ext uri="{FF2B5EF4-FFF2-40B4-BE49-F238E27FC236}">
                  <a16:creationId xmlns:a16="http://schemas.microsoft.com/office/drawing/2014/main" id="{0F8FE22B-20F8-2099-2405-4AB4C9421475}"/>
                </a:ext>
              </a:extLst>
            </p:cNvPr>
            <p:cNvSpPr/>
            <p:nvPr/>
          </p:nvSpPr>
          <p:spPr>
            <a:xfrm>
              <a:off x="0" y="9718118"/>
              <a:ext cx="18288000" cy="171450"/>
            </a:xfrm>
            <a:custGeom>
              <a:avLst/>
              <a:gdLst/>
              <a:ahLst/>
              <a:cxnLst/>
              <a:rect l="l" t="t" r="r" b="b"/>
              <a:pathLst>
                <a:path w="18288000" h="171450">
                  <a:moveTo>
                    <a:pt x="0" y="0"/>
                  </a:moveTo>
                  <a:lnTo>
                    <a:pt x="18287999" y="0"/>
                  </a:lnTo>
                  <a:lnTo>
                    <a:pt x="18287999" y="171449"/>
                  </a:lnTo>
                  <a:lnTo>
                    <a:pt x="0" y="171449"/>
                  </a:lnTo>
                  <a:lnTo>
                    <a:pt x="0" y="0"/>
                  </a:lnTo>
                  <a:close/>
                </a:path>
              </a:pathLst>
            </a:custGeom>
            <a:solidFill>
              <a:srgbClr val="494848"/>
            </a:solidFill>
          </p:spPr>
          <p:txBody>
            <a:bodyPr wrap="square" lIns="0" tIns="0" rIns="0" bIns="0" rtlCol="0"/>
            <a:lstStyle/>
            <a:p>
              <a:endParaRPr/>
            </a:p>
          </p:txBody>
        </p:sp>
      </p:grpSp>
      <p:sp>
        <p:nvSpPr>
          <p:cNvPr id="10" name="object 10">
            <a:extLst>
              <a:ext uri="{FF2B5EF4-FFF2-40B4-BE49-F238E27FC236}">
                <a16:creationId xmlns:a16="http://schemas.microsoft.com/office/drawing/2014/main" id="{30D20887-0FBE-BD24-66B1-CEDA6DD3677B}"/>
              </a:ext>
            </a:extLst>
          </p:cNvPr>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a:endParaRPr/>
          </a:p>
        </p:txBody>
      </p:sp>
      <p:sp>
        <p:nvSpPr>
          <p:cNvPr id="16" name="TextBox 15">
            <a:extLst>
              <a:ext uri="{FF2B5EF4-FFF2-40B4-BE49-F238E27FC236}">
                <a16:creationId xmlns:a16="http://schemas.microsoft.com/office/drawing/2014/main" id="{B65A40EF-65CC-3456-ECA9-73F46C5B480D}"/>
              </a:ext>
            </a:extLst>
          </p:cNvPr>
          <p:cNvSpPr txBox="1"/>
          <p:nvPr/>
        </p:nvSpPr>
        <p:spPr>
          <a:xfrm>
            <a:off x="9601200" y="2705100"/>
            <a:ext cx="7488000" cy="1569660"/>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Write a query to find all rentals whose </a:t>
            </a:r>
            <a:r>
              <a:rPr lang="en-US" sz="3200" b="1" dirty="0" err="1">
                <a:latin typeface="Times New Roman" panose="02020603050405020304" pitchFamily="18" charset="0"/>
                <a:cs typeface="Times New Roman" panose="02020603050405020304" pitchFamily="18" charset="0"/>
              </a:rPr>
              <a:t>total_amount</a:t>
            </a:r>
            <a:r>
              <a:rPr lang="en-US" sz="3200" b="1" dirty="0">
                <a:latin typeface="Times New Roman" panose="02020603050405020304" pitchFamily="18" charset="0"/>
                <a:cs typeface="Times New Roman" panose="02020603050405020304" pitchFamily="18" charset="0"/>
              </a:rPr>
              <a:t> is greater than the rental with </a:t>
            </a:r>
            <a:r>
              <a:rPr lang="en-US" sz="3200" b="1" dirty="0" err="1">
                <a:latin typeface="Times New Roman" panose="02020603050405020304" pitchFamily="18" charset="0"/>
                <a:cs typeface="Times New Roman" panose="02020603050405020304" pitchFamily="18" charset="0"/>
              </a:rPr>
              <a:t>rental_id</a:t>
            </a:r>
            <a:r>
              <a:rPr lang="en-US" sz="3200" b="1" dirty="0">
                <a:latin typeface="Times New Roman" panose="02020603050405020304" pitchFamily="18" charset="0"/>
                <a:cs typeface="Times New Roman" panose="02020603050405020304" pitchFamily="18" charset="0"/>
              </a:rPr>
              <a:t> = 3.</a:t>
            </a:r>
            <a:endParaRPr lang="en-IN" sz="3200" b="1"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C91B7505-DD73-3E1A-D393-C4E13B4B18C6}"/>
              </a:ext>
            </a:extLst>
          </p:cNvPr>
          <p:cNvSpPr txBox="1"/>
          <p:nvPr/>
        </p:nvSpPr>
        <p:spPr>
          <a:xfrm>
            <a:off x="9615488" y="4546224"/>
            <a:ext cx="7488000" cy="1815882"/>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SELECT </a:t>
            </a:r>
            <a:r>
              <a:rPr lang="en-US" sz="2800" dirty="0" err="1">
                <a:latin typeface="Times New Roman" panose="02020603050405020304" pitchFamily="18" charset="0"/>
                <a:cs typeface="Times New Roman" panose="02020603050405020304" pitchFamily="18" charset="0"/>
              </a:rPr>
              <a:t>rental_id</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customer_id</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total_amount</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FROM Rentals</a:t>
            </a:r>
          </a:p>
          <a:p>
            <a:r>
              <a:rPr lang="en-US" sz="2800" dirty="0">
                <a:latin typeface="Times New Roman" panose="02020603050405020304" pitchFamily="18" charset="0"/>
                <a:cs typeface="Times New Roman" panose="02020603050405020304" pitchFamily="18" charset="0"/>
              </a:rPr>
              <a:t>WHERE </a:t>
            </a:r>
            <a:r>
              <a:rPr lang="en-US" sz="2800" dirty="0" err="1">
                <a:latin typeface="Times New Roman" panose="02020603050405020304" pitchFamily="18" charset="0"/>
                <a:cs typeface="Times New Roman" panose="02020603050405020304" pitchFamily="18" charset="0"/>
              </a:rPr>
              <a:t>total_amount</a:t>
            </a:r>
            <a:r>
              <a:rPr lang="en-US" sz="2800" dirty="0">
                <a:latin typeface="Times New Roman" panose="02020603050405020304" pitchFamily="18" charset="0"/>
                <a:cs typeface="Times New Roman" panose="02020603050405020304" pitchFamily="18" charset="0"/>
              </a:rPr>
              <a:t> &gt; (SELECT </a:t>
            </a:r>
            <a:r>
              <a:rPr lang="en-US" sz="2800" dirty="0" err="1">
                <a:latin typeface="Times New Roman" panose="02020603050405020304" pitchFamily="18" charset="0"/>
                <a:cs typeface="Times New Roman" panose="02020603050405020304" pitchFamily="18" charset="0"/>
              </a:rPr>
              <a:t>total_amount</a:t>
            </a:r>
            <a:r>
              <a:rPr lang="en-US" sz="2800" dirty="0">
                <a:latin typeface="Times New Roman" panose="02020603050405020304" pitchFamily="18" charset="0"/>
                <a:cs typeface="Times New Roman" panose="02020603050405020304" pitchFamily="18" charset="0"/>
              </a:rPr>
              <a:t> FROM Rentals WHERE </a:t>
            </a:r>
            <a:r>
              <a:rPr lang="en-US" sz="2800" dirty="0" err="1">
                <a:latin typeface="Times New Roman" panose="02020603050405020304" pitchFamily="18" charset="0"/>
                <a:cs typeface="Times New Roman" panose="02020603050405020304" pitchFamily="18" charset="0"/>
              </a:rPr>
              <a:t>rental_id</a:t>
            </a:r>
            <a:r>
              <a:rPr lang="en-US" sz="2800" dirty="0">
                <a:latin typeface="Times New Roman" panose="02020603050405020304" pitchFamily="18" charset="0"/>
                <a:cs typeface="Times New Roman" panose="02020603050405020304" pitchFamily="18" charset="0"/>
              </a:rPr>
              <a:t> = 3);</a:t>
            </a:r>
          </a:p>
        </p:txBody>
      </p:sp>
      <p:pic>
        <p:nvPicPr>
          <p:cNvPr id="4" name="Picture 3">
            <a:extLst>
              <a:ext uri="{FF2B5EF4-FFF2-40B4-BE49-F238E27FC236}">
                <a16:creationId xmlns:a16="http://schemas.microsoft.com/office/drawing/2014/main" id="{D15C9593-8154-D50B-2097-F5A1A682772B}"/>
              </a:ext>
            </a:extLst>
          </p:cNvPr>
          <p:cNvPicPr>
            <a:picLocks noChangeAspect="1"/>
          </p:cNvPicPr>
          <p:nvPr/>
        </p:nvPicPr>
        <p:blipFill>
          <a:blip r:embed="rId2">
            <a:duotone>
              <a:prstClr val="black"/>
              <a:schemeClr val="bg2">
                <a:lumMod val="90000"/>
                <a:tint val="45000"/>
                <a:satMod val="400000"/>
              </a:schemeClr>
            </a:duotone>
          </a:blip>
          <a:stretch>
            <a:fillRect/>
          </a:stretch>
        </p:blipFill>
        <p:spPr>
          <a:xfrm>
            <a:off x="1447800" y="2705100"/>
            <a:ext cx="7391400" cy="470421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0801785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B8496-FBDF-5E9D-C4CA-482F266747F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87167E6-3860-2FEB-124D-ED1269DFA94A}"/>
              </a:ext>
            </a:extLst>
          </p:cNvPr>
          <p:cNvSpPr txBox="1">
            <a:spLocks noGrp="1"/>
          </p:cNvSpPr>
          <p:nvPr>
            <p:ph type="title"/>
          </p:nvPr>
        </p:nvSpPr>
        <p:spPr>
          <a:xfrm>
            <a:off x="5400000" y="140442"/>
            <a:ext cx="7488000" cy="842538"/>
          </a:xfrm>
          <a:prstGeom prst="rect">
            <a:avLst/>
          </a:prstGeom>
        </p:spPr>
        <p:txBody>
          <a:bodyPr vert="horz" wrap="square" lIns="0" tIns="11430" rIns="0" bIns="0" rtlCol="0">
            <a:spAutoFit/>
          </a:bodyPr>
          <a:lstStyle/>
          <a:p>
            <a:pPr marL="12700" algn="ctr">
              <a:lnSpc>
                <a:spcPct val="100000"/>
              </a:lnSpc>
              <a:spcBef>
                <a:spcPts val="90"/>
              </a:spcBef>
            </a:pPr>
            <a:r>
              <a:rPr lang="en-IN" sz="5400" spc="-99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SUB QUERIES</a:t>
            </a:r>
            <a:endParaRPr sz="5400" spc="-99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object 6">
            <a:extLst>
              <a:ext uri="{FF2B5EF4-FFF2-40B4-BE49-F238E27FC236}">
                <a16:creationId xmlns:a16="http://schemas.microsoft.com/office/drawing/2014/main" id="{399820FA-E867-75E4-E931-EC542790530D}"/>
              </a:ext>
            </a:extLst>
          </p:cNvPr>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a:endParaRPr/>
          </a:p>
        </p:txBody>
      </p:sp>
      <p:grpSp>
        <p:nvGrpSpPr>
          <p:cNvPr id="7" name="object 7">
            <a:extLst>
              <a:ext uri="{FF2B5EF4-FFF2-40B4-BE49-F238E27FC236}">
                <a16:creationId xmlns:a16="http://schemas.microsoft.com/office/drawing/2014/main" id="{C3A1D943-37F4-8784-FDB3-66FC3134FB2E}"/>
              </a:ext>
            </a:extLst>
          </p:cNvPr>
          <p:cNvGrpSpPr/>
          <p:nvPr/>
        </p:nvGrpSpPr>
        <p:grpSpPr>
          <a:xfrm>
            <a:off x="0" y="9718118"/>
            <a:ext cx="18288000" cy="568960"/>
            <a:chOff x="0" y="9718118"/>
            <a:chExt cx="18288000" cy="568960"/>
          </a:xfrm>
        </p:grpSpPr>
        <p:sp>
          <p:nvSpPr>
            <p:cNvPr id="8" name="object 8">
              <a:extLst>
                <a:ext uri="{FF2B5EF4-FFF2-40B4-BE49-F238E27FC236}">
                  <a16:creationId xmlns:a16="http://schemas.microsoft.com/office/drawing/2014/main" id="{CF5D170A-FE17-F81D-ECC2-B09E0D6974D7}"/>
                </a:ext>
              </a:extLst>
            </p:cNvPr>
            <p:cNvSpPr/>
            <p:nvPr/>
          </p:nvSpPr>
          <p:spPr>
            <a:xfrm>
              <a:off x="0" y="9889568"/>
              <a:ext cx="18288000" cy="397510"/>
            </a:xfrm>
            <a:custGeom>
              <a:avLst/>
              <a:gdLst/>
              <a:ahLst/>
              <a:cxnLst/>
              <a:rect l="l" t="t" r="r" b="b"/>
              <a:pathLst>
                <a:path w="18288000" h="397509">
                  <a:moveTo>
                    <a:pt x="0" y="397431"/>
                  </a:moveTo>
                  <a:lnTo>
                    <a:pt x="18288000" y="397431"/>
                  </a:lnTo>
                  <a:lnTo>
                    <a:pt x="18288000" y="0"/>
                  </a:lnTo>
                  <a:lnTo>
                    <a:pt x="0" y="0"/>
                  </a:lnTo>
                  <a:lnTo>
                    <a:pt x="0" y="397431"/>
                  </a:lnTo>
                  <a:close/>
                </a:path>
              </a:pathLst>
            </a:custGeom>
            <a:solidFill>
              <a:srgbClr val="FAE7BC"/>
            </a:solidFill>
          </p:spPr>
          <p:txBody>
            <a:bodyPr wrap="square" lIns="0" tIns="0" rIns="0" bIns="0" rtlCol="0"/>
            <a:lstStyle/>
            <a:p>
              <a:endParaRPr/>
            </a:p>
          </p:txBody>
        </p:sp>
        <p:sp>
          <p:nvSpPr>
            <p:cNvPr id="9" name="object 9">
              <a:extLst>
                <a:ext uri="{FF2B5EF4-FFF2-40B4-BE49-F238E27FC236}">
                  <a16:creationId xmlns:a16="http://schemas.microsoft.com/office/drawing/2014/main" id="{6773E91C-53A1-83D7-F796-2639C263C781}"/>
                </a:ext>
              </a:extLst>
            </p:cNvPr>
            <p:cNvSpPr/>
            <p:nvPr/>
          </p:nvSpPr>
          <p:spPr>
            <a:xfrm>
              <a:off x="0" y="9718118"/>
              <a:ext cx="18288000" cy="171450"/>
            </a:xfrm>
            <a:custGeom>
              <a:avLst/>
              <a:gdLst/>
              <a:ahLst/>
              <a:cxnLst/>
              <a:rect l="l" t="t" r="r" b="b"/>
              <a:pathLst>
                <a:path w="18288000" h="171450">
                  <a:moveTo>
                    <a:pt x="0" y="0"/>
                  </a:moveTo>
                  <a:lnTo>
                    <a:pt x="18287999" y="0"/>
                  </a:lnTo>
                  <a:lnTo>
                    <a:pt x="18287999" y="171449"/>
                  </a:lnTo>
                  <a:lnTo>
                    <a:pt x="0" y="171449"/>
                  </a:lnTo>
                  <a:lnTo>
                    <a:pt x="0" y="0"/>
                  </a:lnTo>
                  <a:close/>
                </a:path>
              </a:pathLst>
            </a:custGeom>
            <a:solidFill>
              <a:srgbClr val="494848"/>
            </a:solidFill>
          </p:spPr>
          <p:txBody>
            <a:bodyPr wrap="square" lIns="0" tIns="0" rIns="0" bIns="0" rtlCol="0"/>
            <a:lstStyle/>
            <a:p>
              <a:endParaRPr/>
            </a:p>
          </p:txBody>
        </p:sp>
      </p:grpSp>
      <p:sp>
        <p:nvSpPr>
          <p:cNvPr id="10" name="object 10">
            <a:extLst>
              <a:ext uri="{FF2B5EF4-FFF2-40B4-BE49-F238E27FC236}">
                <a16:creationId xmlns:a16="http://schemas.microsoft.com/office/drawing/2014/main" id="{92C5F3C3-8153-8281-077E-5ED31420085F}"/>
              </a:ext>
            </a:extLst>
          </p:cNvPr>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a:endParaRPr/>
          </a:p>
        </p:txBody>
      </p:sp>
      <p:sp>
        <p:nvSpPr>
          <p:cNvPr id="16" name="TextBox 15">
            <a:extLst>
              <a:ext uri="{FF2B5EF4-FFF2-40B4-BE49-F238E27FC236}">
                <a16:creationId xmlns:a16="http://schemas.microsoft.com/office/drawing/2014/main" id="{F0B9116B-D71D-1729-DF4E-1C89E3B35427}"/>
              </a:ext>
            </a:extLst>
          </p:cNvPr>
          <p:cNvSpPr txBox="1"/>
          <p:nvPr/>
        </p:nvSpPr>
        <p:spPr>
          <a:xfrm>
            <a:off x="9601200" y="2705100"/>
            <a:ext cx="7488000" cy="1569660"/>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Write a query to find all rentals whose </a:t>
            </a:r>
            <a:r>
              <a:rPr lang="en-US" sz="3200" b="1" dirty="0" err="1">
                <a:latin typeface="Times New Roman" panose="02020603050405020304" pitchFamily="18" charset="0"/>
                <a:cs typeface="Times New Roman" panose="02020603050405020304" pitchFamily="18" charset="0"/>
              </a:rPr>
              <a:t>total_amount</a:t>
            </a:r>
            <a:r>
              <a:rPr lang="en-US" sz="3200" b="1" dirty="0">
                <a:latin typeface="Times New Roman" panose="02020603050405020304" pitchFamily="18" charset="0"/>
                <a:cs typeface="Times New Roman" panose="02020603050405020304" pitchFamily="18" charset="0"/>
              </a:rPr>
              <a:t> is greater than the average </a:t>
            </a:r>
            <a:r>
              <a:rPr lang="en-US" sz="3200" b="1" dirty="0" err="1">
                <a:latin typeface="Times New Roman" panose="02020603050405020304" pitchFamily="18" charset="0"/>
                <a:cs typeface="Times New Roman" panose="02020603050405020304" pitchFamily="18" charset="0"/>
              </a:rPr>
              <a:t>total_amount</a:t>
            </a:r>
            <a:r>
              <a:rPr lang="en-US" sz="3200" b="1" dirty="0">
                <a:latin typeface="Times New Roman" panose="02020603050405020304" pitchFamily="18" charset="0"/>
                <a:cs typeface="Times New Roman" panose="02020603050405020304" pitchFamily="18" charset="0"/>
              </a:rPr>
              <a:t> of all rentals.</a:t>
            </a:r>
            <a:endParaRPr lang="en-IN" sz="3200" b="1"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E0B8034D-9FE9-EC00-DF9B-9C87E557E07B}"/>
              </a:ext>
            </a:extLst>
          </p:cNvPr>
          <p:cNvSpPr txBox="1"/>
          <p:nvPr/>
        </p:nvSpPr>
        <p:spPr>
          <a:xfrm>
            <a:off x="9615488" y="4546224"/>
            <a:ext cx="8062912" cy="1815882"/>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SELECT </a:t>
            </a:r>
            <a:r>
              <a:rPr lang="en-US" sz="2800" dirty="0" err="1">
                <a:latin typeface="Times New Roman" panose="02020603050405020304" pitchFamily="18" charset="0"/>
                <a:cs typeface="Times New Roman" panose="02020603050405020304" pitchFamily="18" charset="0"/>
              </a:rPr>
              <a:t>rental_id</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customer_id</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car_id</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total_amount</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FROM Rentals</a:t>
            </a:r>
          </a:p>
          <a:p>
            <a:r>
              <a:rPr lang="en-US" sz="2800" dirty="0">
                <a:latin typeface="Times New Roman" panose="02020603050405020304" pitchFamily="18" charset="0"/>
                <a:cs typeface="Times New Roman" panose="02020603050405020304" pitchFamily="18" charset="0"/>
              </a:rPr>
              <a:t>WHERE </a:t>
            </a:r>
            <a:r>
              <a:rPr lang="en-US" sz="2800" dirty="0" err="1">
                <a:latin typeface="Times New Roman" panose="02020603050405020304" pitchFamily="18" charset="0"/>
                <a:cs typeface="Times New Roman" panose="02020603050405020304" pitchFamily="18" charset="0"/>
              </a:rPr>
              <a:t>total_amount</a:t>
            </a:r>
            <a:r>
              <a:rPr lang="en-US" sz="2800" dirty="0">
                <a:latin typeface="Times New Roman" panose="02020603050405020304" pitchFamily="18" charset="0"/>
                <a:cs typeface="Times New Roman" panose="02020603050405020304" pitchFamily="18" charset="0"/>
              </a:rPr>
              <a:t> &gt; </a:t>
            </a:r>
          </a:p>
          <a:p>
            <a:r>
              <a:rPr lang="en-US" sz="2800" dirty="0">
                <a:latin typeface="Times New Roman" panose="02020603050405020304" pitchFamily="18" charset="0"/>
                <a:cs typeface="Times New Roman" panose="02020603050405020304" pitchFamily="18" charset="0"/>
              </a:rPr>
              <a:t>(SELECT AVG(</a:t>
            </a:r>
            <a:r>
              <a:rPr lang="en-US" sz="2800" dirty="0" err="1">
                <a:latin typeface="Times New Roman" panose="02020603050405020304" pitchFamily="18" charset="0"/>
                <a:cs typeface="Times New Roman" panose="02020603050405020304" pitchFamily="18" charset="0"/>
              </a:rPr>
              <a:t>total_amount</a:t>
            </a:r>
            <a:r>
              <a:rPr lang="en-US" sz="2800" dirty="0">
                <a:latin typeface="Times New Roman" panose="02020603050405020304" pitchFamily="18" charset="0"/>
                <a:cs typeface="Times New Roman" panose="02020603050405020304" pitchFamily="18" charset="0"/>
              </a:rPr>
              <a:t>) FROM Rentals);</a:t>
            </a:r>
          </a:p>
        </p:txBody>
      </p:sp>
      <p:pic>
        <p:nvPicPr>
          <p:cNvPr id="5" name="Picture 4">
            <a:extLst>
              <a:ext uri="{FF2B5EF4-FFF2-40B4-BE49-F238E27FC236}">
                <a16:creationId xmlns:a16="http://schemas.microsoft.com/office/drawing/2014/main" id="{B38D4B99-8977-9802-9400-FA61AF50C162}"/>
              </a:ext>
            </a:extLst>
          </p:cNvPr>
          <p:cNvPicPr>
            <a:picLocks noChangeAspect="1"/>
          </p:cNvPicPr>
          <p:nvPr/>
        </p:nvPicPr>
        <p:blipFill>
          <a:blip r:embed="rId2">
            <a:duotone>
              <a:prstClr val="black"/>
              <a:schemeClr val="bg2">
                <a:lumMod val="90000"/>
                <a:tint val="45000"/>
                <a:satMod val="400000"/>
              </a:schemeClr>
            </a:duotone>
          </a:blip>
          <a:stretch>
            <a:fillRect/>
          </a:stretch>
        </p:blipFill>
        <p:spPr>
          <a:xfrm>
            <a:off x="1447800" y="2705100"/>
            <a:ext cx="7010399" cy="434340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2653951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B761F-52D1-F99E-2DAE-0906AA74007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63C9C1B-9AE5-020B-75A8-F480BE8BC024}"/>
              </a:ext>
            </a:extLst>
          </p:cNvPr>
          <p:cNvSpPr txBox="1">
            <a:spLocks noGrp="1"/>
          </p:cNvSpPr>
          <p:nvPr>
            <p:ph type="title"/>
          </p:nvPr>
        </p:nvSpPr>
        <p:spPr>
          <a:xfrm>
            <a:off x="5400000" y="140442"/>
            <a:ext cx="7488000" cy="842538"/>
          </a:xfrm>
          <a:prstGeom prst="rect">
            <a:avLst/>
          </a:prstGeom>
        </p:spPr>
        <p:txBody>
          <a:bodyPr vert="horz" wrap="square" lIns="0" tIns="11430" rIns="0" bIns="0" rtlCol="0">
            <a:spAutoFit/>
          </a:bodyPr>
          <a:lstStyle/>
          <a:p>
            <a:pPr marL="12700" algn="ctr">
              <a:lnSpc>
                <a:spcPct val="100000"/>
              </a:lnSpc>
              <a:spcBef>
                <a:spcPts val="90"/>
              </a:spcBef>
            </a:pPr>
            <a:r>
              <a:rPr lang="en-IN" sz="5400" spc="-99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SUB QUERIES</a:t>
            </a:r>
            <a:endParaRPr sz="5400" spc="-99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object 6">
            <a:extLst>
              <a:ext uri="{FF2B5EF4-FFF2-40B4-BE49-F238E27FC236}">
                <a16:creationId xmlns:a16="http://schemas.microsoft.com/office/drawing/2014/main" id="{8A1259EE-D6FE-5A9F-D29E-5EDFFA99E479}"/>
              </a:ext>
            </a:extLst>
          </p:cNvPr>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a:endParaRPr/>
          </a:p>
        </p:txBody>
      </p:sp>
      <p:grpSp>
        <p:nvGrpSpPr>
          <p:cNvPr id="7" name="object 7">
            <a:extLst>
              <a:ext uri="{FF2B5EF4-FFF2-40B4-BE49-F238E27FC236}">
                <a16:creationId xmlns:a16="http://schemas.microsoft.com/office/drawing/2014/main" id="{93069E21-F582-DA9C-DB85-F5A5B9949577}"/>
              </a:ext>
            </a:extLst>
          </p:cNvPr>
          <p:cNvGrpSpPr/>
          <p:nvPr/>
        </p:nvGrpSpPr>
        <p:grpSpPr>
          <a:xfrm>
            <a:off x="0" y="9718118"/>
            <a:ext cx="18288000" cy="568960"/>
            <a:chOff x="0" y="9718118"/>
            <a:chExt cx="18288000" cy="568960"/>
          </a:xfrm>
        </p:grpSpPr>
        <p:sp>
          <p:nvSpPr>
            <p:cNvPr id="8" name="object 8">
              <a:extLst>
                <a:ext uri="{FF2B5EF4-FFF2-40B4-BE49-F238E27FC236}">
                  <a16:creationId xmlns:a16="http://schemas.microsoft.com/office/drawing/2014/main" id="{9E3289EC-62FB-7FC0-3D1B-0A226E9958BF}"/>
                </a:ext>
              </a:extLst>
            </p:cNvPr>
            <p:cNvSpPr/>
            <p:nvPr/>
          </p:nvSpPr>
          <p:spPr>
            <a:xfrm>
              <a:off x="0" y="9889568"/>
              <a:ext cx="18288000" cy="397510"/>
            </a:xfrm>
            <a:custGeom>
              <a:avLst/>
              <a:gdLst/>
              <a:ahLst/>
              <a:cxnLst/>
              <a:rect l="l" t="t" r="r" b="b"/>
              <a:pathLst>
                <a:path w="18288000" h="397509">
                  <a:moveTo>
                    <a:pt x="0" y="397431"/>
                  </a:moveTo>
                  <a:lnTo>
                    <a:pt x="18288000" y="397431"/>
                  </a:lnTo>
                  <a:lnTo>
                    <a:pt x="18288000" y="0"/>
                  </a:lnTo>
                  <a:lnTo>
                    <a:pt x="0" y="0"/>
                  </a:lnTo>
                  <a:lnTo>
                    <a:pt x="0" y="397431"/>
                  </a:lnTo>
                  <a:close/>
                </a:path>
              </a:pathLst>
            </a:custGeom>
            <a:solidFill>
              <a:srgbClr val="FAE7BC"/>
            </a:solidFill>
          </p:spPr>
          <p:txBody>
            <a:bodyPr wrap="square" lIns="0" tIns="0" rIns="0" bIns="0" rtlCol="0"/>
            <a:lstStyle/>
            <a:p>
              <a:endParaRPr/>
            </a:p>
          </p:txBody>
        </p:sp>
        <p:sp>
          <p:nvSpPr>
            <p:cNvPr id="9" name="object 9">
              <a:extLst>
                <a:ext uri="{FF2B5EF4-FFF2-40B4-BE49-F238E27FC236}">
                  <a16:creationId xmlns:a16="http://schemas.microsoft.com/office/drawing/2014/main" id="{069F5FE3-E69B-36D3-5237-36D36E423F39}"/>
                </a:ext>
              </a:extLst>
            </p:cNvPr>
            <p:cNvSpPr/>
            <p:nvPr/>
          </p:nvSpPr>
          <p:spPr>
            <a:xfrm>
              <a:off x="0" y="9718118"/>
              <a:ext cx="18288000" cy="171450"/>
            </a:xfrm>
            <a:custGeom>
              <a:avLst/>
              <a:gdLst/>
              <a:ahLst/>
              <a:cxnLst/>
              <a:rect l="l" t="t" r="r" b="b"/>
              <a:pathLst>
                <a:path w="18288000" h="171450">
                  <a:moveTo>
                    <a:pt x="0" y="0"/>
                  </a:moveTo>
                  <a:lnTo>
                    <a:pt x="18287999" y="0"/>
                  </a:lnTo>
                  <a:lnTo>
                    <a:pt x="18287999" y="171449"/>
                  </a:lnTo>
                  <a:lnTo>
                    <a:pt x="0" y="171449"/>
                  </a:lnTo>
                  <a:lnTo>
                    <a:pt x="0" y="0"/>
                  </a:lnTo>
                  <a:close/>
                </a:path>
              </a:pathLst>
            </a:custGeom>
            <a:solidFill>
              <a:srgbClr val="494848"/>
            </a:solidFill>
          </p:spPr>
          <p:txBody>
            <a:bodyPr wrap="square" lIns="0" tIns="0" rIns="0" bIns="0" rtlCol="0"/>
            <a:lstStyle/>
            <a:p>
              <a:endParaRPr/>
            </a:p>
          </p:txBody>
        </p:sp>
      </p:grpSp>
      <p:sp>
        <p:nvSpPr>
          <p:cNvPr id="10" name="object 10">
            <a:extLst>
              <a:ext uri="{FF2B5EF4-FFF2-40B4-BE49-F238E27FC236}">
                <a16:creationId xmlns:a16="http://schemas.microsoft.com/office/drawing/2014/main" id="{B81AED47-9A3E-8748-EB51-8814C27CF9A7}"/>
              </a:ext>
            </a:extLst>
          </p:cNvPr>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a:endParaRPr/>
          </a:p>
        </p:txBody>
      </p:sp>
      <p:sp>
        <p:nvSpPr>
          <p:cNvPr id="16" name="TextBox 15">
            <a:extLst>
              <a:ext uri="{FF2B5EF4-FFF2-40B4-BE49-F238E27FC236}">
                <a16:creationId xmlns:a16="http://schemas.microsoft.com/office/drawing/2014/main" id="{8E22EE16-65E1-A1F8-7F28-2AFCE09D1F6B}"/>
              </a:ext>
            </a:extLst>
          </p:cNvPr>
          <p:cNvSpPr txBox="1"/>
          <p:nvPr/>
        </p:nvSpPr>
        <p:spPr>
          <a:xfrm>
            <a:off x="9601200" y="2705100"/>
            <a:ext cx="7488000" cy="1569660"/>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Write a query to find all cars whose </a:t>
            </a:r>
            <a:r>
              <a:rPr lang="en-US" sz="3200" b="1" dirty="0" err="1">
                <a:latin typeface="Times New Roman" panose="02020603050405020304" pitchFamily="18" charset="0"/>
                <a:cs typeface="Times New Roman" panose="02020603050405020304" pitchFamily="18" charset="0"/>
              </a:rPr>
              <a:t>daily_rate</a:t>
            </a:r>
            <a:r>
              <a:rPr lang="en-US" sz="3200" b="1" dirty="0">
                <a:latin typeface="Times New Roman" panose="02020603050405020304" pitchFamily="18" charset="0"/>
                <a:cs typeface="Times New Roman" panose="02020603050405020304" pitchFamily="18" charset="0"/>
              </a:rPr>
              <a:t> is less than the average </a:t>
            </a:r>
            <a:r>
              <a:rPr lang="en-US" sz="3200" b="1" dirty="0" err="1">
                <a:latin typeface="Times New Roman" panose="02020603050405020304" pitchFamily="18" charset="0"/>
                <a:cs typeface="Times New Roman" panose="02020603050405020304" pitchFamily="18" charset="0"/>
              </a:rPr>
              <a:t>daily_rate</a:t>
            </a:r>
            <a:r>
              <a:rPr lang="en-US" sz="3200" b="1" dirty="0">
                <a:latin typeface="Times New Roman" panose="02020603050405020304" pitchFamily="18" charset="0"/>
                <a:cs typeface="Times New Roman" panose="02020603050405020304" pitchFamily="18" charset="0"/>
              </a:rPr>
              <a:t> of Hyundai cars.</a:t>
            </a:r>
            <a:endParaRPr lang="en-IN" sz="3200" b="1"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DF5D3E14-C7DC-54B7-AA0F-4CC9FAFA0827}"/>
              </a:ext>
            </a:extLst>
          </p:cNvPr>
          <p:cNvSpPr txBox="1"/>
          <p:nvPr/>
        </p:nvSpPr>
        <p:spPr>
          <a:xfrm>
            <a:off x="9615488" y="4546224"/>
            <a:ext cx="8062912" cy="2246769"/>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SELECT model, brand, </a:t>
            </a:r>
            <a:r>
              <a:rPr lang="en-US" sz="2800" dirty="0" err="1">
                <a:latin typeface="Times New Roman" panose="02020603050405020304" pitchFamily="18" charset="0"/>
                <a:cs typeface="Times New Roman" panose="02020603050405020304" pitchFamily="18" charset="0"/>
              </a:rPr>
              <a:t>daily_rate</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FROM Cars</a:t>
            </a:r>
          </a:p>
          <a:p>
            <a:r>
              <a:rPr lang="en-US" sz="2800" dirty="0">
                <a:latin typeface="Times New Roman" panose="02020603050405020304" pitchFamily="18" charset="0"/>
                <a:cs typeface="Times New Roman" panose="02020603050405020304" pitchFamily="18" charset="0"/>
              </a:rPr>
              <a:t>WHERE </a:t>
            </a:r>
            <a:r>
              <a:rPr lang="en-US" sz="2800" dirty="0" err="1">
                <a:latin typeface="Times New Roman" panose="02020603050405020304" pitchFamily="18" charset="0"/>
                <a:cs typeface="Times New Roman" panose="02020603050405020304" pitchFamily="18" charset="0"/>
              </a:rPr>
              <a:t>daily_rate</a:t>
            </a:r>
            <a:r>
              <a:rPr lang="en-US" sz="2800" dirty="0">
                <a:latin typeface="Times New Roman" panose="02020603050405020304" pitchFamily="18" charset="0"/>
                <a:cs typeface="Times New Roman" panose="02020603050405020304" pitchFamily="18" charset="0"/>
              </a:rPr>
              <a:t> &lt; (</a:t>
            </a:r>
          </a:p>
          <a:p>
            <a:r>
              <a:rPr lang="en-US" sz="2800" dirty="0">
                <a:latin typeface="Times New Roman" panose="02020603050405020304" pitchFamily="18" charset="0"/>
                <a:cs typeface="Times New Roman" panose="02020603050405020304" pitchFamily="18" charset="0"/>
              </a:rPr>
              <a:t>SELECT AVG(</a:t>
            </a:r>
            <a:r>
              <a:rPr lang="en-US" sz="2800" dirty="0" err="1">
                <a:latin typeface="Times New Roman" panose="02020603050405020304" pitchFamily="18" charset="0"/>
                <a:cs typeface="Times New Roman" panose="02020603050405020304" pitchFamily="18" charset="0"/>
              </a:rPr>
              <a:t>daily_rate</a:t>
            </a:r>
            <a:r>
              <a:rPr lang="en-US" sz="2800" dirty="0">
                <a:latin typeface="Times New Roman" panose="02020603050405020304" pitchFamily="18" charset="0"/>
                <a:cs typeface="Times New Roman" panose="02020603050405020304" pitchFamily="18" charset="0"/>
              </a:rPr>
              <a:t>) FROM Cars</a:t>
            </a:r>
          </a:p>
          <a:p>
            <a:r>
              <a:rPr lang="en-US" sz="2800" dirty="0">
                <a:latin typeface="Times New Roman" panose="02020603050405020304" pitchFamily="18" charset="0"/>
                <a:cs typeface="Times New Roman" panose="02020603050405020304" pitchFamily="18" charset="0"/>
              </a:rPr>
              <a:t>WHERE brand = 'Hyundai');</a:t>
            </a:r>
          </a:p>
        </p:txBody>
      </p:sp>
      <p:pic>
        <p:nvPicPr>
          <p:cNvPr id="12" name="Picture 11">
            <a:extLst>
              <a:ext uri="{FF2B5EF4-FFF2-40B4-BE49-F238E27FC236}">
                <a16:creationId xmlns:a16="http://schemas.microsoft.com/office/drawing/2014/main" id="{4089E15D-33C8-2E82-9ADE-E62E41D4DE17}"/>
              </a:ext>
            </a:extLst>
          </p:cNvPr>
          <p:cNvPicPr>
            <a:picLocks noChangeAspect="1"/>
          </p:cNvPicPr>
          <p:nvPr/>
        </p:nvPicPr>
        <p:blipFill>
          <a:blip r:embed="rId2">
            <a:duotone>
              <a:prstClr val="black"/>
              <a:schemeClr val="bg2">
                <a:lumMod val="90000"/>
                <a:tint val="45000"/>
                <a:satMod val="400000"/>
              </a:schemeClr>
            </a:duotone>
          </a:blip>
          <a:stretch>
            <a:fillRect/>
          </a:stretch>
        </p:blipFill>
        <p:spPr>
          <a:xfrm>
            <a:off x="1752600" y="2705100"/>
            <a:ext cx="5867400" cy="426720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6472366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A22DE-55CF-75BB-5555-769489DCBB0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0C77407-66B0-E074-9FFB-F33F0D8D509F}"/>
              </a:ext>
            </a:extLst>
          </p:cNvPr>
          <p:cNvSpPr txBox="1">
            <a:spLocks noGrp="1"/>
          </p:cNvSpPr>
          <p:nvPr>
            <p:ph type="title"/>
          </p:nvPr>
        </p:nvSpPr>
        <p:spPr>
          <a:xfrm>
            <a:off x="5400000" y="140442"/>
            <a:ext cx="7488000" cy="842538"/>
          </a:xfrm>
          <a:prstGeom prst="rect">
            <a:avLst/>
          </a:prstGeom>
        </p:spPr>
        <p:txBody>
          <a:bodyPr vert="horz" wrap="square" lIns="0" tIns="11430" rIns="0" bIns="0" rtlCol="0">
            <a:spAutoFit/>
          </a:bodyPr>
          <a:lstStyle/>
          <a:p>
            <a:pPr marL="12700" algn="ctr">
              <a:lnSpc>
                <a:spcPct val="100000"/>
              </a:lnSpc>
              <a:spcBef>
                <a:spcPts val="90"/>
              </a:spcBef>
            </a:pPr>
            <a:r>
              <a:rPr lang="en-IN" sz="5400" spc="-99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SUB QUERIES</a:t>
            </a:r>
            <a:endParaRPr sz="5400" spc="-99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object 6">
            <a:extLst>
              <a:ext uri="{FF2B5EF4-FFF2-40B4-BE49-F238E27FC236}">
                <a16:creationId xmlns:a16="http://schemas.microsoft.com/office/drawing/2014/main" id="{2444A6A1-D213-6FC3-D35F-946A17488AB5}"/>
              </a:ext>
            </a:extLst>
          </p:cNvPr>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a:endParaRPr/>
          </a:p>
        </p:txBody>
      </p:sp>
      <p:grpSp>
        <p:nvGrpSpPr>
          <p:cNvPr id="7" name="object 7">
            <a:extLst>
              <a:ext uri="{FF2B5EF4-FFF2-40B4-BE49-F238E27FC236}">
                <a16:creationId xmlns:a16="http://schemas.microsoft.com/office/drawing/2014/main" id="{38CE3C8A-EE10-AAC8-FD7A-E65ECF557785}"/>
              </a:ext>
            </a:extLst>
          </p:cNvPr>
          <p:cNvGrpSpPr/>
          <p:nvPr/>
        </p:nvGrpSpPr>
        <p:grpSpPr>
          <a:xfrm>
            <a:off x="0" y="9718118"/>
            <a:ext cx="18288000" cy="568960"/>
            <a:chOff x="0" y="9718118"/>
            <a:chExt cx="18288000" cy="568960"/>
          </a:xfrm>
        </p:grpSpPr>
        <p:sp>
          <p:nvSpPr>
            <p:cNvPr id="8" name="object 8">
              <a:extLst>
                <a:ext uri="{FF2B5EF4-FFF2-40B4-BE49-F238E27FC236}">
                  <a16:creationId xmlns:a16="http://schemas.microsoft.com/office/drawing/2014/main" id="{3C564104-5200-FE77-28EB-8FB41E876D96}"/>
                </a:ext>
              </a:extLst>
            </p:cNvPr>
            <p:cNvSpPr/>
            <p:nvPr/>
          </p:nvSpPr>
          <p:spPr>
            <a:xfrm>
              <a:off x="0" y="9889568"/>
              <a:ext cx="18288000" cy="397510"/>
            </a:xfrm>
            <a:custGeom>
              <a:avLst/>
              <a:gdLst/>
              <a:ahLst/>
              <a:cxnLst/>
              <a:rect l="l" t="t" r="r" b="b"/>
              <a:pathLst>
                <a:path w="18288000" h="397509">
                  <a:moveTo>
                    <a:pt x="0" y="397431"/>
                  </a:moveTo>
                  <a:lnTo>
                    <a:pt x="18288000" y="397431"/>
                  </a:lnTo>
                  <a:lnTo>
                    <a:pt x="18288000" y="0"/>
                  </a:lnTo>
                  <a:lnTo>
                    <a:pt x="0" y="0"/>
                  </a:lnTo>
                  <a:lnTo>
                    <a:pt x="0" y="397431"/>
                  </a:lnTo>
                  <a:close/>
                </a:path>
              </a:pathLst>
            </a:custGeom>
            <a:solidFill>
              <a:srgbClr val="FAE7BC"/>
            </a:solidFill>
          </p:spPr>
          <p:txBody>
            <a:bodyPr wrap="square" lIns="0" tIns="0" rIns="0" bIns="0" rtlCol="0"/>
            <a:lstStyle/>
            <a:p>
              <a:endParaRPr/>
            </a:p>
          </p:txBody>
        </p:sp>
        <p:sp>
          <p:nvSpPr>
            <p:cNvPr id="9" name="object 9">
              <a:extLst>
                <a:ext uri="{FF2B5EF4-FFF2-40B4-BE49-F238E27FC236}">
                  <a16:creationId xmlns:a16="http://schemas.microsoft.com/office/drawing/2014/main" id="{A3D68E3C-7B5F-94EB-E8E3-0464194A266F}"/>
                </a:ext>
              </a:extLst>
            </p:cNvPr>
            <p:cNvSpPr/>
            <p:nvPr/>
          </p:nvSpPr>
          <p:spPr>
            <a:xfrm>
              <a:off x="0" y="9718118"/>
              <a:ext cx="18288000" cy="171450"/>
            </a:xfrm>
            <a:custGeom>
              <a:avLst/>
              <a:gdLst/>
              <a:ahLst/>
              <a:cxnLst/>
              <a:rect l="l" t="t" r="r" b="b"/>
              <a:pathLst>
                <a:path w="18288000" h="171450">
                  <a:moveTo>
                    <a:pt x="0" y="0"/>
                  </a:moveTo>
                  <a:lnTo>
                    <a:pt x="18287999" y="0"/>
                  </a:lnTo>
                  <a:lnTo>
                    <a:pt x="18287999" y="171449"/>
                  </a:lnTo>
                  <a:lnTo>
                    <a:pt x="0" y="171449"/>
                  </a:lnTo>
                  <a:lnTo>
                    <a:pt x="0" y="0"/>
                  </a:lnTo>
                  <a:close/>
                </a:path>
              </a:pathLst>
            </a:custGeom>
            <a:solidFill>
              <a:srgbClr val="494848"/>
            </a:solidFill>
          </p:spPr>
          <p:txBody>
            <a:bodyPr wrap="square" lIns="0" tIns="0" rIns="0" bIns="0" rtlCol="0"/>
            <a:lstStyle/>
            <a:p>
              <a:endParaRPr/>
            </a:p>
          </p:txBody>
        </p:sp>
      </p:grpSp>
      <p:sp>
        <p:nvSpPr>
          <p:cNvPr id="10" name="object 10">
            <a:extLst>
              <a:ext uri="{FF2B5EF4-FFF2-40B4-BE49-F238E27FC236}">
                <a16:creationId xmlns:a16="http://schemas.microsoft.com/office/drawing/2014/main" id="{324E31AA-EE2E-A959-F8A2-CB2D11BA8939}"/>
              </a:ext>
            </a:extLst>
          </p:cNvPr>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a:endParaRPr/>
          </a:p>
        </p:txBody>
      </p:sp>
      <p:sp>
        <p:nvSpPr>
          <p:cNvPr id="16" name="TextBox 15">
            <a:extLst>
              <a:ext uri="{FF2B5EF4-FFF2-40B4-BE49-F238E27FC236}">
                <a16:creationId xmlns:a16="http://schemas.microsoft.com/office/drawing/2014/main" id="{9A2CD0CE-BE59-99E5-7119-5EF563E1F76F}"/>
              </a:ext>
            </a:extLst>
          </p:cNvPr>
          <p:cNvSpPr txBox="1"/>
          <p:nvPr/>
        </p:nvSpPr>
        <p:spPr>
          <a:xfrm>
            <a:off x="9601200" y="2705100"/>
            <a:ext cx="7488000" cy="1077218"/>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Write a query to find all customers who have rented a car after ‘2025-09-10’.</a:t>
            </a:r>
          </a:p>
        </p:txBody>
      </p:sp>
      <p:sp>
        <p:nvSpPr>
          <p:cNvPr id="17" name="TextBox 16">
            <a:extLst>
              <a:ext uri="{FF2B5EF4-FFF2-40B4-BE49-F238E27FC236}">
                <a16:creationId xmlns:a16="http://schemas.microsoft.com/office/drawing/2014/main" id="{7EA3B252-C06C-91F7-9DB9-1C163A58D55E}"/>
              </a:ext>
            </a:extLst>
          </p:cNvPr>
          <p:cNvSpPr txBox="1"/>
          <p:nvPr/>
        </p:nvSpPr>
        <p:spPr>
          <a:xfrm>
            <a:off x="9620250" y="4838700"/>
            <a:ext cx="8062912" cy="3108543"/>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SELECT </a:t>
            </a:r>
            <a:r>
              <a:rPr lang="en-US" sz="2800" dirty="0" err="1">
                <a:latin typeface="Times New Roman" panose="02020603050405020304" pitchFamily="18" charset="0"/>
                <a:cs typeface="Times New Roman" panose="02020603050405020304" pitchFamily="18" charset="0"/>
              </a:rPr>
              <a:t>first_name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last_name</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FROM Customers</a:t>
            </a:r>
          </a:p>
          <a:p>
            <a:r>
              <a:rPr lang="en-US" sz="2800" dirty="0">
                <a:latin typeface="Times New Roman" panose="02020603050405020304" pitchFamily="18" charset="0"/>
                <a:cs typeface="Times New Roman" panose="02020603050405020304" pitchFamily="18" charset="0"/>
              </a:rPr>
              <a:t>WHERE </a:t>
            </a:r>
            <a:r>
              <a:rPr lang="en-US" sz="2800" dirty="0" err="1">
                <a:latin typeface="Times New Roman" panose="02020603050405020304" pitchFamily="18" charset="0"/>
                <a:cs typeface="Times New Roman" panose="02020603050405020304" pitchFamily="18" charset="0"/>
              </a:rPr>
              <a:t>customer_id</a:t>
            </a:r>
            <a:r>
              <a:rPr lang="en-US" sz="2800" dirty="0">
                <a:latin typeface="Times New Roman" panose="02020603050405020304" pitchFamily="18" charset="0"/>
                <a:cs typeface="Times New Roman" panose="02020603050405020304" pitchFamily="18" charset="0"/>
              </a:rPr>
              <a:t> IN (</a:t>
            </a:r>
          </a:p>
          <a:p>
            <a:r>
              <a:rPr lang="en-US" sz="2800" dirty="0">
                <a:latin typeface="Times New Roman" panose="02020603050405020304" pitchFamily="18" charset="0"/>
                <a:cs typeface="Times New Roman" panose="02020603050405020304" pitchFamily="18" charset="0"/>
              </a:rPr>
              <a:t>    SELECT </a:t>
            </a:r>
            <a:r>
              <a:rPr lang="en-US" sz="2800" dirty="0" err="1">
                <a:latin typeface="Times New Roman" panose="02020603050405020304" pitchFamily="18" charset="0"/>
                <a:cs typeface="Times New Roman" panose="02020603050405020304" pitchFamily="18" charset="0"/>
              </a:rPr>
              <a:t>customer_id</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    FROM Rentals</a:t>
            </a:r>
          </a:p>
          <a:p>
            <a:r>
              <a:rPr lang="en-US" sz="2800" dirty="0">
                <a:latin typeface="Times New Roman" panose="02020603050405020304" pitchFamily="18" charset="0"/>
                <a:cs typeface="Times New Roman" panose="02020603050405020304" pitchFamily="18" charset="0"/>
              </a:rPr>
              <a:t>    WHERE </a:t>
            </a:r>
            <a:r>
              <a:rPr lang="en-US" sz="2800" dirty="0" err="1">
                <a:latin typeface="Times New Roman" panose="02020603050405020304" pitchFamily="18" charset="0"/>
                <a:cs typeface="Times New Roman" panose="02020603050405020304" pitchFamily="18" charset="0"/>
              </a:rPr>
              <a:t>rental_date</a:t>
            </a:r>
            <a:r>
              <a:rPr lang="en-US" sz="2800" dirty="0">
                <a:latin typeface="Times New Roman" panose="02020603050405020304" pitchFamily="18" charset="0"/>
                <a:cs typeface="Times New Roman" panose="02020603050405020304" pitchFamily="18" charset="0"/>
              </a:rPr>
              <a:t> &gt; '2025-09-10'</a:t>
            </a:r>
          </a:p>
          <a:p>
            <a:r>
              <a:rPr lang="en-US" sz="2800" dirty="0">
                <a:latin typeface="Times New Roman" panose="02020603050405020304" pitchFamily="18" charset="0"/>
                <a:cs typeface="Times New Roman" panose="02020603050405020304" pitchFamily="18" charset="0"/>
              </a:rPr>
              <a:t>);</a:t>
            </a:r>
          </a:p>
        </p:txBody>
      </p:sp>
      <p:pic>
        <p:nvPicPr>
          <p:cNvPr id="4" name="Picture 3">
            <a:extLst>
              <a:ext uri="{FF2B5EF4-FFF2-40B4-BE49-F238E27FC236}">
                <a16:creationId xmlns:a16="http://schemas.microsoft.com/office/drawing/2014/main" id="{E84FEE19-8C44-75F7-BCD9-239090A3120B}"/>
              </a:ext>
            </a:extLst>
          </p:cNvPr>
          <p:cNvPicPr>
            <a:picLocks noChangeAspect="1"/>
          </p:cNvPicPr>
          <p:nvPr/>
        </p:nvPicPr>
        <p:blipFill>
          <a:blip r:embed="rId2">
            <a:duotone>
              <a:prstClr val="black"/>
              <a:schemeClr val="bg2">
                <a:lumMod val="90000"/>
                <a:tint val="45000"/>
                <a:satMod val="400000"/>
              </a:schemeClr>
            </a:duotone>
          </a:blip>
          <a:stretch>
            <a:fillRect/>
          </a:stretch>
        </p:blipFill>
        <p:spPr>
          <a:xfrm>
            <a:off x="2133600" y="2854675"/>
            <a:ext cx="5669888" cy="509256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8090769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55C45-D8E2-EFC0-F884-6F6DCDD2B255}"/>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36751008-341E-3290-0EAB-F02D5E8B509A}"/>
              </a:ext>
            </a:extLst>
          </p:cNvPr>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a:endParaRPr/>
          </a:p>
        </p:txBody>
      </p:sp>
      <p:grpSp>
        <p:nvGrpSpPr>
          <p:cNvPr id="7" name="object 7">
            <a:extLst>
              <a:ext uri="{FF2B5EF4-FFF2-40B4-BE49-F238E27FC236}">
                <a16:creationId xmlns:a16="http://schemas.microsoft.com/office/drawing/2014/main" id="{13A96981-F2B3-FC3A-518C-182C4836019D}"/>
              </a:ext>
            </a:extLst>
          </p:cNvPr>
          <p:cNvGrpSpPr/>
          <p:nvPr/>
        </p:nvGrpSpPr>
        <p:grpSpPr>
          <a:xfrm>
            <a:off x="0" y="9718118"/>
            <a:ext cx="18288000" cy="568960"/>
            <a:chOff x="0" y="9718118"/>
            <a:chExt cx="18288000" cy="568960"/>
          </a:xfrm>
        </p:grpSpPr>
        <p:sp>
          <p:nvSpPr>
            <p:cNvPr id="8" name="object 8">
              <a:extLst>
                <a:ext uri="{FF2B5EF4-FFF2-40B4-BE49-F238E27FC236}">
                  <a16:creationId xmlns:a16="http://schemas.microsoft.com/office/drawing/2014/main" id="{7210F668-B03F-881F-3D43-24210ADB2B1B}"/>
                </a:ext>
              </a:extLst>
            </p:cNvPr>
            <p:cNvSpPr/>
            <p:nvPr/>
          </p:nvSpPr>
          <p:spPr>
            <a:xfrm>
              <a:off x="0" y="9889568"/>
              <a:ext cx="18288000" cy="397510"/>
            </a:xfrm>
            <a:custGeom>
              <a:avLst/>
              <a:gdLst/>
              <a:ahLst/>
              <a:cxnLst/>
              <a:rect l="l" t="t" r="r" b="b"/>
              <a:pathLst>
                <a:path w="18288000" h="397509">
                  <a:moveTo>
                    <a:pt x="0" y="397431"/>
                  </a:moveTo>
                  <a:lnTo>
                    <a:pt x="18288000" y="397431"/>
                  </a:lnTo>
                  <a:lnTo>
                    <a:pt x="18288000" y="0"/>
                  </a:lnTo>
                  <a:lnTo>
                    <a:pt x="0" y="0"/>
                  </a:lnTo>
                  <a:lnTo>
                    <a:pt x="0" y="397431"/>
                  </a:lnTo>
                  <a:close/>
                </a:path>
              </a:pathLst>
            </a:custGeom>
            <a:solidFill>
              <a:srgbClr val="FAE7BC"/>
            </a:solidFill>
          </p:spPr>
          <p:txBody>
            <a:bodyPr wrap="square" lIns="0" tIns="0" rIns="0" bIns="0" rtlCol="0"/>
            <a:lstStyle/>
            <a:p>
              <a:endParaRPr/>
            </a:p>
          </p:txBody>
        </p:sp>
        <p:sp>
          <p:nvSpPr>
            <p:cNvPr id="9" name="object 9">
              <a:extLst>
                <a:ext uri="{FF2B5EF4-FFF2-40B4-BE49-F238E27FC236}">
                  <a16:creationId xmlns:a16="http://schemas.microsoft.com/office/drawing/2014/main" id="{B3A3A966-8645-5085-59EC-3B6BE94E1C33}"/>
                </a:ext>
              </a:extLst>
            </p:cNvPr>
            <p:cNvSpPr/>
            <p:nvPr/>
          </p:nvSpPr>
          <p:spPr>
            <a:xfrm>
              <a:off x="0" y="9718118"/>
              <a:ext cx="18288000" cy="171450"/>
            </a:xfrm>
            <a:custGeom>
              <a:avLst/>
              <a:gdLst/>
              <a:ahLst/>
              <a:cxnLst/>
              <a:rect l="l" t="t" r="r" b="b"/>
              <a:pathLst>
                <a:path w="18288000" h="171450">
                  <a:moveTo>
                    <a:pt x="0" y="0"/>
                  </a:moveTo>
                  <a:lnTo>
                    <a:pt x="18287999" y="0"/>
                  </a:lnTo>
                  <a:lnTo>
                    <a:pt x="18287999" y="171449"/>
                  </a:lnTo>
                  <a:lnTo>
                    <a:pt x="0" y="171449"/>
                  </a:lnTo>
                  <a:lnTo>
                    <a:pt x="0" y="0"/>
                  </a:lnTo>
                  <a:close/>
                </a:path>
              </a:pathLst>
            </a:custGeom>
            <a:solidFill>
              <a:srgbClr val="494848"/>
            </a:solidFill>
          </p:spPr>
          <p:txBody>
            <a:bodyPr wrap="square" lIns="0" tIns="0" rIns="0" bIns="0" rtlCol="0"/>
            <a:lstStyle/>
            <a:p>
              <a:endParaRPr/>
            </a:p>
          </p:txBody>
        </p:sp>
      </p:grpSp>
      <p:sp>
        <p:nvSpPr>
          <p:cNvPr id="10" name="object 10">
            <a:extLst>
              <a:ext uri="{FF2B5EF4-FFF2-40B4-BE49-F238E27FC236}">
                <a16:creationId xmlns:a16="http://schemas.microsoft.com/office/drawing/2014/main" id="{0DB04F61-AF54-7E7F-DAC9-7A6D1F39D220}"/>
              </a:ext>
            </a:extLst>
          </p:cNvPr>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a:endParaRPr/>
          </a:p>
        </p:txBody>
      </p:sp>
      <p:sp>
        <p:nvSpPr>
          <p:cNvPr id="5" name="TextBox 4">
            <a:extLst>
              <a:ext uri="{FF2B5EF4-FFF2-40B4-BE49-F238E27FC236}">
                <a16:creationId xmlns:a16="http://schemas.microsoft.com/office/drawing/2014/main" id="{0AF0E0E9-198C-6B83-C5AC-3077F0835755}"/>
              </a:ext>
            </a:extLst>
          </p:cNvPr>
          <p:cNvSpPr txBox="1"/>
          <p:nvPr/>
        </p:nvSpPr>
        <p:spPr>
          <a:xfrm>
            <a:off x="10744200" y="3771900"/>
            <a:ext cx="7239000" cy="1323439"/>
          </a:xfrm>
          <a:prstGeom prst="rect">
            <a:avLst/>
          </a:prstGeom>
          <a:noFill/>
        </p:spPr>
        <p:txBody>
          <a:bodyPr wrap="square" rtlCol="0">
            <a:spAutoFit/>
          </a:bodyPr>
          <a:lstStyle/>
          <a:p>
            <a:r>
              <a:rPr lang="en-IN" sz="8000" b="1" dirty="0">
                <a:effectLst>
                  <a:outerShdw blurRad="38100" dist="38100" dir="2700000" algn="tl">
                    <a:srgbClr val="000000">
                      <a:alpha val="43137"/>
                    </a:srgbClr>
                  </a:outerShdw>
                  <a:reflection blurRad="6350" stA="50000" endA="300" endPos="50000" dist="29997" dir="5400000" sy="-100000" algn="bl" rotWithShape="0"/>
                </a:effectLst>
                <a:latin typeface="Times New Roman" panose="02020603050405020304" pitchFamily="18" charset="0"/>
                <a:cs typeface="Times New Roman" panose="02020603050405020304" pitchFamily="18" charset="0"/>
              </a:rPr>
              <a:t>        JOINS</a:t>
            </a:r>
          </a:p>
        </p:txBody>
      </p:sp>
      <p:pic>
        <p:nvPicPr>
          <p:cNvPr id="3" name="Picture 2">
            <a:extLst>
              <a:ext uri="{FF2B5EF4-FFF2-40B4-BE49-F238E27FC236}">
                <a16:creationId xmlns:a16="http://schemas.microsoft.com/office/drawing/2014/main" id="{5B70ACE2-AB3D-A12B-99AD-C012AE9CF1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134600" cy="9718118"/>
          </a:xfrm>
          <a:prstGeom prst="rect">
            <a:avLst/>
          </a:prstGeom>
        </p:spPr>
      </p:pic>
    </p:spTree>
    <p:extLst>
      <p:ext uri="{BB962C8B-B14F-4D97-AF65-F5344CB8AC3E}">
        <p14:creationId xmlns:p14="http://schemas.microsoft.com/office/powerpoint/2010/main" val="3503629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B25FD-FE68-17FD-4C2D-A05FFACC418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8594871-2A0F-063B-B04B-FC33D72811AE}"/>
              </a:ext>
            </a:extLst>
          </p:cNvPr>
          <p:cNvSpPr txBox="1">
            <a:spLocks noGrp="1"/>
          </p:cNvSpPr>
          <p:nvPr>
            <p:ph type="title"/>
          </p:nvPr>
        </p:nvSpPr>
        <p:spPr>
          <a:xfrm>
            <a:off x="5400000" y="140442"/>
            <a:ext cx="7488000" cy="842538"/>
          </a:xfrm>
          <a:prstGeom prst="rect">
            <a:avLst/>
          </a:prstGeom>
        </p:spPr>
        <p:txBody>
          <a:bodyPr vert="horz" wrap="square" lIns="0" tIns="11430" rIns="0" bIns="0" rtlCol="0">
            <a:spAutoFit/>
          </a:bodyPr>
          <a:lstStyle/>
          <a:p>
            <a:pPr marL="12700" algn="ctr">
              <a:lnSpc>
                <a:spcPct val="100000"/>
              </a:lnSpc>
              <a:spcBef>
                <a:spcPts val="90"/>
              </a:spcBef>
            </a:pPr>
            <a:r>
              <a:rPr lang="en-IN" sz="5400" spc="-99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JOINS</a:t>
            </a:r>
            <a:endParaRPr sz="5400" spc="-99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object 6">
            <a:extLst>
              <a:ext uri="{FF2B5EF4-FFF2-40B4-BE49-F238E27FC236}">
                <a16:creationId xmlns:a16="http://schemas.microsoft.com/office/drawing/2014/main" id="{CBEEB6A2-DF44-33BD-83A3-41C71A861FCA}"/>
              </a:ext>
            </a:extLst>
          </p:cNvPr>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a:endParaRPr/>
          </a:p>
        </p:txBody>
      </p:sp>
      <p:grpSp>
        <p:nvGrpSpPr>
          <p:cNvPr id="7" name="object 7">
            <a:extLst>
              <a:ext uri="{FF2B5EF4-FFF2-40B4-BE49-F238E27FC236}">
                <a16:creationId xmlns:a16="http://schemas.microsoft.com/office/drawing/2014/main" id="{F3924638-E4E0-04F8-DFFA-C3D50C4BBDD9}"/>
              </a:ext>
            </a:extLst>
          </p:cNvPr>
          <p:cNvGrpSpPr/>
          <p:nvPr/>
        </p:nvGrpSpPr>
        <p:grpSpPr>
          <a:xfrm>
            <a:off x="0" y="9718118"/>
            <a:ext cx="18288000" cy="568960"/>
            <a:chOff x="0" y="9718118"/>
            <a:chExt cx="18288000" cy="568960"/>
          </a:xfrm>
        </p:grpSpPr>
        <p:sp>
          <p:nvSpPr>
            <p:cNvPr id="8" name="object 8">
              <a:extLst>
                <a:ext uri="{FF2B5EF4-FFF2-40B4-BE49-F238E27FC236}">
                  <a16:creationId xmlns:a16="http://schemas.microsoft.com/office/drawing/2014/main" id="{3B6F339D-ABF1-07BA-FD9A-12ED054C95F8}"/>
                </a:ext>
              </a:extLst>
            </p:cNvPr>
            <p:cNvSpPr/>
            <p:nvPr/>
          </p:nvSpPr>
          <p:spPr>
            <a:xfrm>
              <a:off x="0" y="9889568"/>
              <a:ext cx="18288000" cy="397510"/>
            </a:xfrm>
            <a:custGeom>
              <a:avLst/>
              <a:gdLst/>
              <a:ahLst/>
              <a:cxnLst/>
              <a:rect l="l" t="t" r="r" b="b"/>
              <a:pathLst>
                <a:path w="18288000" h="397509">
                  <a:moveTo>
                    <a:pt x="0" y="397431"/>
                  </a:moveTo>
                  <a:lnTo>
                    <a:pt x="18288000" y="397431"/>
                  </a:lnTo>
                  <a:lnTo>
                    <a:pt x="18288000" y="0"/>
                  </a:lnTo>
                  <a:lnTo>
                    <a:pt x="0" y="0"/>
                  </a:lnTo>
                  <a:lnTo>
                    <a:pt x="0" y="397431"/>
                  </a:lnTo>
                  <a:close/>
                </a:path>
              </a:pathLst>
            </a:custGeom>
            <a:solidFill>
              <a:srgbClr val="FAE7BC"/>
            </a:solidFill>
          </p:spPr>
          <p:txBody>
            <a:bodyPr wrap="square" lIns="0" tIns="0" rIns="0" bIns="0" rtlCol="0"/>
            <a:lstStyle/>
            <a:p>
              <a:endParaRPr/>
            </a:p>
          </p:txBody>
        </p:sp>
        <p:sp>
          <p:nvSpPr>
            <p:cNvPr id="9" name="object 9">
              <a:extLst>
                <a:ext uri="{FF2B5EF4-FFF2-40B4-BE49-F238E27FC236}">
                  <a16:creationId xmlns:a16="http://schemas.microsoft.com/office/drawing/2014/main" id="{00AA25AB-E7EF-1BE4-2F9A-D8D829B5377A}"/>
                </a:ext>
              </a:extLst>
            </p:cNvPr>
            <p:cNvSpPr/>
            <p:nvPr/>
          </p:nvSpPr>
          <p:spPr>
            <a:xfrm>
              <a:off x="0" y="9718118"/>
              <a:ext cx="18288000" cy="171450"/>
            </a:xfrm>
            <a:custGeom>
              <a:avLst/>
              <a:gdLst/>
              <a:ahLst/>
              <a:cxnLst/>
              <a:rect l="l" t="t" r="r" b="b"/>
              <a:pathLst>
                <a:path w="18288000" h="171450">
                  <a:moveTo>
                    <a:pt x="0" y="0"/>
                  </a:moveTo>
                  <a:lnTo>
                    <a:pt x="18287999" y="0"/>
                  </a:lnTo>
                  <a:lnTo>
                    <a:pt x="18287999" y="171449"/>
                  </a:lnTo>
                  <a:lnTo>
                    <a:pt x="0" y="171449"/>
                  </a:lnTo>
                  <a:lnTo>
                    <a:pt x="0" y="0"/>
                  </a:lnTo>
                  <a:close/>
                </a:path>
              </a:pathLst>
            </a:custGeom>
            <a:solidFill>
              <a:srgbClr val="494848"/>
            </a:solidFill>
          </p:spPr>
          <p:txBody>
            <a:bodyPr wrap="square" lIns="0" tIns="0" rIns="0" bIns="0" rtlCol="0"/>
            <a:lstStyle/>
            <a:p>
              <a:endParaRPr/>
            </a:p>
          </p:txBody>
        </p:sp>
      </p:grpSp>
      <p:sp>
        <p:nvSpPr>
          <p:cNvPr id="10" name="object 10">
            <a:extLst>
              <a:ext uri="{FF2B5EF4-FFF2-40B4-BE49-F238E27FC236}">
                <a16:creationId xmlns:a16="http://schemas.microsoft.com/office/drawing/2014/main" id="{0DACB8DE-CE38-1822-DE53-B7F38F09CC57}"/>
              </a:ext>
            </a:extLst>
          </p:cNvPr>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a:endParaRPr/>
          </a:p>
        </p:txBody>
      </p:sp>
      <p:sp>
        <p:nvSpPr>
          <p:cNvPr id="16" name="TextBox 15">
            <a:extLst>
              <a:ext uri="{FF2B5EF4-FFF2-40B4-BE49-F238E27FC236}">
                <a16:creationId xmlns:a16="http://schemas.microsoft.com/office/drawing/2014/main" id="{8365255B-14CE-2522-AB51-82C86DFF8A13}"/>
              </a:ext>
            </a:extLst>
          </p:cNvPr>
          <p:cNvSpPr txBox="1"/>
          <p:nvPr/>
        </p:nvSpPr>
        <p:spPr>
          <a:xfrm>
            <a:off x="9601200" y="2705100"/>
            <a:ext cx="7488000" cy="1077218"/>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Write a query to display cars with their insurance information.</a:t>
            </a:r>
          </a:p>
        </p:txBody>
      </p:sp>
      <p:sp>
        <p:nvSpPr>
          <p:cNvPr id="17" name="TextBox 16">
            <a:extLst>
              <a:ext uri="{FF2B5EF4-FFF2-40B4-BE49-F238E27FC236}">
                <a16:creationId xmlns:a16="http://schemas.microsoft.com/office/drawing/2014/main" id="{A89EC7F2-0879-DF54-4551-94299894FED1}"/>
              </a:ext>
            </a:extLst>
          </p:cNvPr>
          <p:cNvSpPr txBox="1"/>
          <p:nvPr/>
        </p:nvSpPr>
        <p:spPr>
          <a:xfrm>
            <a:off x="9601200" y="4442608"/>
            <a:ext cx="8062912" cy="1815882"/>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SELECT </a:t>
            </a:r>
            <a:r>
              <a:rPr lang="en-US" sz="2800" dirty="0" err="1">
                <a:latin typeface="Times New Roman" panose="02020603050405020304" pitchFamily="18" charset="0"/>
                <a:cs typeface="Times New Roman" panose="02020603050405020304" pitchFamily="18" charset="0"/>
              </a:rPr>
              <a:t>car.model</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car.brand</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i.insurance_id</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i.start_date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i.end_date</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FROM Cars car</a:t>
            </a:r>
          </a:p>
          <a:p>
            <a:r>
              <a:rPr lang="en-US" sz="2800" dirty="0">
                <a:latin typeface="Times New Roman" panose="02020603050405020304" pitchFamily="18" charset="0"/>
                <a:cs typeface="Times New Roman" panose="02020603050405020304" pitchFamily="18" charset="0"/>
              </a:rPr>
              <a:t>INNER JOIN Insurance </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 ON </a:t>
            </a:r>
            <a:r>
              <a:rPr lang="en-US" sz="2800" dirty="0" err="1">
                <a:latin typeface="Times New Roman" panose="02020603050405020304" pitchFamily="18" charset="0"/>
                <a:cs typeface="Times New Roman" panose="02020603050405020304" pitchFamily="18" charset="0"/>
              </a:rPr>
              <a:t>car.car_id</a:t>
            </a:r>
            <a:r>
              <a:rPr lang="en-US" sz="2800" dirty="0">
                <a:latin typeface="Times New Roman" panose="02020603050405020304" pitchFamily="18" charset="0"/>
                <a:cs typeface="Times New Roman" panose="02020603050405020304" pitchFamily="18" charset="0"/>
              </a:rPr>
              <a:t> = </a:t>
            </a:r>
            <a:r>
              <a:rPr lang="en-US" sz="2800" dirty="0" err="1">
                <a:latin typeface="Times New Roman" panose="02020603050405020304" pitchFamily="18" charset="0"/>
                <a:cs typeface="Times New Roman" panose="02020603050405020304" pitchFamily="18" charset="0"/>
              </a:rPr>
              <a:t>i.car_id</a:t>
            </a:r>
            <a:r>
              <a:rPr lang="en-US" sz="2800" dirty="0">
                <a:latin typeface="Times New Roman" panose="02020603050405020304" pitchFamily="18" charset="0"/>
                <a:cs typeface="Times New Roman" panose="02020603050405020304" pitchFamily="18" charset="0"/>
              </a:rPr>
              <a:t>;</a:t>
            </a:r>
          </a:p>
        </p:txBody>
      </p:sp>
      <p:pic>
        <p:nvPicPr>
          <p:cNvPr id="5" name="Picture 4">
            <a:extLst>
              <a:ext uri="{FF2B5EF4-FFF2-40B4-BE49-F238E27FC236}">
                <a16:creationId xmlns:a16="http://schemas.microsoft.com/office/drawing/2014/main" id="{33632817-1212-4891-0FE7-E03A6DCD82A0}"/>
              </a:ext>
            </a:extLst>
          </p:cNvPr>
          <p:cNvPicPr>
            <a:picLocks noChangeAspect="1"/>
          </p:cNvPicPr>
          <p:nvPr/>
        </p:nvPicPr>
        <p:blipFill>
          <a:blip r:embed="rId2">
            <a:duotone>
              <a:prstClr val="black"/>
              <a:schemeClr val="bg2">
                <a:lumMod val="90000"/>
                <a:tint val="45000"/>
                <a:satMod val="400000"/>
              </a:schemeClr>
            </a:duotone>
          </a:blip>
          <a:stretch>
            <a:fillRect/>
          </a:stretch>
        </p:blipFill>
        <p:spPr>
          <a:xfrm>
            <a:off x="1371599" y="1965960"/>
            <a:ext cx="7315201" cy="622554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6444347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F9D9C-816E-7F42-85E0-497F0A1E72A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2B57B91-A3C4-DFF2-4207-017C4C9FD2E2}"/>
              </a:ext>
            </a:extLst>
          </p:cNvPr>
          <p:cNvSpPr txBox="1">
            <a:spLocks noGrp="1"/>
          </p:cNvSpPr>
          <p:nvPr>
            <p:ph type="title"/>
          </p:nvPr>
        </p:nvSpPr>
        <p:spPr>
          <a:xfrm>
            <a:off x="5400000" y="140442"/>
            <a:ext cx="7488000" cy="842538"/>
          </a:xfrm>
          <a:prstGeom prst="rect">
            <a:avLst/>
          </a:prstGeom>
        </p:spPr>
        <p:txBody>
          <a:bodyPr vert="horz" wrap="square" lIns="0" tIns="11430" rIns="0" bIns="0" rtlCol="0">
            <a:spAutoFit/>
          </a:bodyPr>
          <a:lstStyle/>
          <a:p>
            <a:pPr marL="12700" algn="ctr">
              <a:lnSpc>
                <a:spcPct val="100000"/>
              </a:lnSpc>
              <a:spcBef>
                <a:spcPts val="90"/>
              </a:spcBef>
            </a:pPr>
            <a:r>
              <a:rPr lang="en-IN" sz="5400" spc="-99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JOINS</a:t>
            </a:r>
            <a:endParaRPr sz="5400" spc="-99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object 6">
            <a:extLst>
              <a:ext uri="{FF2B5EF4-FFF2-40B4-BE49-F238E27FC236}">
                <a16:creationId xmlns:a16="http://schemas.microsoft.com/office/drawing/2014/main" id="{730D104A-2BAE-C23D-340D-DCEA574CF062}"/>
              </a:ext>
            </a:extLst>
          </p:cNvPr>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a:endParaRPr/>
          </a:p>
        </p:txBody>
      </p:sp>
      <p:grpSp>
        <p:nvGrpSpPr>
          <p:cNvPr id="7" name="object 7">
            <a:extLst>
              <a:ext uri="{FF2B5EF4-FFF2-40B4-BE49-F238E27FC236}">
                <a16:creationId xmlns:a16="http://schemas.microsoft.com/office/drawing/2014/main" id="{1D4C59F2-60BB-97CF-38B9-58453EF0FE1B}"/>
              </a:ext>
            </a:extLst>
          </p:cNvPr>
          <p:cNvGrpSpPr/>
          <p:nvPr/>
        </p:nvGrpSpPr>
        <p:grpSpPr>
          <a:xfrm>
            <a:off x="0" y="9718118"/>
            <a:ext cx="18288000" cy="568960"/>
            <a:chOff x="0" y="9718118"/>
            <a:chExt cx="18288000" cy="568960"/>
          </a:xfrm>
        </p:grpSpPr>
        <p:sp>
          <p:nvSpPr>
            <p:cNvPr id="8" name="object 8">
              <a:extLst>
                <a:ext uri="{FF2B5EF4-FFF2-40B4-BE49-F238E27FC236}">
                  <a16:creationId xmlns:a16="http://schemas.microsoft.com/office/drawing/2014/main" id="{334B0555-3468-2C68-D225-C34CC52E56F6}"/>
                </a:ext>
              </a:extLst>
            </p:cNvPr>
            <p:cNvSpPr/>
            <p:nvPr/>
          </p:nvSpPr>
          <p:spPr>
            <a:xfrm>
              <a:off x="0" y="9889568"/>
              <a:ext cx="18288000" cy="397510"/>
            </a:xfrm>
            <a:custGeom>
              <a:avLst/>
              <a:gdLst/>
              <a:ahLst/>
              <a:cxnLst/>
              <a:rect l="l" t="t" r="r" b="b"/>
              <a:pathLst>
                <a:path w="18288000" h="397509">
                  <a:moveTo>
                    <a:pt x="0" y="397431"/>
                  </a:moveTo>
                  <a:lnTo>
                    <a:pt x="18288000" y="397431"/>
                  </a:lnTo>
                  <a:lnTo>
                    <a:pt x="18288000" y="0"/>
                  </a:lnTo>
                  <a:lnTo>
                    <a:pt x="0" y="0"/>
                  </a:lnTo>
                  <a:lnTo>
                    <a:pt x="0" y="397431"/>
                  </a:lnTo>
                  <a:close/>
                </a:path>
              </a:pathLst>
            </a:custGeom>
            <a:solidFill>
              <a:srgbClr val="FAE7BC"/>
            </a:solidFill>
          </p:spPr>
          <p:txBody>
            <a:bodyPr wrap="square" lIns="0" tIns="0" rIns="0" bIns="0" rtlCol="0"/>
            <a:lstStyle/>
            <a:p>
              <a:endParaRPr/>
            </a:p>
          </p:txBody>
        </p:sp>
        <p:sp>
          <p:nvSpPr>
            <p:cNvPr id="9" name="object 9">
              <a:extLst>
                <a:ext uri="{FF2B5EF4-FFF2-40B4-BE49-F238E27FC236}">
                  <a16:creationId xmlns:a16="http://schemas.microsoft.com/office/drawing/2014/main" id="{F5995EDF-BE44-1BE0-DB19-45CBEDA76196}"/>
                </a:ext>
              </a:extLst>
            </p:cNvPr>
            <p:cNvSpPr/>
            <p:nvPr/>
          </p:nvSpPr>
          <p:spPr>
            <a:xfrm>
              <a:off x="0" y="9718118"/>
              <a:ext cx="18288000" cy="171450"/>
            </a:xfrm>
            <a:custGeom>
              <a:avLst/>
              <a:gdLst/>
              <a:ahLst/>
              <a:cxnLst/>
              <a:rect l="l" t="t" r="r" b="b"/>
              <a:pathLst>
                <a:path w="18288000" h="171450">
                  <a:moveTo>
                    <a:pt x="0" y="0"/>
                  </a:moveTo>
                  <a:lnTo>
                    <a:pt x="18287999" y="0"/>
                  </a:lnTo>
                  <a:lnTo>
                    <a:pt x="18287999" y="171449"/>
                  </a:lnTo>
                  <a:lnTo>
                    <a:pt x="0" y="171449"/>
                  </a:lnTo>
                  <a:lnTo>
                    <a:pt x="0" y="0"/>
                  </a:lnTo>
                  <a:close/>
                </a:path>
              </a:pathLst>
            </a:custGeom>
            <a:solidFill>
              <a:srgbClr val="494848"/>
            </a:solidFill>
          </p:spPr>
          <p:txBody>
            <a:bodyPr wrap="square" lIns="0" tIns="0" rIns="0" bIns="0" rtlCol="0"/>
            <a:lstStyle/>
            <a:p>
              <a:endParaRPr/>
            </a:p>
          </p:txBody>
        </p:sp>
      </p:grpSp>
      <p:sp>
        <p:nvSpPr>
          <p:cNvPr id="10" name="object 10">
            <a:extLst>
              <a:ext uri="{FF2B5EF4-FFF2-40B4-BE49-F238E27FC236}">
                <a16:creationId xmlns:a16="http://schemas.microsoft.com/office/drawing/2014/main" id="{BF09FA41-647A-7EFA-6625-48A796BD970E}"/>
              </a:ext>
            </a:extLst>
          </p:cNvPr>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a:endParaRPr/>
          </a:p>
        </p:txBody>
      </p:sp>
      <p:sp>
        <p:nvSpPr>
          <p:cNvPr id="16" name="TextBox 15">
            <a:extLst>
              <a:ext uri="{FF2B5EF4-FFF2-40B4-BE49-F238E27FC236}">
                <a16:creationId xmlns:a16="http://schemas.microsoft.com/office/drawing/2014/main" id="{7AC832FA-D5E4-3618-88FC-546CA869E182}"/>
              </a:ext>
            </a:extLst>
          </p:cNvPr>
          <p:cNvSpPr txBox="1"/>
          <p:nvPr/>
        </p:nvSpPr>
        <p:spPr>
          <a:xfrm>
            <a:off x="9601200" y="2705100"/>
            <a:ext cx="7488000" cy="1077218"/>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Write a query to list all cars and their rentals, including cars not rented at all.</a:t>
            </a:r>
          </a:p>
        </p:txBody>
      </p:sp>
      <p:sp>
        <p:nvSpPr>
          <p:cNvPr id="17" name="TextBox 16">
            <a:extLst>
              <a:ext uri="{FF2B5EF4-FFF2-40B4-BE49-F238E27FC236}">
                <a16:creationId xmlns:a16="http://schemas.microsoft.com/office/drawing/2014/main" id="{AD335B19-4B4D-2635-CEC3-731BE9B5C56D}"/>
              </a:ext>
            </a:extLst>
          </p:cNvPr>
          <p:cNvSpPr txBox="1"/>
          <p:nvPr/>
        </p:nvSpPr>
        <p:spPr>
          <a:xfrm>
            <a:off x="9601200" y="4442608"/>
            <a:ext cx="8062912" cy="1384995"/>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SELECT </a:t>
            </a:r>
            <a:r>
              <a:rPr lang="en-US" sz="2800" dirty="0" err="1">
                <a:latin typeface="Times New Roman" panose="02020603050405020304" pitchFamily="18" charset="0"/>
                <a:cs typeface="Times New Roman" panose="02020603050405020304" pitchFamily="18" charset="0"/>
              </a:rPr>
              <a:t>car.car_id</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car.model</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car.brand</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r.rental_id</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FROM Cars car</a:t>
            </a:r>
          </a:p>
          <a:p>
            <a:r>
              <a:rPr lang="en-US" sz="2800" dirty="0">
                <a:latin typeface="Times New Roman" panose="02020603050405020304" pitchFamily="18" charset="0"/>
                <a:cs typeface="Times New Roman" panose="02020603050405020304" pitchFamily="18" charset="0"/>
              </a:rPr>
              <a:t>LEFT JOIN Rentals r ON </a:t>
            </a:r>
            <a:r>
              <a:rPr lang="en-US" sz="2800" dirty="0" err="1">
                <a:latin typeface="Times New Roman" panose="02020603050405020304" pitchFamily="18" charset="0"/>
                <a:cs typeface="Times New Roman" panose="02020603050405020304" pitchFamily="18" charset="0"/>
              </a:rPr>
              <a:t>car.car_id</a:t>
            </a:r>
            <a:r>
              <a:rPr lang="en-US" sz="2800" dirty="0">
                <a:latin typeface="Times New Roman" panose="02020603050405020304" pitchFamily="18" charset="0"/>
                <a:cs typeface="Times New Roman" panose="02020603050405020304" pitchFamily="18" charset="0"/>
              </a:rPr>
              <a:t> = </a:t>
            </a:r>
            <a:r>
              <a:rPr lang="en-US" sz="2800" dirty="0" err="1">
                <a:latin typeface="Times New Roman" panose="02020603050405020304" pitchFamily="18" charset="0"/>
                <a:cs typeface="Times New Roman" panose="02020603050405020304" pitchFamily="18" charset="0"/>
              </a:rPr>
              <a:t>r.car_id</a:t>
            </a:r>
            <a:r>
              <a:rPr lang="en-US" sz="2800" dirty="0">
                <a:latin typeface="Times New Roman" panose="02020603050405020304" pitchFamily="18" charset="0"/>
                <a:cs typeface="Times New Roman" panose="02020603050405020304" pitchFamily="18" charset="0"/>
              </a:rPr>
              <a:t>;</a:t>
            </a:r>
          </a:p>
        </p:txBody>
      </p:sp>
      <p:pic>
        <p:nvPicPr>
          <p:cNvPr id="4" name="Picture 3">
            <a:extLst>
              <a:ext uri="{FF2B5EF4-FFF2-40B4-BE49-F238E27FC236}">
                <a16:creationId xmlns:a16="http://schemas.microsoft.com/office/drawing/2014/main" id="{C99FE062-7091-01D7-684C-F6D72429678F}"/>
              </a:ext>
            </a:extLst>
          </p:cNvPr>
          <p:cNvPicPr>
            <a:picLocks noChangeAspect="1"/>
          </p:cNvPicPr>
          <p:nvPr/>
        </p:nvPicPr>
        <p:blipFill>
          <a:blip r:embed="rId2">
            <a:duotone>
              <a:prstClr val="black"/>
              <a:schemeClr val="bg2">
                <a:lumMod val="90000"/>
                <a:tint val="45000"/>
                <a:satMod val="400000"/>
              </a:schemeClr>
            </a:duotone>
          </a:blip>
          <a:stretch>
            <a:fillRect/>
          </a:stretch>
        </p:blipFill>
        <p:spPr>
          <a:xfrm>
            <a:off x="1828800" y="2247900"/>
            <a:ext cx="7010400" cy="624840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002487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48842-216C-80BB-FDDA-326E9436CE0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080B03C-1DE2-4F3B-9DD0-80C5019DC105}"/>
              </a:ext>
            </a:extLst>
          </p:cNvPr>
          <p:cNvSpPr txBox="1">
            <a:spLocks noGrp="1"/>
          </p:cNvSpPr>
          <p:nvPr>
            <p:ph type="title"/>
          </p:nvPr>
        </p:nvSpPr>
        <p:spPr>
          <a:xfrm>
            <a:off x="5400000" y="140442"/>
            <a:ext cx="7488000" cy="842538"/>
          </a:xfrm>
          <a:prstGeom prst="rect">
            <a:avLst/>
          </a:prstGeom>
        </p:spPr>
        <p:txBody>
          <a:bodyPr vert="horz" wrap="square" lIns="0" tIns="11430" rIns="0" bIns="0" rtlCol="0">
            <a:spAutoFit/>
          </a:bodyPr>
          <a:lstStyle/>
          <a:p>
            <a:pPr marL="12700" algn="ctr">
              <a:lnSpc>
                <a:spcPct val="100000"/>
              </a:lnSpc>
              <a:spcBef>
                <a:spcPts val="90"/>
              </a:spcBef>
            </a:pPr>
            <a:r>
              <a:rPr lang="en-IN" sz="5400" spc="-99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JOINS</a:t>
            </a:r>
            <a:endParaRPr sz="5400" spc="-99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object 6">
            <a:extLst>
              <a:ext uri="{FF2B5EF4-FFF2-40B4-BE49-F238E27FC236}">
                <a16:creationId xmlns:a16="http://schemas.microsoft.com/office/drawing/2014/main" id="{1A184500-3C97-5F06-A5EA-79E33C31EA87}"/>
              </a:ext>
            </a:extLst>
          </p:cNvPr>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a:endParaRPr/>
          </a:p>
        </p:txBody>
      </p:sp>
      <p:grpSp>
        <p:nvGrpSpPr>
          <p:cNvPr id="7" name="object 7">
            <a:extLst>
              <a:ext uri="{FF2B5EF4-FFF2-40B4-BE49-F238E27FC236}">
                <a16:creationId xmlns:a16="http://schemas.microsoft.com/office/drawing/2014/main" id="{C79C46B1-C47D-0FC4-C919-579227469CF0}"/>
              </a:ext>
            </a:extLst>
          </p:cNvPr>
          <p:cNvGrpSpPr/>
          <p:nvPr/>
        </p:nvGrpSpPr>
        <p:grpSpPr>
          <a:xfrm>
            <a:off x="0" y="9718118"/>
            <a:ext cx="18288000" cy="568960"/>
            <a:chOff x="0" y="9718118"/>
            <a:chExt cx="18288000" cy="568960"/>
          </a:xfrm>
        </p:grpSpPr>
        <p:sp>
          <p:nvSpPr>
            <p:cNvPr id="8" name="object 8">
              <a:extLst>
                <a:ext uri="{FF2B5EF4-FFF2-40B4-BE49-F238E27FC236}">
                  <a16:creationId xmlns:a16="http://schemas.microsoft.com/office/drawing/2014/main" id="{5A8C1536-0C7E-1783-EBCF-A2C9C9FD822A}"/>
                </a:ext>
              </a:extLst>
            </p:cNvPr>
            <p:cNvSpPr/>
            <p:nvPr/>
          </p:nvSpPr>
          <p:spPr>
            <a:xfrm>
              <a:off x="0" y="9889568"/>
              <a:ext cx="18288000" cy="397510"/>
            </a:xfrm>
            <a:custGeom>
              <a:avLst/>
              <a:gdLst/>
              <a:ahLst/>
              <a:cxnLst/>
              <a:rect l="l" t="t" r="r" b="b"/>
              <a:pathLst>
                <a:path w="18288000" h="397509">
                  <a:moveTo>
                    <a:pt x="0" y="397431"/>
                  </a:moveTo>
                  <a:lnTo>
                    <a:pt x="18288000" y="397431"/>
                  </a:lnTo>
                  <a:lnTo>
                    <a:pt x="18288000" y="0"/>
                  </a:lnTo>
                  <a:lnTo>
                    <a:pt x="0" y="0"/>
                  </a:lnTo>
                  <a:lnTo>
                    <a:pt x="0" y="397431"/>
                  </a:lnTo>
                  <a:close/>
                </a:path>
              </a:pathLst>
            </a:custGeom>
            <a:solidFill>
              <a:srgbClr val="FAE7BC"/>
            </a:solidFill>
          </p:spPr>
          <p:txBody>
            <a:bodyPr wrap="square" lIns="0" tIns="0" rIns="0" bIns="0" rtlCol="0"/>
            <a:lstStyle/>
            <a:p>
              <a:endParaRPr/>
            </a:p>
          </p:txBody>
        </p:sp>
        <p:sp>
          <p:nvSpPr>
            <p:cNvPr id="9" name="object 9">
              <a:extLst>
                <a:ext uri="{FF2B5EF4-FFF2-40B4-BE49-F238E27FC236}">
                  <a16:creationId xmlns:a16="http://schemas.microsoft.com/office/drawing/2014/main" id="{193AA8E1-00E1-8F6B-6475-B33D24AD4237}"/>
                </a:ext>
              </a:extLst>
            </p:cNvPr>
            <p:cNvSpPr/>
            <p:nvPr/>
          </p:nvSpPr>
          <p:spPr>
            <a:xfrm>
              <a:off x="0" y="9718118"/>
              <a:ext cx="18288000" cy="171450"/>
            </a:xfrm>
            <a:custGeom>
              <a:avLst/>
              <a:gdLst/>
              <a:ahLst/>
              <a:cxnLst/>
              <a:rect l="l" t="t" r="r" b="b"/>
              <a:pathLst>
                <a:path w="18288000" h="171450">
                  <a:moveTo>
                    <a:pt x="0" y="0"/>
                  </a:moveTo>
                  <a:lnTo>
                    <a:pt x="18287999" y="0"/>
                  </a:lnTo>
                  <a:lnTo>
                    <a:pt x="18287999" y="171449"/>
                  </a:lnTo>
                  <a:lnTo>
                    <a:pt x="0" y="171449"/>
                  </a:lnTo>
                  <a:lnTo>
                    <a:pt x="0" y="0"/>
                  </a:lnTo>
                  <a:close/>
                </a:path>
              </a:pathLst>
            </a:custGeom>
            <a:solidFill>
              <a:srgbClr val="494848"/>
            </a:solidFill>
          </p:spPr>
          <p:txBody>
            <a:bodyPr wrap="square" lIns="0" tIns="0" rIns="0" bIns="0" rtlCol="0"/>
            <a:lstStyle/>
            <a:p>
              <a:endParaRPr/>
            </a:p>
          </p:txBody>
        </p:sp>
      </p:grpSp>
      <p:sp>
        <p:nvSpPr>
          <p:cNvPr id="10" name="object 10">
            <a:extLst>
              <a:ext uri="{FF2B5EF4-FFF2-40B4-BE49-F238E27FC236}">
                <a16:creationId xmlns:a16="http://schemas.microsoft.com/office/drawing/2014/main" id="{97FEA53B-8437-FEAB-363B-A31289333D68}"/>
              </a:ext>
            </a:extLst>
          </p:cNvPr>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a:endParaRPr/>
          </a:p>
        </p:txBody>
      </p:sp>
      <p:sp>
        <p:nvSpPr>
          <p:cNvPr id="16" name="TextBox 15">
            <a:extLst>
              <a:ext uri="{FF2B5EF4-FFF2-40B4-BE49-F238E27FC236}">
                <a16:creationId xmlns:a16="http://schemas.microsoft.com/office/drawing/2014/main" id="{703A04C2-0F89-06B3-C603-2C2005848F8E}"/>
              </a:ext>
            </a:extLst>
          </p:cNvPr>
          <p:cNvSpPr txBox="1"/>
          <p:nvPr/>
        </p:nvSpPr>
        <p:spPr>
          <a:xfrm>
            <a:off x="9601200" y="2705100"/>
            <a:ext cx="7488000" cy="1569660"/>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Write a query to display all rentals with their customers. Show all rentals even if customer details are missing.</a:t>
            </a:r>
          </a:p>
        </p:txBody>
      </p:sp>
      <p:sp>
        <p:nvSpPr>
          <p:cNvPr id="17" name="TextBox 16">
            <a:extLst>
              <a:ext uri="{FF2B5EF4-FFF2-40B4-BE49-F238E27FC236}">
                <a16:creationId xmlns:a16="http://schemas.microsoft.com/office/drawing/2014/main" id="{9D6CAA6C-0EEA-3230-3BA0-EBF684182DC1}"/>
              </a:ext>
            </a:extLst>
          </p:cNvPr>
          <p:cNvSpPr txBox="1"/>
          <p:nvPr/>
        </p:nvSpPr>
        <p:spPr>
          <a:xfrm>
            <a:off x="9601200" y="4442608"/>
            <a:ext cx="8062912" cy="2246769"/>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SELECT </a:t>
            </a:r>
            <a:r>
              <a:rPr lang="en-US" sz="2800" dirty="0" err="1">
                <a:latin typeface="Times New Roman" panose="02020603050405020304" pitchFamily="18" charset="0"/>
                <a:cs typeface="Times New Roman" panose="02020603050405020304" pitchFamily="18" charset="0"/>
              </a:rPr>
              <a:t>r.rental_id</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r.total_amount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c.first_name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c.last_name</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FROM Customers c</a:t>
            </a:r>
          </a:p>
          <a:p>
            <a:r>
              <a:rPr lang="en-US" sz="2800" dirty="0">
                <a:latin typeface="Times New Roman" panose="02020603050405020304" pitchFamily="18" charset="0"/>
                <a:cs typeface="Times New Roman" panose="02020603050405020304" pitchFamily="18" charset="0"/>
              </a:rPr>
              <a:t>RIGHT JOIN Rentals r ON </a:t>
            </a:r>
            <a:r>
              <a:rPr lang="en-US" sz="2800" dirty="0" err="1">
                <a:latin typeface="Times New Roman" panose="02020603050405020304" pitchFamily="18" charset="0"/>
                <a:cs typeface="Times New Roman" panose="02020603050405020304" pitchFamily="18" charset="0"/>
              </a:rPr>
              <a:t>c.customer_id</a:t>
            </a:r>
            <a:r>
              <a:rPr lang="en-US" sz="2800" dirty="0">
                <a:latin typeface="Times New Roman" panose="02020603050405020304" pitchFamily="18" charset="0"/>
                <a:cs typeface="Times New Roman" panose="02020603050405020304" pitchFamily="18" charset="0"/>
              </a:rPr>
              <a:t> = </a:t>
            </a:r>
            <a:r>
              <a:rPr lang="en-US" sz="2800" dirty="0" err="1">
                <a:latin typeface="Times New Roman" panose="02020603050405020304" pitchFamily="18" charset="0"/>
                <a:cs typeface="Times New Roman" panose="02020603050405020304" pitchFamily="18" charset="0"/>
              </a:rPr>
              <a:t>r.customer_id</a:t>
            </a:r>
            <a:r>
              <a:rPr lang="en-US" sz="2800" dirty="0">
                <a:latin typeface="Times New Roman" panose="02020603050405020304" pitchFamily="18" charset="0"/>
                <a:cs typeface="Times New Roman" panose="02020603050405020304" pitchFamily="18" charset="0"/>
              </a:rPr>
              <a:t>;</a:t>
            </a:r>
          </a:p>
        </p:txBody>
      </p:sp>
      <p:pic>
        <p:nvPicPr>
          <p:cNvPr id="5" name="Picture 4">
            <a:extLst>
              <a:ext uri="{FF2B5EF4-FFF2-40B4-BE49-F238E27FC236}">
                <a16:creationId xmlns:a16="http://schemas.microsoft.com/office/drawing/2014/main" id="{FEBB84D3-280C-0711-8247-3D97DEF2EFCC}"/>
              </a:ext>
            </a:extLst>
          </p:cNvPr>
          <p:cNvPicPr>
            <a:picLocks noChangeAspect="1"/>
          </p:cNvPicPr>
          <p:nvPr/>
        </p:nvPicPr>
        <p:blipFill>
          <a:blip r:embed="rId2">
            <a:duotone>
              <a:prstClr val="black"/>
              <a:schemeClr val="bg2">
                <a:lumMod val="90000"/>
                <a:tint val="45000"/>
                <a:satMod val="400000"/>
              </a:schemeClr>
            </a:duotone>
          </a:blip>
          <a:stretch>
            <a:fillRect/>
          </a:stretch>
        </p:blipFill>
        <p:spPr>
          <a:xfrm>
            <a:off x="1371600" y="2476500"/>
            <a:ext cx="7162800" cy="563880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2127536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74C07-319F-4414-D24E-E9CB184A957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7D54FFE-14D7-B02D-D573-3C9CBE2239C1}"/>
              </a:ext>
            </a:extLst>
          </p:cNvPr>
          <p:cNvSpPr txBox="1">
            <a:spLocks noGrp="1"/>
          </p:cNvSpPr>
          <p:nvPr>
            <p:ph type="title"/>
          </p:nvPr>
        </p:nvSpPr>
        <p:spPr>
          <a:xfrm>
            <a:off x="5400000" y="140442"/>
            <a:ext cx="7488000" cy="842538"/>
          </a:xfrm>
          <a:prstGeom prst="rect">
            <a:avLst/>
          </a:prstGeom>
        </p:spPr>
        <p:txBody>
          <a:bodyPr vert="horz" wrap="square" lIns="0" tIns="11430" rIns="0" bIns="0" rtlCol="0">
            <a:spAutoFit/>
          </a:bodyPr>
          <a:lstStyle/>
          <a:p>
            <a:pPr marL="12700" algn="ctr">
              <a:lnSpc>
                <a:spcPct val="100000"/>
              </a:lnSpc>
              <a:spcBef>
                <a:spcPts val="90"/>
              </a:spcBef>
            </a:pPr>
            <a:r>
              <a:rPr lang="en-IN" sz="5400" spc="-99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JOINS</a:t>
            </a:r>
            <a:endParaRPr sz="5400" spc="-99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object 6">
            <a:extLst>
              <a:ext uri="{FF2B5EF4-FFF2-40B4-BE49-F238E27FC236}">
                <a16:creationId xmlns:a16="http://schemas.microsoft.com/office/drawing/2014/main" id="{8E2203D9-2248-B31D-371F-DB3DBCFFC7F4}"/>
              </a:ext>
            </a:extLst>
          </p:cNvPr>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a:endParaRPr/>
          </a:p>
        </p:txBody>
      </p:sp>
      <p:grpSp>
        <p:nvGrpSpPr>
          <p:cNvPr id="7" name="object 7">
            <a:extLst>
              <a:ext uri="{FF2B5EF4-FFF2-40B4-BE49-F238E27FC236}">
                <a16:creationId xmlns:a16="http://schemas.microsoft.com/office/drawing/2014/main" id="{ACB2537A-8039-4EB4-1F30-6429699EDCA1}"/>
              </a:ext>
            </a:extLst>
          </p:cNvPr>
          <p:cNvGrpSpPr/>
          <p:nvPr/>
        </p:nvGrpSpPr>
        <p:grpSpPr>
          <a:xfrm>
            <a:off x="0" y="9718118"/>
            <a:ext cx="18288000" cy="568960"/>
            <a:chOff x="0" y="9718118"/>
            <a:chExt cx="18288000" cy="568960"/>
          </a:xfrm>
        </p:grpSpPr>
        <p:sp>
          <p:nvSpPr>
            <p:cNvPr id="8" name="object 8">
              <a:extLst>
                <a:ext uri="{FF2B5EF4-FFF2-40B4-BE49-F238E27FC236}">
                  <a16:creationId xmlns:a16="http://schemas.microsoft.com/office/drawing/2014/main" id="{8F922294-4DDB-1375-B6F4-E6C9EBB85F9F}"/>
                </a:ext>
              </a:extLst>
            </p:cNvPr>
            <p:cNvSpPr/>
            <p:nvPr/>
          </p:nvSpPr>
          <p:spPr>
            <a:xfrm>
              <a:off x="0" y="9889568"/>
              <a:ext cx="18288000" cy="397510"/>
            </a:xfrm>
            <a:custGeom>
              <a:avLst/>
              <a:gdLst/>
              <a:ahLst/>
              <a:cxnLst/>
              <a:rect l="l" t="t" r="r" b="b"/>
              <a:pathLst>
                <a:path w="18288000" h="397509">
                  <a:moveTo>
                    <a:pt x="0" y="397431"/>
                  </a:moveTo>
                  <a:lnTo>
                    <a:pt x="18288000" y="397431"/>
                  </a:lnTo>
                  <a:lnTo>
                    <a:pt x="18288000" y="0"/>
                  </a:lnTo>
                  <a:lnTo>
                    <a:pt x="0" y="0"/>
                  </a:lnTo>
                  <a:lnTo>
                    <a:pt x="0" y="397431"/>
                  </a:lnTo>
                  <a:close/>
                </a:path>
              </a:pathLst>
            </a:custGeom>
            <a:solidFill>
              <a:srgbClr val="FAE7BC"/>
            </a:solidFill>
          </p:spPr>
          <p:txBody>
            <a:bodyPr wrap="square" lIns="0" tIns="0" rIns="0" bIns="0" rtlCol="0"/>
            <a:lstStyle/>
            <a:p>
              <a:endParaRPr/>
            </a:p>
          </p:txBody>
        </p:sp>
        <p:sp>
          <p:nvSpPr>
            <p:cNvPr id="9" name="object 9">
              <a:extLst>
                <a:ext uri="{FF2B5EF4-FFF2-40B4-BE49-F238E27FC236}">
                  <a16:creationId xmlns:a16="http://schemas.microsoft.com/office/drawing/2014/main" id="{2F7CD54A-DE6E-E12F-0E35-ECE706B2EEBD}"/>
                </a:ext>
              </a:extLst>
            </p:cNvPr>
            <p:cNvSpPr/>
            <p:nvPr/>
          </p:nvSpPr>
          <p:spPr>
            <a:xfrm>
              <a:off x="0" y="9718118"/>
              <a:ext cx="18288000" cy="171450"/>
            </a:xfrm>
            <a:custGeom>
              <a:avLst/>
              <a:gdLst/>
              <a:ahLst/>
              <a:cxnLst/>
              <a:rect l="l" t="t" r="r" b="b"/>
              <a:pathLst>
                <a:path w="18288000" h="171450">
                  <a:moveTo>
                    <a:pt x="0" y="0"/>
                  </a:moveTo>
                  <a:lnTo>
                    <a:pt x="18287999" y="0"/>
                  </a:lnTo>
                  <a:lnTo>
                    <a:pt x="18287999" y="171449"/>
                  </a:lnTo>
                  <a:lnTo>
                    <a:pt x="0" y="171449"/>
                  </a:lnTo>
                  <a:lnTo>
                    <a:pt x="0" y="0"/>
                  </a:lnTo>
                  <a:close/>
                </a:path>
              </a:pathLst>
            </a:custGeom>
            <a:solidFill>
              <a:srgbClr val="494848"/>
            </a:solidFill>
          </p:spPr>
          <p:txBody>
            <a:bodyPr wrap="square" lIns="0" tIns="0" rIns="0" bIns="0" rtlCol="0"/>
            <a:lstStyle/>
            <a:p>
              <a:endParaRPr/>
            </a:p>
          </p:txBody>
        </p:sp>
      </p:grpSp>
      <p:sp>
        <p:nvSpPr>
          <p:cNvPr id="10" name="object 10">
            <a:extLst>
              <a:ext uri="{FF2B5EF4-FFF2-40B4-BE49-F238E27FC236}">
                <a16:creationId xmlns:a16="http://schemas.microsoft.com/office/drawing/2014/main" id="{CAEE54DC-3793-E566-7695-25F3719608FE}"/>
              </a:ext>
            </a:extLst>
          </p:cNvPr>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a:endParaRPr/>
          </a:p>
        </p:txBody>
      </p:sp>
      <p:sp>
        <p:nvSpPr>
          <p:cNvPr id="16" name="TextBox 15">
            <a:extLst>
              <a:ext uri="{FF2B5EF4-FFF2-40B4-BE49-F238E27FC236}">
                <a16:creationId xmlns:a16="http://schemas.microsoft.com/office/drawing/2014/main" id="{3C3D5A24-A602-4834-1C71-ACD4C1B40B2B}"/>
              </a:ext>
            </a:extLst>
          </p:cNvPr>
          <p:cNvSpPr txBox="1"/>
          <p:nvPr/>
        </p:nvSpPr>
        <p:spPr>
          <a:xfrm>
            <a:off x="9601200" y="2705100"/>
            <a:ext cx="7488000" cy="1077218"/>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Write a query to find cars that do not have insurance.</a:t>
            </a:r>
          </a:p>
        </p:txBody>
      </p:sp>
      <p:sp>
        <p:nvSpPr>
          <p:cNvPr id="17" name="TextBox 16">
            <a:extLst>
              <a:ext uri="{FF2B5EF4-FFF2-40B4-BE49-F238E27FC236}">
                <a16:creationId xmlns:a16="http://schemas.microsoft.com/office/drawing/2014/main" id="{E8BA2E9A-8FAD-FB4C-436F-6069E9D4887A}"/>
              </a:ext>
            </a:extLst>
          </p:cNvPr>
          <p:cNvSpPr txBox="1"/>
          <p:nvPr/>
        </p:nvSpPr>
        <p:spPr>
          <a:xfrm>
            <a:off x="9601200" y="4442608"/>
            <a:ext cx="8062912" cy="1815882"/>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SELECT </a:t>
            </a:r>
            <a:r>
              <a:rPr lang="en-US" sz="2800" dirty="0" err="1">
                <a:latin typeface="Times New Roman" panose="02020603050405020304" pitchFamily="18" charset="0"/>
                <a:cs typeface="Times New Roman" panose="02020603050405020304" pitchFamily="18" charset="0"/>
              </a:rPr>
              <a:t>car.car_id</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car.model</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i.insurance_id</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FROM Cars car</a:t>
            </a:r>
          </a:p>
          <a:p>
            <a:r>
              <a:rPr lang="en-US" sz="2800" dirty="0">
                <a:latin typeface="Times New Roman" panose="02020603050405020304" pitchFamily="18" charset="0"/>
                <a:cs typeface="Times New Roman" panose="02020603050405020304" pitchFamily="18" charset="0"/>
              </a:rPr>
              <a:t>LEFT JOIN Insurance </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 ON </a:t>
            </a:r>
            <a:r>
              <a:rPr lang="en-US" sz="2800" dirty="0" err="1">
                <a:latin typeface="Times New Roman" panose="02020603050405020304" pitchFamily="18" charset="0"/>
                <a:cs typeface="Times New Roman" panose="02020603050405020304" pitchFamily="18" charset="0"/>
              </a:rPr>
              <a:t>car.car_id</a:t>
            </a:r>
            <a:r>
              <a:rPr lang="en-US" sz="2800" dirty="0">
                <a:latin typeface="Times New Roman" panose="02020603050405020304" pitchFamily="18" charset="0"/>
                <a:cs typeface="Times New Roman" panose="02020603050405020304" pitchFamily="18" charset="0"/>
              </a:rPr>
              <a:t> = </a:t>
            </a:r>
            <a:r>
              <a:rPr lang="en-US" sz="2800" dirty="0" err="1">
                <a:latin typeface="Times New Roman" panose="02020603050405020304" pitchFamily="18" charset="0"/>
                <a:cs typeface="Times New Roman" panose="02020603050405020304" pitchFamily="18" charset="0"/>
              </a:rPr>
              <a:t>i.car_id</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WHERE </a:t>
            </a:r>
            <a:r>
              <a:rPr lang="en-US" sz="2800" dirty="0" err="1">
                <a:latin typeface="Times New Roman" panose="02020603050405020304" pitchFamily="18" charset="0"/>
                <a:cs typeface="Times New Roman" panose="02020603050405020304" pitchFamily="18" charset="0"/>
              </a:rPr>
              <a:t>i.insurance_id</a:t>
            </a:r>
            <a:r>
              <a:rPr lang="en-US" sz="2800" dirty="0">
                <a:latin typeface="Times New Roman" panose="02020603050405020304" pitchFamily="18" charset="0"/>
                <a:cs typeface="Times New Roman" panose="02020603050405020304" pitchFamily="18" charset="0"/>
              </a:rPr>
              <a:t> IS NULL;</a:t>
            </a:r>
          </a:p>
        </p:txBody>
      </p:sp>
      <p:pic>
        <p:nvPicPr>
          <p:cNvPr id="18" name="Picture 17">
            <a:extLst>
              <a:ext uri="{FF2B5EF4-FFF2-40B4-BE49-F238E27FC236}">
                <a16:creationId xmlns:a16="http://schemas.microsoft.com/office/drawing/2014/main" id="{AF61B3A1-431A-7E64-BB7B-D089DACEDCFA}"/>
              </a:ext>
            </a:extLst>
          </p:cNvPr>
          <p:cNvPicPr>
            <a:picLocks noChangeAspect="1"/>
          </p:cNvPicPr>
          <p:nvPr/>
        </p:nvPicPr>
        <p:blipFill>
          <a:blip r:embed="rId2">
            <a:duotone>
              <a:prstClr val="black"/>
              <a:schemeClr val="bg2">
                <a:lumMod val="90000"/>
                <a:tint val="45000"/>
                <a:satMod val="400000"/>
              </a:schemeClr>
            </a:duotone>
          </a:blip>
          <a:stretch>
            <a:fillRect/>
          </a:stretch>
        </p:blipFill>
        <p:spPr>
          <a:xfrm>
            <a:off x="1752600" y="2705100"/>
            <a:ext cx="5715000" cy="4343399"/>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1107995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27F9C-91A8-41E4-466A-19C78F93090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4112768-8FC5-70E5-7BD7-42FC8695AEA4}"/>
              </a:ext>
            </a:extLst>
          </p:cNvPr>
          <p:cNvSpPr txBox="1">
            <a:spLocks noGrp="1"/>
          </p:cNvSpPr>
          <p:nvPr>
            <p:ph type="title"/>
          </p:nvPr>
        </p:nvSpPr>
        <p:spPr>
          <a:xfrm>
            <a:off x="5400000" y="140442"/>
            <a:ext cx="7488000" cy="842538"/>
          </a:xfrm>
          <a:prstGeom prst="rect">
            <a:avLst/>
          </a:prstGeom>
        </p:spPr>
        <p:txBody>
          <a:bodyPr vert="horz" wrap="square" lIns="0" tIns="11430" rIns="0" bIns="0" rtlCol="0">
            <a:spAutoFit/>
          </a:bodyPr>
          <a:lstStyle/>
          <a:p>
            <a:pPr marL="12700" algn="ctr">
              <a:lnSpc>
                <a:spcPct val="100000"/>
              </a:lnSpc>
              <a:spcBef>
                <a:spcPts val="90"/>
              </a:spcBef>
            </a:pPr>
            <a:r>
              <a:rPr lang="en-IN" sz="5400" spc="-99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JOINS</a:t>
            </a:r>
            <a:endParaRPr sz="5400" spc="-99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object 6">
            <a:extLst>
              <a:ext uri="{FF2B5EF4-FFF2-40B4-BE49-F238E27FC236}">
                <a16:creationId xmlns:a16="http://schemas.microsoft.com/office/drawing/2014/main" id="{3F4E036C-EA4B-DCC0-0C43-6EE64BCB63BB}"/>
              </a:ext>
            </a:extLst>
          </p:cNvPr>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a:endParaRPr/>
          </a:p>
        </p:txBody>
      </p:sp>
      <p:grpSp>
        <p:nvGrpSpPr>
          <p:cNvPr id="7" name="object 7">
            <a:extLst>
              <a:ext uri="{FF2B5EF4-FFF2-40B4-BE49-F238E27FC236}">
                <a16:creationId xmlns:a16="http://schemas.microsoft.com/office/drawing/2014/main" id="{F78414E4-E3E8-0C6A-B375-4B16E328A4BB}"/>
              </a:ext>
            </a:extLst>
          </p:cNvPr>
          <p:cNvGrpSpPr/>
          <p:nvPr/>
        </p:nvGrpSpPr>
        <p:grpSpPr>
          <a:xfrm>
            <a:off x="0" y="9718118"/>
            <a:ext cx="18288000" cy="568960"/>
            <a:chOff x="0" y="9718118"/>
            <a:chExt cx="18288000" cy="568960"/>
          </a:xfrm>
        </p:grpSpPr>
        <p:sp>
          <p:nvSpPr>
            <p:cNvPr id="8" name="object 8">
              <a:extLst>
                <a:ext uri="{FF2B5EF4-FFF2-40B4-BE49-F238E27FC236}">
                  <a16:creationId xmlns:a16="http://schemas.microsoft.com/office/drawing/2014/main" id="{EDD883EC-825F-900C-3042-0D12115FDCEB}"/>
                </a:ext>
              </a:extLst>
            </p:cNvPr>
            <p:cNvSpPr/>
            <p:nvPr/>
          </p:nvSpPr>
          <p:spPr>
            <a:xfrm>
              <a:off x="0" y="9889568"/>
              <a:ext cx="18288000" cy="397510"/>
            </a:xfrm>
            <a:custGeom>
              <a:avLst/>
              <a:gdLst/>
              <a:ahLst/>
              <a:cxnLst/>
              <a:rect l="l" t="t" r="r" b="b"/>
              <a:pathLst>
                <a:path w="18288000" h="397509">
                  <a:moveTo>
                    <a:pt x="0" y="397431"/>
                  </a:moveTo>
                  <a:lnTo>
                    <a:pt x="18288000" y="397431"/>
                  </a:lnTo>
                  <a:lnTo>
                    <a:pt x="18288000" y="0"/>
                  </a:lnTo>
                  <a:lnTo>
                    <a:pt x="0" y="0"/>
                  </a:lnTo>
                  <a:lnTo>
                    <a:pt x="0" y="397431"/>
                  </a:lnTo>
                  <a:close/>
                </a:path>
              </a:pathLst>
            </a:custGeom>
            <a:solidFill>
              <a:srgbClr val="FAE7BC"/>
            </a:solidFill>
          </p:spPr>
          <p:txBody>
            <a:bodyPr wrap="square" lIns="0" tIns="0" rIns="0" bIns="0" rtlCol="0"/>
            <a:lstStyle/>
            <a:p>
              <a:endParaRPr/>
            </a:p>
          </p:txBody>
        </p:sp>
        <p:sp>
          <p:nvSpPr>
            <p:cNvPr id="9" name="object 9">
              <a:extLst>
                <a:ext uri="{FF2B5EF4-FFF2-40B4-BE49-F238E27FC236}">
                  <a16:creationId xmlns:a16="http://schemas.microsoft.com/office/drawing/2014/main" id="{FE397297-6FD8-45E6-38A8-57B215E06B3C}"/>
                </a:ext>
              </a:extLst>
            </p:cNvPr>
            <p:cNvSpPr/>
            <p:nvPr/>
          </p:nvSpPr>
          <p:spPr>
            <a:xfrm>
              <a:off x="0" y="9718118"/>
              <a:ext cx="18288000" cy="171450"/>
            </a:xfrm>
            <a:custGeom>
              <a:avLst/>
              <a:gdLst/>
              <a:ahLst/>
              <a:cxnLst/>
              <a:rect l="l" t="t" r="r" b="b"/>
              <a:pathLst>
                <a:path w="18288000" h="171450">
                  <a:moveTo>
                    <a:pt x="0" y="0"/>
                  </a:moveTo>
                  <a:lnTo>
                    <a:pt x="18287999" y="0"/>
                  </a:lnTo>
                  <a:lnTo>
                    <a:pt x="18287999" y="171449"/>
                  </a:lnTo>
                  <a:lnTo>
                    <a:pt x="0" y="171449"/>
                  </a:lnTo>
                  <a:lnTo>
                    <a:pt x="0" y="0"/>
                  </a:lnTo>
                  <a:close/>
                </a:path>
              </a:pathLst>
            </a:custGeom>
            <a:solidFill>
              <a:srgbClr val="494848"/>
            </a:solidFill>
          </p:spPr>
          <p:txBody>
            <a:bodyPr wrap="square" lIns="0" tIns="0" rIns="0" bIns="0" rtlCol="0"/>
            <a:lstStyle/>
            <a:p>
              <a:endParaRPr/>
            </a:p>
          </p:txBody>
        </p:sp>
      </p:grpSp>
      <p:sp>
        <p:nvSpPr>
          <p:cNvPr id="10" name="object 10">
            <a:extLst>
              <a:ext uri="{FF2B5EF4-FFF2-40B4-BE49-F238E27FC236}">
                <a16:creationId xmlns:a16="http://schemas.microsoft.com/office/drawing/2014/main" id="{055D06EC-85A3-279F-5793-B8165A928F97}"/>
              </a:ext>
            </a:extLst>
          </p:cNvPr>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a:endParaRPr/>
          </a:p>
        </p:txBody>
      </p:sp>
      <p:sp>
        <p:nvSpPr>
          <p:cNvPr id="16" name="TextBox 15">
            <a:extLst>
              <a:ext uri="{FF2B5EF4-FFF2-40B4-BE49-F238E27FC236}">
                <a16:creationId xmlns:a16="http://schemas.microsoft.com/office/drawing/2014/main" id="{7462ED11-9C30-2641-251E-414D9227F8DD}"/>
              </a:ext>
            </a:extLst>
          </p:cNvPr>
          <p:cNvSpPr txBox="1"/>
          <p:nvPr/>
        </p:nvSpPr>
        <p:spPr>
          <a:xfrm>
            <a:off x="9601200" y="2705100"/>
            <a:ext cx="7488000" cy="2062103"/>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Write a query to display all the payments that were made either by Cash or by Credit Card. Use the UNION operator to combine the results</a:t>
            </a:r>
          </a:p>
        </p:txBody>
      </p:sp>
      <p:sp>
        <p:nvSpPr>
          <p:cNvPr id="17" name="TextBox 16">
            <a:extLst>
              <a:ext uri="{FF2B5EF4-FFF2-40B4-BE49-F238E27FC236}">
                <a16:creationId xmlns:a16="http://schemas.microsoft.com/office/drawing/2014/main" id="{DFE4831E-FDC5-12FD-748A-6AACF1DA714A}"/>
              </a:ext>
            </a:extLst>
          </p:cNvPr>
          <p:cNvSpPr txBox="1"/>
          <p:nvPr/>
        </p:nvSpPr>
        <p:spPr>
          <a:xfrm>
            <a:off x="9605962" y="5025954"/>
            <a:ext cx="8062912" cy="2246769"/>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SELECT </a:t>
            </a:r>
            <a:r>
              <a:rPr lang="en-US" sz="2800" dirty="0" err="1">
                <a:latin typeface="Times New Roman" panose="02020603050405020304" pitchFamily="18" charset="0"/>
                <a:cs typeface="Times New Roman" panose="02020603050405020304" pitchFamily="18" charset="0"/>
              </a:rPr>
              <a:t>payment_id</a:t>
            </a:r>
            <a:r>
              <a:rPr lang="en-US" sz="2800" dirty="0">
                <a:latin typeface="Times New Roman" panose="02020603050405020304" pitchFamily="18" charset="0"/>
                <a:cs typeface="Times New Roman" panose="02020603050405020304" pitchFamily="18" charset="0"/>
              </a:rPr>
              <a:t>, amount, </a:t>
            </a:r>
            <a:r>
              <a:rPr lang="en-US" sz="2800" dirty="0" err="1">
                <a:latin typeface="Times New Roman" panose="02020603050405020304" pitchFamily="18" charset="0"/>
                <a:cs typeface="Times New Roman" panose="02020603050405020304" pitchFamily="18" charset="0"/>
              </a:rPr>
              <a:t>payment_method</a:t>
            </a:r>
            <a:r>
              <a:rPr lang="en-US" sz="2800" dirty="0">
                <a:latin typeface="Times New Roman" panose="02020603050405020304" pitchFamily="18" charset="0"/>
                <a:cs typeface="Times New Roman" panose="02020603050405020304" pitchFamily="18" charset="0"/>
              </a:rPr>
              <a:t> FROM Payments WHERE </a:t>
            </a:r>
            <a:r>
              <a:rPr lang="en-US" sz="2800" dirty="0" err="1">
                <a:latin typeface="Times New Roman" panose="02020603050405020304" pitchFamily="18" charset="0"/>
                <a:cs typeface="Times New Roman" panose="02020603050405020304" pitchFamily="18" charset="0"/>
              </a:rPr>
              <a:t>payment_method</a:t>
            </a:r>
            <a:r>
              <a:rPr lang="en-US" sz="2800" dirty="0">
                <a:latin typeface="Times New Roman" panose="02020603050405020304" pitchFamily="18" charset="0"/>
                <a:cs typeface="Times New Roman" panose="02020603050405020304" pitchFamily="18" charset="0"/>
              </a:rPr>
              <a:t> = '</a:t>
            </a:r>
            <a:r>
              <a:rPr lang="en-US" sz="2800" dirty="0" err="1">
                <a:latin typeface="Times New Roman" panose="02020603050405020304" pitchFamily="18" charset="0"/>
                <a:cs typeface="Times New Roman" panose="02020603050405020304" pitchFamily="18" charset="0"/>
              </a:rPr>
              <a:t>Cash'UNIONSELECT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payment_id</a:t>
            </a:r>
            <a:r>
              <a:rPr lang="en-US" sz="2800" dirty="0">
                <a:latin typeface="Times New Roman" panose="02020603050405020304" pitchFamily="18" charset="0"/>
                <a:cs typeface="Times New Roman" panose="02020603050405020304" pitchFamily="18" charset="0"/>
              </a:rPr>
              <a:t>, amount, </a:t>
            </a:r>
            <a:r>
              <a:rPr lang="en-US" sz="2800" dirty="0" err="1">
                <a:latin typeface="Times New Roman" panose="02020603050405020304" pitchFamily="18" charset="0"/>
                <a:cs typeface="Times New Roman" panose="02020603050405020304" pitchFamily="18" charset="0"/>
              </a:rPr>
              <a:t>payment_method</a:t>
            </a:r>
            <a:r>
              <a:rPr lang="en-US" sz="2800" dirty="0">
                <a:latin typeface="Times New Roman" panose="02020603050405020304" pitchFamily="18" charset="0"/>
                <a:cs typeface="Times New Roman" panose="02020603050405020304" pitchFamily="18" charset="0"/>
              </a:rPr>
              <a:t> FROM Payments WHERE </a:t>
            </a:r>
            <a:r>
              <a:rPr lang="en-US" sz="2800" dirty="0" err="1">
                <a:latin typeface="Times New Roman" panose="02020603050405020304" pitchFamily="18" charset="0"/>
                <a:cs typeface="Times New Roman" panose="02020603050405020304" pitchFamily="18" charset="0"/>
              </a:rPr>
              <a:t>payment_method</a:t>
            </a:r>
            <a:r>
              <a:rPr lang="en-US" sz="2800" dirty="0">
                <a:latin typeface="Times New Roman" panose="02020603050405020304" pitchFamily="18" charset="0"/>
                <a:cs typeface="Times New Roman" panose="02020603050405020304" pitchFamily="18" charset="0"/>
              </a:rPr>
              <a:t> = 'Credit Card';</a:t>
            </a:r>
          </a:p>
        </p:txBody>
      </p:sp>
      <p:pic>
        <p:nvPicPr>
          <p:cNvPr id="13" name="Picture 12">
            <a:extLst>
              <a:ext uri="{FF2B5EF4-FFF2-40B4-BE49-F238E27FC236}">
                <a16:creationId xmlns:a16="http://schemas.microsoft.com/office/drawing/2014/main" id="{037733EB-2327-948A-D7F5-B001E3DA7D26}"/>
              </a:ext>
            </a:extLst>
          </p:cNvPr>
          <p:cNvPicPr>
            <a:picLocks noChangeAspect="1"/>
          </p:cNvPicPr>
          <p:nvPr/>
        </p:nvPicPr>
        <p:blipFill>
          <a:blip r:embed="rId2">
            <a:duotone>
              <a:prstClr val="black"/>
              <a:schemeClr val="bg2">
                <a:lumMod val="90000"/>
                <a:tint val="45000"/>
                <a:satMod val="400000"/>
              </a:schemeClr>
            </a:duotone>
          </a:blip>
          <a:stretch>
            <a:fillRect/>
          </a:stretch>
        </p:blipFill>
        <p:spPr>
          <a:xfrm>
            <a:off x="2362200" y="2871308"/>
            <a:ext cx="5334000" cy="379619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8841832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5D974-0AB5-A480-6A2F-C149884DBAAB}"/>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D5A310BA-8B2F-B404-B84E-9111AE8FC21D}"/>
              </a:ext>
            </a:extLst>
          </p:cNvPr>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a:endParaRPr/>
          </a:p>
        </p:txBody>
      </p:sp>
      <p:grpSp>
        <p:nvGrpSpPr>
          <p:cNvPr id="7" name="object 7">
            <a:extLst>
              <a:ext uri="{FF2B5EF4-FFF2-40B4-BE49-F238E27FC236}">
                <a16:creationId xmlns:a16="http://schemas.microsoft.com/office/drawing/2014/main" id="{397C4C3C-09FF-58A1-E5E9-301F9DA7B206}"/>
              </a:ext>
            </a:extLst>
          </p:cNvPr>
          <p:cNvGrpSpPr/>
          <p:nvPr/>
        </p:nvGrpSpPr>
        <p:grpSpPr>
          <a:xfrm>
            <a:off x="0" y="9718118"/>
            <a:ext cx="18288000" cy="568960"/>
            <a:chOff x="0" y="9718118"/>
            <a:chExt cx="18288000" cy="568960"/>
          </a:xfrm>
        </p:grpSpPr>
        <p:sp>
          <p:nvSpPr>
            <p:cNvPr id="8" name="object 8">
              <a:extLst>
                <a:ext uri="{FF2B5EF4-FFF2-40B4-BE49-F238E27FC236}">
                  <a16:creationId xmlns:a16="http://schemas.microsoft.com/office/drawing/2014/main" id="{A96D1199-F4C2-B814-2FCC-DD8A219DBF4B}"/>
                </a:ext>
              </a:extLst>
            </p:cNvPr>
            <p:cNvSpPr/>
            <p:nvPr/>
          </p:nvSpPr>
          <p:spPr>
            <a:xfrm>
              <a:off x="0" y="9889568"/>
              <a:ext cx="18288000" cy="397510"/>
            </a:xfrm>
            <a:custGeom>
              <a:avLst/>
              <a:gdLst/>
              <a:ahLst/>
              <a:cxnLst/>
              <a:rect l="l" t="t" r="r" b="b"/>
              <a:pathLst>
                <a:path w="18288000" h="397509">
                  <a:moveTo>
                    <a:pt x="0" y="397431"/>
                  </a:moveTo>
                  <a:lnTo>
                    <a:pt x="18288000" y="397431"/>
                  </a:lnTo>
                  <a:lnTo>
                    <a:pt x="18288000" y="0"/>
                  </a:lnTo>
                  <a:lnTo>
                    <a:pt x="0" y="0"/>
                  </a:lnTo>
                  <a:lnTo>
                    <a:pt x="0" y="397431"/>
                  </a:lnTo>
                  <a:close/>
                </a:path>
              </a:pathLst>
            </a:custGeom>
            <a:solidFill>
              <a:srgbClr val="FAE7BC"/>
            </a:solidFill>
          </p:spPr>
          <p:txBody>
            <a:bodyPr wrap="square" lIns="0" tIns="0" rIns="0" bIns="0" rtlCol="0"/>
            <a:lstStyle/>
            <a:p>
              <a:endParaRPr/>
            </a:p>
          </p:txBody>
        </p:sp>
        <p:sp>
          <p:nvSpPr>
            <p:cNvPr id="9" name="object 9">
              <a:extLst>
                <a:ext uri="{FF2B5EF4-FFF2-40B4-BE49-F238E27FC236}">
                  <a16:creationId xmlns:a16="http://schemas.microsoft.com/office/drawing/2014/main" id="{AAA4253C-0C87-523D-E421-32E3009C7B32}"/>
                </a:ext>
              </a:extLst>
            </p:cNvPr>
            <p:cNvSpPr/>
            <p:nvPr/>
          </p:nvSpPr>
          <p:spPr>
            <a:xfrm>
              <a:off x="0" y="9718118"/>
              <a:ext cx="18288000" cy="171450"/>
            </a:xfrm>
            <a:custGeom>
              <a:avLst/>
              <a:gdLst/>
              <a:ahLst/>
              <a:cxnLst/>
              <a:rect l="l" t="t" r="r" b="b"/>
              <a:pathLst>
                <a:path w="18288000" h="171450">
                  <a:moveTo>
                    <a:pt x="0" y="0"/>
                  </a:moveTo>
                  <a:lnTo>
                    <a:pt x="18287999" y="0"/>
                  </a:lnTo>
                  <a:lnTo>
                    <a:pt x="18287999" y="171449"/>
                  </a:lnTo>
                  <a:lnTo>
                    <a:pt x="0" y="171449"/>
                  </a:lnTo>
                  <a:lnTo>
                    <a:pt x="0" y="0"/>
                  </a:lnTo>
                  <a:close/>
                </a:path>
              </a:pathLst>
            </a:custGeom>
            <a:solidFill>
              <a:srgbClr val="494848"/>
            </a:solidFill>
          </p:spPr>
          <p:txBody>
            <a:bodyPr wrap="square" lIns="0" tIns="0" rIns="0" bIns="0" rtlCol="0"/>
            <a:lstStyle/>
            <a:p>
              <a:endParaRPr/>
            </a:p>
          </p:txBody>
        </p:sp>
      </p:grpSp>
      <p:sp>
        <p:nvSpPr>
          <p:cNvPr id="10" name="object 10">
            <a:extLst>
              <a:ext uri="{FF2B5EF4-FFF2-40B4-BE49-F238E27FC236}">
                <a16:creationId xmlns:a16="http://schemas.microsoft.com/office/drawing/2014/main" id="{F5821B4F-7189-84EB-1991-3371935A055F}"/>
              </a:ext>
            </a:extLst>
          </p:cNvPr>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a:endParaRPr/>
          </a:p>
        </p:txBody>
      </p:sp>
      <p:sp>
        <p:nvSpPr>
          <p:cNvPr id="5" name="TextBox 4">
            <a:extLst>
              <a:ext uri="{FF2B5EF4-FFF2-40B4-BE49-F238E27FC236}">
                <a16:creationId xmlns:a16="http://schemas.microsoft.com/office/drawing/2014/main" id="{B4E6BA41-30A3-5898-74EF-B70081F05F80}"/>
              </a:ext>
            </a:extLst>
          </p:cNvPr>
          <p:cNvSpPr txBox="1"/>
          <p:nvPr/>
        </p:nvSpPr>
        <p:spPr>
          <a:xfrm>
            <a:off x="10744200" y="3771900"/>
            <a:ext cx="7239000" cy="1323439"/>
          </a:xfrm>
          <a:prstGeom prst="rect">
            <a:avLst/>
          </a:prstGeom>
          <a:noFill/>
        </p:spPr>
        <p:txBody>
          <a:bodyPr wrap="square" rtlCol="0">
            <a:spAutoFit/>
          </a:bodyPr>
          <a:lstStyle/>
          <a:p>
            <a:r>
              <a:rPr lang="en-IN" sz="8000" b="1" dirty="0">
                <a:effectLst>
                  <a:outerShdw blurRad="38100" dist="38100" dir="2700000" algn="tl">
                    <a:srgbClr val="000000">
                      <a:alpha val="43137"/>
                    </a:srgbClr>
                  </a:outerShdw>
                  <a:reflection blurRad="6350" stA="50000" endA="300" endPos="50000" dist="29997" dir="5400000" sy="-100000" algn="bl" rotWithShape="0"/>
                </a:effectLst>
                <a:latin typeface="Times New Roman" panose="02020603050405020304" pitchFamily="18" charset="0"/>
                <a:cs typeface="Times New Roman" panose="02020603050405020304" pitchFamily="18" charset="0"/>
              </a:rPr>
              <a:t>        VIEWS</a:t>
            </a:r>
          </a:p>
        </p:txBody>
      </p:sp>
      <p:pic>
        <p:nvPicPr>
          <p:cNvPr id="4" name="Picture 3">
            <a:extLst>
              <a:ext uri="{FF2B5EF4-FFF2-40B4-BE49-F238E27FC236}">
                <a16:creationId xmlns:a16="http://schemas.microsoft.com/office/drawing/2014/main" id="{9D4F4AD2-C009-1687-5853-5860FBDA2F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1506200" cy="9718118"/>
          </a:xfrm>
          <a:prstGeom prst="rect">
            <a:avLst/>
          </a:prstGeom>
        </p:spPr>
      </p:pic>
    </p:spTree>
    <p:extLst>
      <p:ext uri="{BB962C8B-B14F-4D97-AF65-F5344CB8AC3E}">
        <p14:creationId xmlns:p14="http://schemas.microsoft.com/office/powerpoint/2010/main" val="18215547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45538-E53A-7EF4-E0B4-67B9D87AA05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233C0BA-AAEC-A141-B2A0-847701DD5AD4}"/>
              </a:ext>
            </a:extLst>
          </p:cNvPr>
          <p:cNvSpPr txBox="1">
            <a:spLocks noGrp="1"/>
          </p:cNvSpPr>
          <p:nvPr>
            <p:ph type="title"/>
          </p:nvPr>
        </p:nvSpPr>
        <p:spPr>
          <a:xfrm>
            <a:off x="5400000" y="140442"/>
            <a:ext cx="7488000" cy="842538"/>
          </a:xfrm>
          <a:prstGeom prst="rect">
            <a:avLst/>
          </a:prstGeom>
        </p:spPr>
        <p:txBody>
          <a:bodyPr vert="horz" wrap="square" lIns="0" tIns="11430" rIns="0" bIns="0" rtlCol="0">
            <a:spAutoFit/>
          </a:bodyPr>
          <a:lstStyle/>
          <a:p>
            <a:pPr marL="12700" algn="ctr">
              <a:lnSpc>
                <a:spcPct val="100000"/>
              </a:lnSpc>
              <a:spcBef>
                <a:spcPts val="90"/>
              </a:spcBef>
            </a:pPr>
            <a:r>
              <a:rPr lang="en-IN" sz="5400" spc="-99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VIEWS</a:t>
            </a:r>
            <a:endParaRPr sz="5400" spc="-99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object 6">
            <a:extLst>
              <a:ext uri="{FF2B5EF4-FFF2-40B4-BE49-F238E27FC236}">
                <a16:creationId xmlns:a16="http://schemas.microsoft.com/office/drawing/2014/main" id="{7DAC3C6B-79A8-9751-39EE-F82540380D7F}"/>
              </a:ext>
            </a:extLst>
          </p:cNvPr>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a:endParaRPr/>
          </a:p>
        </p:txBody>
      </p:sp>
      <p:grpSp>
        <p:nvGrpSpPr>
          <p:cNvPr id="7" name="object 7">
            <a:extLst>
              <a:ext uri="{FF2B5EF4-FFF2-40B4-BE49-F238E27FC236}">
                <a16:creationId xmlns:a16="http://schemas.microsoft.com/office/drawing/2014/main" id="{9088F7F3-3F87-D1E4-4782-18EB96E4E923}"/>
              </a:ext>
            </a:extLst>
          </p:cNvPr>
          <p:cNvGrpSpPr/>
          <p:nvPr/>
        </p:nvGrpSpPr>
        <p:grpSpPr>
          <a:xfrm>
            <a:off x="0" y="9718118"/>
            <a:ext cx="18288000" cy="568960"/>
            <a:chOff x="0" y="9718118"/>
            <a:chExt cx="18288000" cy="568960"/>
          </a:xfrm>
        </p:grpSpPr>
        <p:sp>
          <p:nvSpPr>
            <p:cNvPr id="8" name="object 8">
              <a:extLst>
                <a:ext uri="{FF2B5EF4-FFF2-40B4-BE49-F238E27FC236}">
                  <a16:creationId xmlns:a16="http://schemas.microsoft.com/office/drawing/2014/main" id="{DAF75315-27BC-B7DD-6F6B-8FE1E66A4983}"/>
                </a:ext>
              </a:extLst>
            </p:cNvPr>
            <p:cNvSpPr/>
            <p:nvPr/>
          </p:nvSpPr>
          <p:spPr>
            <a:xfrm>
              <a:off x="0" y="9889568"/>
              <a:ext cx="18288000" cy="397510"/>
            </a:xfrm>
            <a:custGeom>
              <a:avLst/>
              <a:gdLst/>
              <a:ahLst/>
              <a:cxnLst/>
              <a:rect l="l" t="t" r="r" b="b"/>
              <a:pathLst>
                <a:path w="18288000" h="397509">
                  <a:moveTo>
                    <a:pt x="0" y="397431"/>
                  </a:moveTo>
                  <a:lnTo>
                    <a:pt x="18288000" y="397431"/>
                  </a:lnTo>
                  <a:lnTo>
                    <a:pt x="18288000" y="0"/>
                  </a:lnTo>
                  <a:lnTo>
                    <a:pt x="0" y="0"/>
                  </a:lnTo>
                  <a:lnTo>
                    <a:pt x="0" y="397431"/>
                  </a:lnTo>
                  <a:close/>
                </a:path>
              </a:pathLst>
            </a:custGeom>
            <a:solidFill>
              <a:srgbClr val="FAE7BC"/>
            </a:solidFill>
          </p:spPr>
          <p:txBody>
            <a:bodyPr wrap="square" lIns="0" tIns="0" rIns="0" bIns="0" rtlCol="0"/>
            <a:lstStyle/>
            <a:p>
              <a:endParaRPr/>
            </a:p>
          </p:txBody>
        </p:sp>
        <p:sp>
          <p:nvSpPr>
            <p:cNvPr id="9" name="object 9">
              <a:extLst>
                <a:ext uri="{FF2B5EF4-FFF2-40B4-BE49-F238E27FC236}">
                  <a16:creationId xmlns:a16="http://schemas.microsoft.com/office/drawing/2014/main" id="{D2032AB1-FFC7-B1C3-759E-53C1E99FDDF3}"/>
                </a:ext>
              </a:extLst>
            </p:cNvPr>
            <p:cNvSpPr/>
            <p:nvPr/>
          </p:nvSpPr>
          <p:spPr>
            <a:xfrm>
              <a:off x="0" y="9718118"/>
              <a:ext cx="18288000" cy="171450"/>
            </a:xfrm>
            <a:custGeom>
              <a:avLst/>
              <a:gdLst/>
              <a:ahLst/>
              <a:cxnLst/>
              <a:rect l="l" t="t" r="r" b="b"/>
              <a:pathLst>
                <a:path w="18288000" h="171450">
                  <a:moveTo>
                    <a:pt x="0" y="0"/>
                  </a:moveTo>
                  <a:lnTo>
                    <a:pt x="18287999" y="0"/>
                  </a:lnTo>
                  <a:lnTo>
                    <a:pt x="18287999" y="171449"/>
                  </a:lnTo>
                  <a:lnTo>
                    <a:pt x="0" y="171449"/>
                  </a:lnTo>
                  <a:lnTo>
                    <a:pt x="0" y="0"/>
                  </a:lnTo>
                  <a:close/>
                </a:path>
              </a:pathLst>
            </a:custGeom>
            <a:solidFill>
              <a:srgbClr val="494848"/>
            </a:solidFill>
          </p:spPr>
          <p:txBody>
            <a:bodyPr wrap="square" lIns="0" tIns="0" rIns="0" bIns="0" rtlCol="0"/>
            <a:lstStyle/>
            <a:p>
              <a:endParaRPr/>
            </a:p>
          </p:txBody>
        </p:sp>
      </p:grpSp>
      <p:sp>
        <p:nvSpPr>
          <p:cNvPr id="10" name="object 10">
            <a:extLst>
              <a:ext uri="{FF2B5EF4-FFF2-40B4-BE49-F238E27FC236}">
                <a16:creationId xmlns:a16="http://schemas.microsoft.com/office/drawing/2014/main" id="{81EA405E-A6F7-E301-8F23-5F898ED88301}"/>
              </a:ext>
            </a:extLst>
          </p:cNvPr>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a:endParaRPr/>
          </a:p>
        </p:txBody>
      </p:sp>
      <p:sp>
        <p:nvSpPr>
          <p:cNvPr id="16" name="TextBox 15">
            <a:extLst>
              <a:ext uri="{FF2B5EF4-FFF2-40B4-BE49-F238E27FC236}">
                <a16:creationId xmlns:a16="http://schemas.microsoft.com/office/drawing/2014/main" id="{39909770-F7C5-2727-5375-C8C21272169F}"/>
              </a:ext>
            </a:extLst>
          </p:cNvPr>
          <p:cNvSpPr txBox="1"/>
          <p:nvPr/>
        </p:nvSpPr>
        <p:spPr>
          <a:xfrm>
            <a:off x="9601200" y="2705100"/>
            <a:ext cx="7488000" cy="1077218"/>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Create a view to show rentals where the total amount is greater than 5000.</a:t>
            </a:r>
          </a:p>
        </p:txBody>
      </p:sp>
      <p:sp>
        <p:nvSpPr>
          <p:cNvPr id="17" name="TextBox 16">
            <a:extLst>
              <a:ext uri="{FF2B5EF4-FFF2-40B4-BE49-F238E27FC236}">
                <a16:creationId xmlns:a16="http://schemas.microsoft.com/office/drawing/2014/main" id="{3D46F5F4-D1AD-6443-A2E4-1A8B42515D4E}"/>
              </a:ext>
            </a:extLst>
          </p:cNvPr>
          <p:cNvSpPr txBox="1"/>
          <p:nvPr/>
        </p:nvSpPr>
        <p:spPr>
          <a:xfrm>
            <a:off x="9601200" y="4442608"/>
            <a:ext cx="8062912" cy="1384995"/>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CREATE VIEW </a:t>
            </a:r>
            <a:r>
              <a:rPr lang="en-US" sz="2800" dirty="0" err="1">
                <a:latin typeface="Times New Roman" panose="02020603050405020304" pitchFamily="18" charset="0"/>
                <a:cs typeface="Times New Roman" panose="02020603050405020304" pitchFamily="18" charset="0"/>
              </a:rPr>
              <a:t>High_Value_Rentals</a:t>
            </a:r>
            <a:r>
              <a:rPr lang="en-US" sz="2800" dirty="0">
                <a:latin typeface="Times New Roman" panose="02020603050405020304" pitchFamily="18" charset="0"/>
                <a:cs typeface="Times New Roman" panose="02020603050405020304" pitchFamily="18" charset="0"/>
              </a:rPr>
              <a:t> ASSELECT </a:t>
            </a:r>
            <a:r>
              <a:rPr lang="en-US" sz="2800" dirty="0" err="1">
                <a:latin typeface="Times New Roman" panose="02020603050405020304" pitchFamily="18" charset="0"/>
                <a:cs typeface="Times New Roman" panose="02020603050405020304" pitchFamily="18" charset="0"/>
              </a:rPr>
              <a:t>rental_id</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customer_id</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car_id</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total_amountFROM</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RentalsWHERE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total_amount</a:t>
            </a:r>
            <a:r>
              <a:rPr lang="en-US" sz="2800" dirty="0">
                <a:latin typeface="Times New Roman" panose="02020603050405020304" pitchFamily="18" charset="0"/>
                <a:cs typeface="Times New Roman" panose="02020603050405020304" pitchFamily="18" charset="0"/>
              </a:rPr>
              <a:t> &gt; 5000;</a:t>
            </a:r>
          </a:p>
        </p:txBody>
      </p:sp>
      <p:pic>
        <p:nvPicPr>
          <p:cNvPr id="4" name="Picture 3">
            <a:extLst>
              <a:ext uri="{FF2B5EF4-FFF2-40B4-BE49-F238E27FC236}">
                <a16:creationId xmlns:a16="http://schemas.microsoft.com/office/drawing/2014/main" id="{E0222AD3-B471-60B2-94D8-18053C2FEBB5}"/>
              </a:ext>
            </a:extLst>
          </p:cNvPr>
          <p:cNvPicPr>
            <a:picLocks noChangeAspect="1"/>
          </p:cNvPicPr>
          <p:nvPr/>
        </p:nvPicPr>
        <p:blipFill>
          <a:blip r:embed="rId2">
            <a:duotone>
              <a:prstClr val="black"/>
              <a:schemeClr val="bg2">
                <a:lumMod val="90000"/>
                <a:tint val="45000"/>
                <a:satMod val="400000"/>
              </a:schemeClr>
            </a:duotone>
          </a:blip>
          <a:stretch>
            <a:fillRect/>
          </a:stretch>
        </p:blipFill>
        <p:spPr>
          <a:xfrm>
            <a:off x="2057400" y="2705100"/>
            <a:ext cx="6400800" cy="472440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5468991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17283-36B3-BAD4-076E-D60BAA1CACF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AB86984-F891-88F7-E6A5-A559091E5DFB}"/>
              </a:ext>
            </a:extLst>
          </p:cNvPr>
          <p:cNvSpPr txBox="1">
            <a:spLocks noGrp="1"/>
          </p:cNvSpPr>
          <p:nvPr>
            <p:ph type="title"/>
          </p:nvPr>
        </p:nvSpPr>
        <p:spPr>
          <a:xfrm>
            <a:off x="5400000" y="140442"/>
            <a:ext cx="7488000" cy="842538"/>
          </a:xfrm>
          <a:prstGeom prst="rect">
            <a:avLst/>
          </a:prstGeom>
        </p:spPr>
        <p:txBody>
          <a:bodyPr vert="horz" wrap="square" lIns="0" tIns="11430" rIns="0" bIns="0" rtlCol="0">
            <a:spAutoFit/>
          </a:bodyPr>
          <a:lstStyle/>
          <a:p>
            <a:pPr marL="12700" algn="ctr">
              <a:lnSpc>
                <a:spcPct val="100000"/>
              </a:lnSpc>
              <a:spcBef>
                <a:spcPts val="90"/>
              </a:spcBef>
            </a:pPr>
            <a:r>
              <a:rPr lang="en-IN" sz="5400" spc="-99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VIEWS</a:t>
            </a:r>
            <a:endParaRPr sz="5400" spc="-99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object 6">
            <a:extLst>
              <a:ext uri="{FF2B5EF4-FFF2-40B4-BE49-F238E27FC236}">
                <a16:creationId xmlns:a16="http://schemas.microsoft.com/office/drawing/2014/main" id="{49A61574-90D0-684D-7BEA-F1AF15C844B7}"/>
              </a:ext>
            </a:extLst>
          </p:cNvPr>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a:endParaRPr/>
          </a:p>
        </p:txBody>
      </p:sp>
      <p:grpSp>
        <p:nvGrpSpPr>
          <p:cNvPr id="7" name="object 7">
            <a:extLst>
              <a:ext uri="{FF2B5EF4-FFF2-40B4-BE49-F238E27FC236}">
                <a16:creationId xmlns:a16="http://schemas.microsoft.com/office/drawing/2014/main" id="{CD19CC73-1A81-BDF0-B449-9DAA766C39F4}"/>
              </a:ext>
            </a:extLst>
          </p:cNvPr>
          <p:cNvGrpSpPr/>
          <p:nvPr/>
        </p:nvGrpSpPr>
        <p:grpSpPr>
          <a:xfrm>
            <a:off x="0" y="9718118"/>
            <a:ext cx="18288000" cy="568960"/>
            <a:chOff x="0" y="9718118"/>
            <a:chExt cx="18288000" cy="568960"/>
          </a:xfrm>
        </p:grpSpPr>
        <p:sp>
          <p:nvSpPr>
            <p:cNvPr id="8" name="object 8">
              <a:extLst>
                <a:ext uri="{FF2B5EF4-FFF2-40B4-BE49-F238E27FC236}">
                  <a16:creationId xmlns:a16="http://schemas.microsoft.com/office/drawing/2014/main" id="{55EFE05C-1110-EBC1-048A-47E3957C0BAB}"/>
                </a:ext>
              </a:extLst>
            </p:cNvPr>
            <p:cNvSpPr/>
            <p:nvPr/>
          </p:nvSpPr>
          <p:spPr>
            <a:xfrm>
              <a:off x="0" y="9889568"/>
              <a:ext cx="18288000" cy="397510"/>
            </a:xfrm>
            <a:custGeom>
              <a:avLst/>
              <a:gdLst/>
              <a:ahLst/>
              <a:cxnLst/>
              <a:rect l="l" t="t" r="r" b="b"/>
              <a:pathLst>
                <a:path w="18288000" h="397509">
                  <a:moveTo>
                    <a:pt x="0" y="397431"/>
                  </a:moveTo>
                  <a:lnTo>
                    <a:pt x="18288000" y="397431"/>
                  </a:lnTo>
                  <a:lnTo>
                    <a:pt x="18288000" y="0"/>
                  </a:lnTo>
                  <a:lnTo>
                    <a:pt x="0" y="0"/>
                  </a:lnTo>
                  <a:lnTo>
                    <a:pt x="0" y="397431"/>
                  </a:lnTo>
                  <a:close/>
                </a:path>
              </a:pathLst>
            </a:custGeom>
            <a:solidFill>
              <a:srgbClr val="FAE7BC"/>
            </a:solidFill>
          </p:spPr>
          <p:txBody>
            <a:bodyPr wrap="square" lIns="0" tIns="0" rIns="0" bIns="0" rtlCol="0"/>
            <a:lstStyle/>
            <a:p>
              <a:endParaRPr/>
            </a:p>
          </p:txBody>
        </p:sp>
        <p:sp>
          <p:nvSpPr>
            <p:cNvPr id="9" name="object 9">
              <a:extLst>
                <a:ext uri="{FF2B5EF4-FFF2-40B4-BE49-F238E27FC236}">
                  <a16:creationId xmlns:a16="http://schemas.microsoft.com/office/drawing/2014/main" id="{1D6DF48A-6CA6-6EF1-7ED3-E5FF4A92FE53}"/>
                </a:ext>
              </a:extLst>
            </p:cNvPr>
            <p:cNvSpPr/>
            <p:nvPr/>
          </p:nvSpPr>
          <p:spPr>
            <a:xfrm>
              <a:off x="0" y="9718118"/>
              <a:ext cx="18288000" cy="171450"/>
            </a:xfrm>
            <a:custGeom>
              <a:avLst/>
              <a:gdLst/>
              <a:ahLst/>
              <a:cxnLst/>
              <a:rect l="l" t="t" r="r" b="b"/>
              <a:pathLst>
                <a:path w="18288000" h="171450">
                  <a:moveTo>
                    <a:pt x="0" y="0"/>
                  </a:moveTo>
                  <a:lnTo>
                    <a:pt x="18287999" y="0"/>
                  </a:lnTo>
                  <a:lnTo>
                    <a:pt x="18287999" y="171449"/>
                  </a:lnTo>
                  <a:lnTo>
                    <a:pt x="0" y="171449"/>
                  </a:lnTo>
                  <a:lnTo>
                    <a:pt x="0" y="0"/>
                  </a:lnTo>
                  <a:close/>
                </a:path>
              </a:pathLst>
            </a:custGeom>
            <a:solidFill>
              <a:srgbClr val="494848"/>
            </a:solidFill>
          </p:spPr>
          <p:txBody>
            <a:bodyPr wrap="square" lIns="0" tIns="0" rIns="0" bIns="0" rtlCol="0"/>
            <a:lstStyle/>
            <a:p>
              <a:endParaRPr/>
            </a:p>
          </p:txBody>
        </p:sp>
      </p:grpSp>
      <p:sp>
        <p:nvSpPr>
          <p:cNvPr id="10" name="object 10">
            <a:extLst>
              <a:ext uri="{FF2B5EF4-FFF2-40B4-BE49-F238E27FC236}">
                <a16:creationId xmlns:a16="http://schemas.microsoft.com/office/drawing/2014/main" id="{3D9E1F19-35AE-9A7E-60D6-1AACBB95F1A8}"/>
              </a:ext>
            </a:extLst>
          </p:cNvPr>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a:endParaRPr/>
          </a:p>
        </p:txBody>
      </p:sp>
      <p:sp>
        <p:nvSpPr>
          <p:cNvPr id="16" name="TextBox 15">
            <a:extLst>
              <a:ext uri="{FF2B5EF4-FFF2-40B4-BE49-F238E27FC236}">
                <a16:creationId xmlns:a16="http://schemas.microsoft.com/office/drawing/2014/main" id="{288D429F-E8EE-2AE9-FD1F-36F3CC71F208}"/>
              </a:ext>
            </a:extLst>
          </p:cNvPr>
          <p:cNvSpPr txBox="1"/>
          <p:nvPr/>
        </p:nvSpPr>
        <p:spPr>
          <a:xfrm>
            <a:off x="9601200" y="2705100"/>
            <a:ext cx="7488000" cy="1077218"/>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Create a view to quickly see all customers with their phone numbers and emails</a:t>
            </a:r>
          </a:p>
        </p:txBody>
      </p:sp>
      <p:sp>
        <p:nvSpPr>
          <p:cNvPr id="17" name="TextBox 16">
            <a:extLst>
              <a:ext uri="{FF2B5EF4-FFF2-40B4-BE49-F238E27FC236}">
                <a16:creationId xmlns:a16="http://schemas.microsoft.com/office/drawing/2014/main" id="{6DC862D0-326E-0C2B-2ECE-9B95DAEB87C1}"/>
              </a:ext>
            </a:extLst>
          </p:cNvPr>
          <p:cNvSpPr txBox="1"/>
          <p:nvPr/>
        </p:nvSpPr>
        <p:spPr>
          <a:xfrm>
            <a:off x="9601200" y="4442608"/>
            <a:ext cx="8062912" cy="1384995"/>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CREATE VIEW </a:t>
            </a:r>
            <a:r>
              <a:rPr lang="en-US" sz="2800" dirty="0" err="1">
                <a:latin typeface="Times New Roman" panose="02020603050405020304" pitchFamily="18" charset="0"/>
                <a:cs typeface="Times New Roman" panose="02020603050405020304" pitchFamily="18" charset="0"/>
              </a:rPr>
              <a:t>Customer_Contacts</a:t>
            </a:r>
            <a:r>
              <a:rPr lang="en-US" sz="2800" dirty="0">
                <a:latin typeface="Times New Roman" panose="02020603050405020304" pitchFamily="18" charset="0"/>
                <a:cs typeface="Times New Roman" panose="02020603050405020304" pitchFamily="18" charset="0"/>
              </a:rPr>
              <a:t> ASSELECT </a:t>
            </a:r>
            <a:r>
              <a:rPr lang="en-US" sz="2800" dirty="0" err="1">
                <a:latin typeface="Times New Roman" panose="02020603050405020304" pitchFamily="18" charset="0"/>
                <a:cs typeface="Times New Roman" panose="02020603050405020304" pitchFamily="18" charset="0"/>
              </a:rPr>
              <a:t>customer_id</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first_name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last_name</a:t>
            </a:r>
            <a:r>
              <a:rPr lang="en-US" sz="2800" dirty="0">
                <a:latin typeface="Times New Roman" panose="02020603050405020304" pitchFamily="18" charset="0"/>
                <a:cs typeface="Times New Roman" panose="02020603050405020304" pitchFamily="18" charset="0"/>
              </a:rPr>
              <a:t>, phone, </a:t>
            </a:r>
            <a:r>
              <a:rPr lang="en-US" sz="2800" dirty="0" err="1">
                <a:latin typeface="Times New Roman" panose="02020603050405020304" pitchFamily="18" charset="0"/>
                <a:cs typeface="Times New Roman" panose="02020603050405020304" pitchFamily="18" charset="0"/>
              </a:rPr>
              <a:t>emailFROM</a:t>
            </a:r>
            <a:r>
              <a:rPr lang="en-US" sz="2800" dirty="0">
                <a:latin typeface="Times New Roman" panose="02020603050405020304" pitchFamily="18" charset="0"/>
                <a:cs typeface="Times New Roman" panose="02020603050405020304" pitchFamily="18" charset="0"/>
              </a:rPr>
              <a:t> Customers;</a:t>
            </a:r>
          </a:p>
        </p:txBody>
      </p:sp>
      <p:pic>
        <p:nvPicPr>
          <p:cNvPr id="5" name="Picture 4">
            <a:extLst>
              <a:ext uri="{FF2B5EF4-FFF2-40B4-BE49-F238E27FC236}">
                <a16:creationId xmlns:a16="http://schemas.microsoft.com/office/drawing/2014/main" id="{4EE04BB3-65FF-4531-CB79-25018E01CC7B}"/>
              </a:ext>
            </a:extLst>
          </p:cNvPr>
          <p:cNvPicPr>
            <a:picLocks noChangeAspect="1"/>
          </p:cNvPicPr>
          <p:nvPr/>
        </p:nvPicPr>
        <p:blipFill>
          <a:blip r:embed="rId2"/>
          <a:stretch>
            <a:fillRect/>
          </a:stretch>
        </p:blipFill>
        <p:spPr>
          <a:xfrm>
            <a:off x="1569113" y="2247900"/>
            <a:ext cx="7117688" cy="6487238"/>
          </a:xfrm>
          <a:prstGeom prst="rect">
            <a:avLst/>
          </a:prstGeom>
        </p:spPr>
      </p:pic>
    </p:spTree>
    <p:extLst>
      <p:ext uri="{BB962C8B-B14F-4D97-AF65-F5344CB8AC3E}">
        <p14:creationId xmlns:p14="http://schemas.microsoft.com/office/powerpoint/2010/main" val="1514610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06A57-ADD8-B7A0-C139-0EA5555241CD}"/>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7D2656B4-D69D-A649-1D91-3E018A982FE5}"/>
              </a:ext>
            </a:extLst>
          </p:cNvPr>
          <p:cNvSpPr/>
          <p:nvPr/>
        </p:nvSpPr>
        <p:spPr>
          <a:xfrm>
            <a:off x="16718940" y="0"/>
            <a:ext cx="1080770" cy="1965960"/>
          </a:xfrm>
          <a:custGeom>
            <a:avLst/>
            <a:gdLst/>
            <a:ahLst/>
            <a:cxnLst/>
            <a:rect l="l" t="t" r="r" b="b"/>
            <a:pathLst>
              <a:path w="1080769"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8" y="1529252"/>
                </a:lnTo>
                <a:lnTo>
                  <a:pt x="1071295" y="1576452"/>
                </a:lnTo>
                <a:lnTo>
                  <a:pt x="1059717" y="1622520"/>
                </a:lnTo>
                <a:lnTo>
                  <a:pt x="1043737" y="1667137"/>
                </a:lnTo>
                <a:lnTo>
                  <a:pt x="1023487" y="1709986"/>
                </a:lnTo>
                <a:lnTo>
                  <a:pt x="999098" y="1750747"/>
                </a:lnTo>
                <a:lnTo>
                  <a:pt x="970703" y="1789103"/>
                </a:lnTo>
                <a:lnTo>
                  <a:pt x="938434" y="1824734"/>
                </a:lnTo>
                <a:lnTo>
                  <a:pt x="902803" y="1857003"/>
                </a:lnTo>
                <a:lnTo>
                  <a:pt x="864447" y="1885398"/>
                </a:lnTo>
                <a:lnTo>
                  <a:pt x="823686" y="1909787"/>
                </a:lnTo>
                <a:lnTo>
                  <a:pt x="780837" y="1930037"/>
                </a:lnTo>
                <a:lnTo>
                  <a:pt x="736220" y="1946017"/>
                </a:lnTo>
                <a:lnTo>
                  <a:pt x="690152" y="1957594"/>
                </a:lnTo>
                <a:lnTo>
                  <a:pt x="642953" y="1964637"/>
                </a:lnTo>
                <a:lnTo>
                  <a:pt x="627354" y="1965409"/>
                </a:lnTo>
                <a:close/>
              </a:path>
            </a:pathLst>
          </a:custGeom>
          <a:solidFill>
            <a:srgbClr val="FAE7BC"/>
          </a:solidFill>
        </p:spPr>
        <p:txBody>
          <a:bodyPr wrap="square" lIns="0" tIns="0" rIns="0" bIns="0" rtlCol="0"/>
          <a:lstStyle/>
          <a:p>
            <a:endParaRPr/>
          </a:p>
        </p:txBody>
      </p:sp>
      <p:grpSp>
        <p:nvGrpSpPr>
          <p:cNvPr id="7" name="object 7">
            <a:extLst>
              <a:ext uri="{FF2B5EF4-FFF2-40B4-BE49-F238E27FC236}">
                <a16:creationId xmlns:a16="http://schemas.microsoft.com/office/drawing/2014/main" id="{D9C87594-1ECF-9C34-D8AD-AC654C60E74D}"/>
              </a:ext>
            </a:extLst>
          </p:cNvPr>
          <p:cNvGrpSpPr/>
          <p:nvPr/>
        </p:nvGrpSpPr>
        <p:grpSpPr>
          <a:xfrm>
            <a:off x="0" y="9718118"/>
            <a:ext cx="18288000" cy="568960"/>
            <a:chOff x="0" y="9718118"/>
            <a:chExt cx="18288000" cy="568960"/>
          </a:xfrm>
        </p:grpSpPr>
        <p:sp>
          <p:nvSpPr>
            <p:cNvPr id="8" name="object 8">
              <a:extLst>
                <a:ext uri="{FF2B5EF4-FFF2-40B4-BE49-F238E27FC236}">
                  <a16:creationId xmlns:a16="http://schemas.microsoft.com/office/drawing/2014/main" id="{87CABBD6-D9DB-780A-83D4-CD2E01A084C5}"/>
                </a:ext>
              </a:extLst>
            </p:cNvPr>
            <p:cNvSpPr/>
            <p:nvPr/>
          </p:nvSpPr>
          <p:spPr>
            <a:xfrm>
              <a:off x="0" y="9889568"/>
              <a:ext cx="18288000" cy="397510"/>
            </a:xfrm>
            <a:custGeom>
              <a:avLst/>
              <a:gdLst/>
              <a:ahLst/>
              <a:cxnLst/>
              <a:rect l="l" t="t" r="r" b="b"/>
              <a:pathLst>
                <a:path w="18288000" h="397509">
                  <a:moveTo>
                    <a:pt x="0" y="397431"/>
                  </a:moveTo>
                  <a:lnTo>
                    <a:pt x="18288000" y="397431"/>
                  </a:lnTo>
                  <a:lnTo>
                    <a:pt x="18288000" y="0"/>
                  </a:lnTo>
                  <a:lnTo>
                    <a:pt x="0" y="0"/>
                  </a:lnTo>
                  <a:lnTo>
                    <a:pt x="0" y="397431"/>
                  </a:lnTo>
                  <a:close/>
                </a:path>
              </a:pathLst>
            </a:custGeom>
            <a:solidFill>
              <a:srgbClr val="FAE7BC"/>
            </a:solidFill>
          </p:spPr>
          <p:txBody>
            <a:bodyPr wrap="square" lIns="0" tIns="0" rIns="0" bIns="0" rtlCol="0"/>
            <a:lstStyle/>
            <a:p>
              <a:endParaRPr/>
            </a:p>
          </p:txBody>
        </p:sp>
        <p:sp>
          <p:nvSpPr>
            <p:cNvPr id="9" name="object 9">
              <a:extLst>
                <a:ext uri="{FF2B5EF4-FFF2-40B4-BE49-F238E27FC236}">
                  <a16:creationId xmlns:a16="http://schemas.microsoft.com/office/drawing/2014/main" id="{BA767FD5-A0D2-0170-359B-CD8EE7354EF4}"/>
                </a:ext>
              </a:extLst>
            </p:cNvPr>
            <p:cNvSpPr/>
            <p:nvPr/>
          </p:nvSpPr>
          <p:spPr>
            <a:xfrm>
              <a:off x="0" y="9718118"/>
              <a:ext cx="18288000" cy="171450"/>
            </a:xfrm>
            <a:custGeom>
              <a:avLst/>
              <a:gdLst/>
              <a:ahLst/>
              <a:cxnLst/>
              <a:rect l="l" t="t" r="r" b="b"/>
              <a:pathLst>
                <a:path w="18288000" h="171450">
                  <a:moveTo>
                    <a:pt x="0" y="0"/>
                  </a:moveTo>
                  <a:lnTo>
                    <a:pt x="18287999" y="0"/>
                  </a:lnTo>
                  <a:lnTo>
                    <a:pt x="18287999" y="171449"/>
                  </a:lnTo>
                  <a:lnTo>
                    <a:pt x="0" y="171449"/>
                  </a:lnTo>
                  <a:lnTo>
                    <a:pt x="0" y="0"/>
                  </a:lnTo>
                  <a:close/>
                </a:path>
              </a:pathLst>
            </a:custGeom>
            <a:solidFill>
              <a:srgbClr val="494848"/>
            </a:solidFill>
          </p:spPr>
          <p:txBody>
            <a:bodyPr wrap="square" lIns="0" tIns="0" rIns="0" bIns="0" rtlCol="0"/>
            <a:lstStyle/>
            <a:p>
              <a:endParaRPr/>
            </a:p>
          </p:txBody>
        </p:sp>
      </p:grpSp>
      <p:sp>
        <p:nvSpPr>
          <p:cNvPr id="10" name="object 10">
            <a:extLst>
              <a:ext uri="{FF2B5EF4-FFF2-40B4-BE49-F238E27FC236}">
                <a16:creationId xmlns:a16="http://schemas.microsoft.com/office/drawing/2014/main" id="{B41732B0-D12C-5EB8-F7D7-172FDDC813AF}"/>
              </a:ext>
            </a:extLst>
          </p:cNvPr>
          <p:cNvSpPr/>
          <p:nvPr/>
        </p:nvSpPr>
        <p:spPr>
          <a:xfrm>
            <a:off x="488342" y="0"/>
            <a:ext cx="1080770" cy="1965960"/>
          </a:xfrm>
          <a:custGeom>
            <a:avLst/>
            <a:gdLst/>
            <a:ahLst/>
            <a:cxnLst/>
            <a:rect l="l" t="t" r="r" b="b"/>
            <a:pathLst>
              <a:path w="1080770" h="1965960">
                <a:moveTo>
                  <a:pt x="627354" y="1965409"/>
                </a:moveTo>
                <a:lnTo>
                  <a:pt x="453360" y="1965409"/>
                </a:lnTo>
                <a:lnTo>
                  <a:pt x="437762" y="1964637"/>
                </a:lnTo>
                <a:lnTo>
                  <a:pt x="390562" y="1957594"/>
                </a:lnTo>
                <a:lnTo>
                  <a:pt x="344494" y="1946017"/>
                </a:lnTo>
                <a:lnTo>
                  <a:pt x="299876" y="1930037"/>
                </a:lnTo>
                <a:lnTo>
                  <a:pt x="257028" y="1909787"/>
                </a:lnTo>
                <a:lnTo>
                  <a:pt x="216266" y="1885398"/>
                </a:lnTo>
                <a:lnTo>
                  <a:pt x="177911" y="1857003"/>
                </a:lnTo>
                <a:lnTo>
                  <a:pt x="142280" y="1824734"/>
                </a:lnTo>
                <a:lnTo>
                  <a:pt x="110010" y="1789103"/>
                </a:lnTo>
                <a:lnTo>
                  <a:pt x="81615" y="1750747"/>
                </a:lnTo>
                <a:lnTo>
                  <a:pt x="57227" y="1709986"/>
                </a:lnTo>
                <a:lnTo>
                  <a:pt x="36977" y="1667137"/>
                </a:lnTo>
                <a:lnTo>
                  <a:pt x="20997" y="1622520"/>
                </a:lnTo>
                <a:lnTo>
                  <a:pt x="9420" y="1576452"/>
                </a:lnTo>
                <a:lnTo>
                  <a:pt x="2377" y="1529252"/>
                </a:lnTo>
                <a:lnTo>
                  <a:pt x="0" y="1481239"/>
                </a:lnTo>
                <a:lnTo>
                  <a:pt x="0" y="0"/>
                </a:lnTo>
                <a:lnTo>
                  <a:pt x="1080714" y="0"/>
                </a:lnTo>
                <a:lnTo>
                  <a:pt x="1080714" y="1481239"/>
                </a:lnTo>
                <a:lnTo>
                  <a:pt x="1078337" y="1529252"/>
                </a:lnTo>
                <a:lnTo>
                  <a:pt x="1071294" y="1576452"/>
                </a:lnTo>
                <a:lnTo>
                  <a:pt x="1059717" y="1622520"/>
                </a:lnTo>
                <a:lnTo>
                  <a:pt x="1043737" y="1667137"/>
                </a:lnTo>
                <a:lnTo>
                  <a:pt x="1023487" y="1709986"/>
                </a:lnTo>
                <a:lnTo>
                  <a:pt x="999098" y="1750747"/>
                </a:lnTo>
                <a:lnTo>
                  <a:pt x="970704" y="1789103"/>
                </a:lnTo>
                <a:lnTo>
                  <a:pt x="938434" y="1824734"/>
                </a:lnTo>
                <a:lnTo>
                  <a:pt x="902803" y="1857003"/>
                </a:lnTo>
                <a:lnTo>
                  <a:pt x="864448" y="1885398"/>
                </a:lnTo>
                <a:lnTo>
                  <a:pt x="823686" y="1909787"/>
                </a:lnTo>
                <a:lnTo>
                  <a:pt x="780837" y="1930037"/>
                </a:lnTo>
                <a:lnTo>
                  <a:pt x="736220" y="1946017"/>
                </a:lnTo>
                <a:lnTo>
                  <a:pt x="690152" y="1957594"/>
                </a:lnTo>
                <a:lnTo>
                  <a:pt x="642952" y="1964637"/>
                </a:lnTo>
                <a:lnTo>
                  <a:pt x="627354" y="1965409"/>
                </a:lnTo>
                <a:close/>
              </a:path>
            </a:pathLst>
          </a:custGeom>
          <a:solidFill>
            <a:srgbClr val="FAE7BC"/>
          </a:solidFill>
        </p:spPr>
        <p:txBody>
          <a:bodyPr wrap="square" lIns="0" tIns="0" rIns="0" bIns="0" rtlCol="0"/>
          <a:lstStyle/>
          <a:p>
            <a:endParaRPr/>
          </a:p>
        </p:txBody>
      </p:sp>
      <p:sp>
        <p:nvSpPr>
          <p:cNvPr id="5" name="TextBox 4">
            <a:extLst>
              <a:ext uri="{FF2B5EF4-FFF2-40B4-BE49-F238E27FC236}">
                <a16:creationId xmlns:a16="http://schemas.microsoft.com/office/drawing/2014/main" id="{5781B7B4-6F67-E967-641D-DCC467F9DC02}"/>
              </a:ext>
            </a:extLst>
          </p:cNvPr>
          <p:cNvSpPr txBox="1"/>
          <p:nvPr/>
        </p:nvSpPr>
        <p:spPr>
          <a:xfrm>
            <a:off x="5524500" y="3871168"/>
            <a:ext cx="9182100" cy="1569660"/>
          </a:xfrm>
          <a:prstGeom prst="rect">
            <a:avLst/>
          </a:prstGeom>
          <a:noFill/>
        </p:spPr>
        <p:txBody>
          <a:bodyPr wrap="square" rtlCol="0">
            <a:spAutoFit/>
          </a:bodyPr>
          <a:lstStyle/>
          <a:p>
            <a:r>
              <a:rPr lang="en-IN" sz="9600" b="1" dirty="0">
                <a:effectLst>
                  <a:outerShdw blurRad="38100" dist="38100" dir="2700000" algn="tl">
                    <a:srgbClr val="000000">
                      <a:alpha val="43137"/>
                    </a:srgbClr>
                  </a:outerShdw>
                  <a:reflection blurRad="6350" stA="50000" endA="300" endPos="50000" dist="29997" dir="5400000" sy="-100000" algn="bl" rotWithShape="0"/>
                </a:effectLst>
                <a:latin typeface="Times New Roman" panose="02020603050405020304" pitchFamily="18" charset="0"/>
                <a:cs typeface="Times New Roman" panose="02020603050405020304" pitchFamily="18" charset="0"/>
              </a:rPr>
              <a:t> THANK YOU</a:t>
            </a:r>
          </a:p>
        </p:txBody>
      </p:sp>
    </p:spTree>
    <p:extLst>
      <p:ext uri="{BB962C8B-B14F-4D97-AF65-F5344CB8AC3E}">
        <p14:creationId xmlns:p14="http://schemas.microsoft.com/office/powerpoint/2010/main" val="9797240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1885</TotalTime>
  <Words>1207</Words>
  <Application>Microsoft Office PowerPoint</Application>
  <PresentationFormat>Custom</PresentationFormat>
  <Paragraphs>127</Paragraphs>
  <Slides>29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 Black</vt:lpstr>
      <vt:lpstr>Lucida Sans Unicode</vt:lpstr>
      <vt:lpstr>Times New Roman</vt:lpstr>
      <vt:lpstr>Office Theme</vt:lpstr>
      <vt:lpstr>PowerPoint Presentation</vt:lpstr>
      <vt:lpstr>ABSTRACT</vt:lpstr>
      <vt:lpstr>ER  DAIGRAM</vt:lpstr>
      <vt:lpstr>STRUCTURE    OF   TABLE</vt:lpstr>
      <vt:lpstr>PowerPoint Presentation</vt:lpstr>
      <vt:lpstr>PowerPoint Presentation</vt:lpstr>
      <vt:lpstr>PowerPoint Presentation</vt:lpstr>
      <vt:lpstr>PowerPoint Presentation</vt:lpstr>
      <vt:lpstr>CONTENTS   OF   TABLE</vt:lpstr>
      <vt:lpstr>CONTENTS   OF   TABLE</vt:lpstr>
      <vt:lpstr>PowerPoint Presentation</vt:lpstr>
      <vt:lpstr>PowerPoint Presentation</vt:lpstr>
      <vt:lpstr>PowerPoint Presentation</vt:lpstr>
      <vt:lpstr>PowerPoint Presentation</vt:lpstr>
      <vt:lpstr>SUB QUERIES</vt:lpstr>
      <vt:lpstr>SUB QUERIES</vt:lpstr>
      <vt:lpstr>SUB QUERIES</vt:lpstr>
      <vt:lpstr>SUB QUERIES</vt:lpstr>
      <vt:lpstr>SUB QUERIES</vt:lpstr>
      <vt:lpstr>PowerPoint Presentation</vt:lpstr>
      <vt:lpstr>JOINS</vt:lpstr>
      <vt:lpstr>JOINS</vt:lpstr>
      <vt:lpstr>JOINS</vt:lpstr>
      <vt:lpstr>JOINS</vt:lpstr>
      <vt:lpstr>JOINS</vt:lpstr>
      <vt:lpstr>PowerPoint Presentation</vt:lpstr>
      <vt:lpstr>VIEWS</vt:lpstr>
      <vt:lpstr>VIEWS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Yellow Modern Minimalist Elegant Presentation</dc:title>
  <dc:creator>Rushikesh Autade</dc:creator>
  <cp:keywords>DAGypbW8RZ4,BAGBtE39_T4,0</cp:keywords>
  <cp:lastModifiedBy>Rushikesh Autade</cp:lastModifiedBy>
  <cp:revision>34</cp:revision>
  <dcterms:created xsi:type="dcterms:W3CDTF">2025-09-11T05:38:30Z</dcterms:created>
  <dcterms:modified xsi:type="dcterms:W3CDTF">2025-09-22T07:13:47Z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2025-09-11T00:00:00Z</vt:filetime>
  </property>
  <property fmtid="{D5CDD505-2E9C-101B-9397-08002B2CF9AE}" pid="3" name="Creator">
    <vt:lpwstr>Canva</vt:lpwstr>
  </property>
  <property fmtid="{D5CDD505-2E9C-101B-9397-08002B2CF9AE}" pid="4" name="LastSaved">
    <vt:filetime>2025-09-11T00:00:00Z</vt:filetime>
  </property>
  <property fmtid="{D5CDD505-2E9C-101B-9397-08002B2CF9AE}" pid="5" name="Producer">
    <vt:lpwstr>Canva</vt:lpwstr>
  </property>
</Properties>
</file>